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4"/>
    <p:sldMasterId id="2147483654" r:id="rId5"/>
    <p:sldMasterId id="214748365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5143500" cx="9144000"/>
  <p:notesSz cx="6858000" cy="9144000"/>
  <p:embeddedFontLst>
    <p:embeddedFont>
      <p:font typeface="Play"/>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2.xml"/><Relationship Id="rId19" Type="http://schemas.openxmlformats.org/officeDocument/2006/relationships/font" Target="fonts/Play-regular.fntdata"/><Relationship Id="rId6" Type="http://schemas.openxmlformats.org/officeDocument/2006/relationships/slideMaster" Target="slideMasters/slideMaster3.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g3fa86345ce0_1_6: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 name="Google Shape;21;g3fa86345ce0_1_6: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 sz="1200" u="none" cap="none" strike="noStrike">
                <a:solidFill>
                  <a:schemeClr val="dk1"/>
                </a:solidFill>
                <a:latin typeface="Arial"/>
                <a:ea typeface="Arial"/>
                <a:cs typeface="Arial"/>
                <a:sym typeface="Arial"/>
              </a:rPr>
              <a:t>Opening idea: We chose the chameleon because we wanted the animal to help explain the network, not just decorate the slide. Its wide-ranging eye movements give us a visual entry point into how CNNs examine regions of visual data.</a:t>
            </a:r>
            <a:br>
              <a:rPr b="0" i="0" lang="en" sz="1200" u="none" cap="none" strike="noStrike">
                <a:solidFill>
                  <a:schemeClr val="dk1"/>
                </a:solidFill>
                <a:latin typeface="Arial"/>
                <a:ea typeface="Arial"/>
                <a:cs typeface="Arial"/>
                <a:sym typeface="Arial"/>
              </a:rPr>
            </a:br>
            <a:br>
              <a:rPr b="0" i="0" lang="en" sz="1200" u="none" cap="none" strike="noStrike">
                <a:solidFill>
                  <a:schemeClr val="dk1"/>
                </a:solidFill>
                <a:latin typeface="Arial"/>
                <a:ea typeface="Arial"/>
                <a:cs typeface="Arial"/>
                <a:sym typeface="Arial"/>
              </a:rPr>
            </a:br>
            <a:r>
              <a:rPr b="0" i="0" lang="en" sz="1200" u="none" cap="none" strike="noStrike">
                <a:solidFill>
                  <a:schemeClr val="dk1"/>
                </a:solidFill>
                <a:latin typeface="Arial"/>
                <a:ea typeface="Arial"/>
                <a:cs typeface="Arial"/>
                <a:sym typeface="Arial"/>
              </a:rPr>
              <a:t>Source for chameleon eye behavior: Katz et al. (2015), Journal of Experimental Biology, 218, 2097-2105, doi:10.1242/jeb.113084.</a:t>
            </a:r>
            <a:endParaRPr/>
          </a:p>
        </p:txBody>
      </p:sp>
      <p:sp>
        <p:nvSpPr>
          <p:cNvPr id="22" name="Google Shape;22;g3fa86345ce0_1_6: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g3fa86345ce0_1_1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g3fa86345ce0_1_1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Keep this slide quick. Main point: the animal is a teaching analogy, not the model itself. We use the chameleon to introduce the visual problem, then move to the actual neural-network mechanics.</a:t>
            </a:r>
            <a:endParaRPr/>
          </a:p>
        </p:txBody>
      </p:sp>
      <p:sp>
        <p:nvSpPr>
          <p:cNvPr id="35" name="Google Shape;35;g3fa86345ce0_1_1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a86345ce0_5_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3fa86345ce0_5_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Keep this story conversational. Start with the familiar example: a handwritten 7 is still a 7 even if it moves on the page. That was the practical challenge. The key idea was to reuse the same local pattern detector in different places. Fukushima's 1980 Neocognitron was an important early model of this approach. LeCun and colleagues later showed convolution-style networks could be trained for a practical task such as handwritten ZIP-code recognition. Then segue: before explaining filters, we need the basic learning unit that all of these layers are built from — the artificial neuron.</a:t>
            </a:r>
            <a:endParaRPr/>
          </a:p>
        </p:txBody>
      </p:sp>
      <p:sp>
        <p:nvSpPr>
          <p:cNvPr id="60" name="Google Shape;60;g3fa86345ce0_5_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a86345ce0_1_4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g3fa86345ce0_1_4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Use your A&amp;P background here. Compare the biological neuron and artificial neuron as an analogy, then point out the limit: a biological neuron is an electrochemical living cell; an artificial neuron is a mathematical function. Then use the small network at the bottom to answer how layers form: one neuron's output becomes another neuron's input, and neurons at the same processing stage are grouped into a layer.</a:t>
            </a:r>
            <a:endParaRPr/>
          </a:p>
        </p:txBody>
      </p:sp>
      <p:sp>
        <p:nvSpPr>
          <p:cNvPr id="125" name="Google Shape;125;g3fa86345ce0_1_4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a86345ce0_1_16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g3fa86345ce0_1_16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Use this as the handoff from general networks into CNNs. First establish that layers are already familiar. Then ask what changes when the data is an image: pixels have neighborhoods, patterns can appear anywhere, and reusing one local detector is efficient. The scanimation image makes the moving local window intuitive. Then point to the edge filter: it calculates a response, not simply reveals the picture.</a:t>
            </a:r>
            <a:endParaRPr/>
          </a:p>
        </p:txBody>
      </p:sp>
      <p:sp>
        <p:nvSpPr>
          <p:cNvPr id="243" name="Google Shape;243;g3fa86345ce0_1_16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409cc2d10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409cc2d10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409cc2d100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409cc2d100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fa9c0802b6_5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g3fa9c0802b6_5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Group 4, A03 Neural Network Zoo presentation, user-provided PDF, accessed September 10, 2026.</a:t>
            </a:r>
            <a:endParaRPr/>
          </a:p>
          <a:p>
            <a:pPr indent="0" lvl="0" marL="0" rtl="0" algn="l">
              <a:spcBef>
                <a:spcPts val="0"/>
              </a:spcBef>
              <a:spcAft>
                <a:spcPts val="0"/>
              </a:spcAft>
              <a:buNone/>
            </a:pPr>
            <a:r>
              <a:rPr lang="en" sz="1200"/>
              <a:t>- Chameleon image extracted from the user-provided Group 4 presentation cover.</a:t>
            </a:r>
            <a:endParaRPr/>
          </a:p>
          <a:p>
            <a:pPr indent="0" lvl="0" marL="0" rtl="0" algn="l">
              <a:spcBef>
                <a:spcPts val="0"/>
              </a:spcBef>
              <a:spcAft>
                <a:spcPts val="0"/>
              </a:spcAft>
              <a:buNone/>
            </a:pPr>
            <a:r>
              <a:rPr lang="en" sz="1200"/>
              <a:t>[/Sources]</a:t>
            </a:r>
            <a:endParaRPr/>
          </a:p>
        </p:txBody>
      </p:sp>
      <p:sp>
        <p:nvSpPr>
          <p:cNvPr id="378" name="Google Shape;378;g3fa9c0802b6_5_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fa9c0802b6_5_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2" name="Google Shape;422;g3fa9c0802b6_5_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Group 4, A03 Neural Network Zoo project overview and presentation, user-provided materials, accessed September 10, 2026.</a:t>
            </a:r>
            <a:endParaRPr/>
          </a:p>
          <a:p>
            <a:pPr indent="0" lvl="0" marL="0" rtl="0" algn="l">
              <a:spcBef>
                <a:spcPts val="0"/>
              </a:spcBef>
              <a:spcAft>
                <a:spcPts val="0"/>
              </a:spcAft>
              <a:buNone/>
            </a:pPr>
            <a:r>
              <a:rPr lang="en" sz="1200"/>
              <a:t>[/Sources]</a:t>
            </a:r>
            <a:endParaRPr/>
          </a:p>
        </p:txBody>
      </p:sp>
      <p:sp>
        <p:nvSpPr>
          <p:cNvPr id="423" name="Google Shape;423;g3fa9c0802b6_5_4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fa9f5c0863_7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3" name="Google Shape;473;g3fa9f5c0863_7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200"/>
              <a:t>[Sources]</a:t>
            </a:r>
            <a:endParaRPr/>
          </a:p>
          <a:p>
            <a:pPr indent="0" lvl="0" marL="0" rtl="0" algn="l">
              <a:lnSpc>
                <a:spcPct val="100000"/>
              </a:lnSpc>
              <a:spcBef>
                <a:spcPts val="0"/>
              </a:spcBef>
              <a:spcAft>
                <a:spcPts val="0"/>
              </a:spcAft>
              <a:buSzPts val="1100"/>
              <a:buNone/>
            </a:pPr>
            <a:r>
              <a:rPr lang="en" sz="1200"/>
              <a:t>- Group 4, A03 Neural Network Zoo presentation, user-provided PDF, accessed September 10, 2026.</a:t>
            </a:r>
            <a:endParaRPr/>
          </a:p>
          <a:p>
            <a:pPr indent="0" lvl="0" marL="0" rtl="0" algn="l">
              <a:lnSpc>
                <a:spcPct val="100000"/>
              </a:lnSpc>
              <a:spcBef>
                <a:spcPts val="0"/>
              </a:spcBef>
              <a:spcAft>
                <a:spcPts val="0"/>
              </a:spcAft>
              <a:buSzPts val="1100"/>
              <a:buNone/>
            </a:pPr>
            <a:r>
              <a:rPr lang="en" sz="1200"/>
              <a:t>- Chameleon image extracted from the user-provided Group 4 presentation cover.</a:t>
            </a:r>
            <a:endParaRPr/>
          </a:p>
          <a:p>
            <a:pPr indent="0" lvl="0" marL="0" rtl="0" algn="l">
              <a:lnSpc>
                <a:spcPct val="100000"/>
              </a:lnSpc>
              <a:spcBef>
                <a:spcPts val="0"/>
              </a:spcBef>
              <a:spcAft>
                <a:spcPts val="0"/>
              </a:spcAft>
              <a:buSzPts val="1100"/>
              <a:buNone/>
            </a:pPr>
            <a:r>
              <a:rPr lang="en" sz="1200"/>
              <a:t>[/Sources]</a:t>
            </a:r>
            <a:endParaRPr/>
          </a:p>
        </p:txBody>
      </p:sp>
      <p:sp>
        <p:nvSpPr>
          <p:cNvPr id="474" name="Google Shape;474;g3fa9f5c0863_7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a9f5c0863_7_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g3fa9f5c0863_7_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200"/>
              <a:t>[Sources]</a:t>
            </a:r>
            <a:endParaRPr/>
          </a:p>
          <a:p>
            <a:pPr indent="0" lvl="0" marL="0" rtl="0" algn="l">
              <a:lnSpc>
                <a:spcPct val="100000"/>
              </a:lnSpc>
              <a:spcBef>
                <a:spcPts val="0"/>
              </a:spcBef>
              <a:spcAft>
                <a:spcPts val="0"/>
              </a:spcAft>
              <a:buSzPts val="1100"/>
              <a:buNone/>
            </a:pPr>
            <a:r>
              <a:rPr lang="en" sz="1200"/>
              <a:t>- Group 4, A03 Neural Network Zoo project overview and presentation, user-provided materials, accessed September 10, 2026.</a:t>
            </a:r>
            <a:endParaRPr/>
          </a:p>
          <a:p>
            <a:pPr indent="0" lvl="0" marL="0" rtl="0" algn="l">
              <a:lnSpc>
                <a:spcPct val="100000"/>
              </a:lnSpc>
              <a:spcBef>
                <a:spcPts val="0"/>
              </a:spcBef>
              <a:spcAft>
                <a:spcPts val="0"/>
              </a:spcAft>
              <a:buSzPts val="1100"/>
              <a:buNone/>
            </a:pPr>
            <a:r>
              <a:rPr lang="en" sz="1200"/>
              <a:t>[/Sources]</a:t>
            </a:r>
            <a:endParaRPr/>
          </a:p>
        </p:txBody>
      </p:sp>
      <p:sp>
        <p:nvSpPr>
          <p:cNvPr id="516" name="Google Shape;516;g3fa9f5c0863_7_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9FC"/>
        </a:solidFill>
      </p:bgPr>
    </p:bg>
    <p:spTree>
      <p:nvGrpSpPr>
        <p:cNvPr id="8" name="Shape 8"/>
        <p:cNvGrpSpPr/>
        <p:nvPr/>
      </p:nvGrpSpPr>
      <p:grpSpPr>
        <a:xfrm>
          <a:off x="0" y="0"/>
          <a:ext cx="0" cy="0"/>
          <a:chOff x="0" y="0"/>
          <a:chExt cx="0" cy="0"/>
        </a:xfrm>
      </p:grpSpPr>
      <p:sp>
        <p:nvSpPr>
          <p:cNvPr id="9" name="Google Shape;9;p3"/>
          <p:cNvSpPr/>
          <p:nvPr/>
        </p:nvSpPr>
        <p:spPr>
          <a:xfrm>
            <a:off x="0" y="5026914"/>
            <a:ext cx="9143771" cy="116586"/>
          </a:xfrm>
          <a:prstGeom prst="rect">
            <a:avLst/>
          </a:prstGeom>
          <a:solidFill>
            <a:srgbClr val="0E3A47"/>
          </a:solidFill>
          <a:ln cap="flat" cmpd="sng" w="12700">
            <a:solidFill>
              <a:srgbClr val="0E3A47"/>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0" name="Google Shape;10;p3"/>
          <p:cNvSpPr txBox="1"/>
          <p:nvPr>
            <p:ph idx="12" type="sldNum"/>
          </p:nvPr>
        </p:nvSpPr>
        <p:spPr>
          <a:xfrm>
            <a:off x="8606790" y="4841748"/>
            <a:ext cx="274320" cy="123444"/>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sz="700">
                <a:solidFill>
                  <a:srgbClr val="5C6B73"/>
                </a:solidFill>
                <a:latin typeface="Arial"/>
                <a:ea typeface="Arial"/>
                <a:cs typeface="Arial"/>
                <a:sym typeface="Arial"/>
              </a:defRPr>
            </a:lvl1pPr>
            <a:lvl2pPr indent="0" lvl="1" marL="0" marR="0" algn="r">
              <a:spcBef>
                <a:spcPts val="0"/>
              </a:spcBef>
              <a:buNone/>
              <a:defRPr b="0" sz="700">
                <a:solidFill>
                  <a:srgbClr val="5C6B73"/>
                </a:solidFill>
                <a:latin typeface="Arial"/>
                <a:ea typeface="Arial"/>
                <a:cs typeface="Arial"/>
                <a:sym typeface="Arial"/>
              </a:defRPr>
            </a:lvl2pPr>
            <a:lvl3pPr indent="0" lvl="2" marL="0" marR="0" algn="r">
              <a:spcBef>
                <a:spcPts val="0"/>
              </a:spcBef>
              <a:buNone/>
              <a:defRPr b="0" sz="700">
                <a:solidFill>
                  <a:srgbClr val="5C6B73"/>
                </a:solidFill>
                <a:latin typeface="Arial"/>
                <a:ea typeface="Arial"/>
                <a:cs typeface="Arial"/>
                <a:sym typeface="Arial"/>
              </a:defRPr>
            </a:lvl3pPr>
            <a:lvl4pPr indent="0" lvl="3" marL="0" marR="0" algn="r">
              <a:spcBef>
                <a:spcPts val="0"/>
              </a:spcBef>
              <a:buNone/>
              <a:defRPr b="0" sz="700">
                <a:solidFill>
                  <a:srgbClr val="5C6B73"/>
                </a:solidFill>
                <a:latin typeface="Arial"/>
                <a:ea typeface="Arial"/>
                <a:cs typeface="Arial"/>
                <a:sym typeface="Arial"/>
              </a:defRPr>
            </a:lvl4pPr>
            <a:lvl5pPr indent="0" lvl="4" marL="0" marR="0" algn="r">
              <a:spcBef>
                <a:spcPts val="0"/>
              </a:spcBef>
              <a:buNone/>
              <a:defRPr b="0" sz="700">
                <a:solidFill>
                  <a:srgbClr val="5C6B73"/>
                </a:solidFill>
                <a:latin typeface="Arial"/>
                <a:ea typeface="Arial"/>
                <a:cs typeface="Arial"/>
                <a:sym typeface="Arial"/>
              </a:defRPr>
            </a:lvl5pPr>
            <a:lvl6pPr indent="0" lvl="5" marL="0" marR="0" algn="r">
              <a:spcBef>
                <a:spcPts val="0"/>
              </a:spcBef>
              <a:buNone/>
              <a:defRPr b="0" sz="700">
                <a:solidFill>
                  <a:srgbClr val="5C6B73"/>
                </a:solidFill>
                <a:latin typeface="Arial"/>
                <a:ea typeface="Arial"/>
                <a:cs typeface="Arial"/>
                <a:sym typeface="Arial"/>
              </a:defRPr>
            </a:lvl6pPr>
            <a:lvl7pPr indent="0" lvl="6" marL="0" marR="0" algn="r">
              <a:spcBef>
                <a:spcPts val="0"/>
              </a:spcBef>
              <a:buNone/>
              <a:defRPr b="0" sz="700">
                <a:solidFill>
                  <a:srgbClr val="5C6B73"/>
                </a:solidFill>
                <a:latin typeface="Arial"/>
                <a:ea typeface="Arial"/>
                <a:cs typeface="Arial"/>
                <a:sym typeface="Arial"/>
              </a:defRPr>
            </a:lvl7pPr>
            <a:lvl8pPr indent="0" lvl="7" marL="0" marR="0" algn="r">
              <a:spcBef>
                <a:spcPts val="0"/>
              </a:spcBef>
              <a:buNone/>
              <a:defRPr b="0" sz="700">
                <a:solidFill>
                  <a:srgbClr val="5C6B73"/>
                </a:solidFill>
                <a:latin typeface="Arial"/>
                <a:ea typeface="Arial"/>
                <a:cs typeface="Arial"/>
                <a:sym typeface="Arial"/>
              </a:defRPr>
            </a:lvl8pPr>
            <a:lvl9pPr indent="0" lvl="8" marL="0" marR="0" algn="r">
              <a:spcBef>
                <a:spcPts val="0"/>
              </a:spcBef>
              <a:buNone/>
              <a:defRPr b="0" sz="700">
                <a:solidFill>
                  <a:srgbClr val="5C6B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9FC"/>
        </a:solidFill>
      </p:bgPr>
    </p:bg>
    <p:spTree>
      <p:nvGrpSpPr>
        <p:cNvPr id="13" name="Shape 13"/>
        <p:cNvGrpSpPr/>
        <p:nvPr/>
      </p:nvGrpSpPr>
      <p:grpSpPr>
        <a:xfrm>
          <a:off x="0" y="0"/>
          <a:ext cx="0" cy="0"/>
          <a:chOff x="0" y="0"/>
          <a:chExt cx="0" cy="0"/>
        </a:xfrm>
      </p:grpSpPr>
      <p:sp>
        <p:nvSpPr>
          <p:cNvPr id="14" name="Google Shape;14;p5"/>
          <p:cNvSpPr/>
          <p:nvPr/>
        </p:nvSpPr>
        <p:spPr>
          <a:xfrm>
            <a:off x="0" y="5026914"/>
            <a:ext cx="9143771" cy="116586"/>
          </a:xfrm>
          <a:prstGeom prst="rect">
            <a:avLst/>
          </a:prstGeom>
          <a:solidFill>
            <a:srgbClr val="0E3A47"/>
          </a:solidFill>
          <a:ln cap="flat" cmpd="sng" w="12700">
            <a:solidFill>
              <a:srgbClr val="0E3A4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 name="Google Shape;15;p5"/>
          <p:cNvSpPr txBox="1"/>
          <p:nvPr>
            <p:ph idx="12" type="sldNum"/>
          </p:nvPr>
        </p:nvSpPr>
        <p:spPr>
          <a:xfrm>
            <a:off x="8606790" y="4841748"/>
            <a:ext cx="274320" cy="123444"/>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700" u="none" cap="none" strike="noStrike">
                <a:solidFill>
                  <a:srgbClr val="5C6B73"/>
                </a:solidFill>
                <a:latin typeface="Arial"/>
                <a:ea typeface="Arial"/>
                <a:cs typeface="Arial"/>
                <a:sym typeface="Arial"/>
              </a:defRPr>
            </a:lvl1pPr>
            <a:lvl2pPr indent="0" lvl="1" marL="0" marR="0" algn="r">
              <a:spcBef>
                <a:spcPts val="0"/>
              </a:spcBef>
              <a:buNone/>
              <a:defRPr b="0" i="0" sz="700" u="none" cap="none" strike="noStrike">
                <a:solidFill>
                  <a:srgbClr val="5C6B73"/>
                </a:solidFill>
                <a:latin typeface="Arial"/>
                <a:ea typeface="Arial"/>
                <a:cs typeface="Arial"/>
                <a:sym typeface="Arial"/>
              </a:defRPr>
            </a:lvl2pPr>
            <a:lvl3pPr indent="0" lvl="2" marL="0" marR="0" algn="r">
              <a:spcBef>
                <a:spcPts val="0"/>
              </a:spcBef>
              <a:buNone/>
              <a:defRPr b="0" i="0" sz="700" u="none" cap="none" strike="noStrike">
                <a:solidFill>
                  <a:srgbClr val="5C6B73"/>
                </a:solidFill>
                <a:latin typeface="Arial"/>
                <a:ea typeface="Arial"/>
                <a:cs typeface="Arial"/>
                <a:sym typeface="Arial"/>
              </a:defRPr>
            </a:lvl3pPr>
            <a:lvl4pPr indent="0" lvl="3" marL="0" marR="0" algn="r">
              <a:spcBef>
                <a:spcPts val="0"/>
              </a:spcBef>
              <a:buNone/>
              <a:defRPr b="0" i="0" sz="700" u="none" cap="none" strike="noStrike">
                <a:solidFill>
                  <a:srgbClr val="5C6B73"/>
                </a:solidFill>
                <a:latin typeface="Arial"/>
                <a:ea typeface="Arial"/>
                <a:cs typeface="Arial"/>
                <a:sym typeface="Arial"/>
              </a:defRPr>
            </a:lvl4pPr>
            <a:lvl5pPr indent="0" lvl="4" marL="0" marR="0" algn="r">
              <a:spcBef>
                <a:spcPts val="0"/>
              </a:spcBef>
              <a:buNone/>
              <a:defRPr b="0" i="0" sz="700" u="none" cap="none" strike="noStrike">
                <a:solidFill>
                  <a:srgbClr val="5C6B73"/>
                </a:solidFill>
                <a:latin typeface="Arial"/>
                <a:ea typeface="Arial"/>
                <a:cs typeface="Arial"/>
                <a:sym typeface="Arial"/>
              </a:defRPr>
            </a:lvl5pPr>
            <a:lvl6pPr indent="0" lvl="5" marL="0" marR="0" algn="r">
              <a:spcBef>
                <a:spcPts val="0"/>
              </a:spcBef>
              <a:buNone/>
              <a:defRPr b="0" i="0" sz="700" u="none" cap="none" strike="noStrike">
                <a:solidFill>
                  <a:srgbClr val="5C6B73"/>
                </a:solidFill>
                <a:latin typeface="Arial"/>
                <a:ea typeface="Arial"/>
                <a:cs typeface="Arial"/>
                <a:sym typeface="Arial"/>
              </a:defRPr>
            </a:lvl6pPr>
            <a:lvl7pPr indent="0" lvl="6" marL="0" marR="0" algn="r">
              <a:spcBef>
                <a:spcPts val="0"/>
              </a:spcBef>
              <a:buNone/>
              <a:defRPr b="0" i="0" sz="700" u="none" cap="none" strike="noStrike">
                <a:solidFill>
                  <a:srgbClr val="5C6B73"/>
                </a:solidFill>
                <a:latin typeface="Arial"/>
                <a:ea typeface="Arial"/>
                <a:cs typeface="Arial"/>
                <a:sym typeface="Arial"/>
              </a:defRPr>
            </a:lvl7pPr>
            <a:lvl8pPr indent="0" lvl="7" marL="0" marR="0" algn="r">
              <a:spcBef>
                <a:spcPts val="0"/>
              </a:spcBef>
              <a:buNone/>
              <a:defRPr b="0" i="0" sz="700" u="none" cap="none" strike="noStrike">
                <a:solidFill>
                  <a:srgbClr val="5C6B73"/>
                </a:solidFill>
                <a:latin typeface="Arial"/>
                <a:ea typeface="Arial"/>
                <a:cs typeface="Arial"/>
                <a:sym typeface="Arial"/>
              </a:defRPr>
            </a:lvl8pPr>
            <a:lvl9pPr indent="0" lvl="8" marL="0" marR="0" algn="r">
              <a:spcBef>
                <a:spcPts val="0"/>
              </a:spcBef>
              <a:buNone/>
              <a:defRPr b="0" i="0" sz="700" u="none" cap="none" strike="noStrike">
                <a:solidFill>
                  <a:srgbClr val="5C6B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606790" y="4841748"/>
            <a:ext cx="274320" cy="123444"/>
          </a:xfrm>
          <a:prstGeom prst="rect">
            <a:avLst/>
          </a:prstGeom>
          <a:noFill/>
          <a:ln>
            <a:noFill/>
          </a:ln>
        </p:spPr>
        <p:txBody>
          <a:bodyPr anchorCtr="0" anchor="t" bIns="34275" lIns="68575" spcFirstLastPara="1" rIns="68575" wrap="square" tIns="34275">
            <a:noAutofit/>
          </a:bodyPr>
          <a:lstStyle>
            <a:lvl1pPr indent="0" lvl="0" marL="0" marR="0" rtl="0" algn="r">
              <a:spcBef>
                <a:spcPts val="0"/>
              </a:spcBef>
              <a:buNone/>
              <a:defRPr b="0" i="0" sz="700" u="none" cap="none" strike="noStrike">
                <a:solidFill>
                  <a:srgbClr val="5C6B73"/>
                </a:solidFill>
                <a:latin typeface="Arial"/>
                <a:ea typeface="Arial"/>
                <a:cs typeface="Arial"/>
                <a:sym typeface="Arial"/>
              </a:defRPr>
            </a:lvl1pPr>
            <a:lvl2pPr indent="0" lvl="1" marL="0" marR="0" rtl="0" algn="r">
              <a:spcBef>
                <a:spcPts val="0"/>
              </a:spcBef>
              <a:buNone/>
              <a:defRPr b="0" i="0" sz="700" u="none" cap="none" strike="noStrike">
                <a:solidFill>
                  <a:srgbClr val="5C6B73"/>
                </a:solidFill>
                <a:latin typeface="Arial"/>
                <a:ea typeface="Arial"/>
                <a:cs typeface="Arial"/>
                <a:sym typeface="Arial"/>
              </a:defRPr>
            </a:lvl2pPr>
            <a:lvl3pPr indent="0" lvl="2" marL="0" marR="0" rtl="0" algn="r">
              <a:spcBef>
                <a:spcPts val="0"/>
              </a:spcBef>
              <a:buNone/>
              <a:defRPr b="0" i="0" sz="700" u="none" cap="none" strike="noStrike">
                <a:solidFill>
                  <a:srgbClr val="5C6B73"/>
                </a:solidFill>
                <a:latin typeface="Arial"/>
                <a:ea typeface="Arial"/>
                <a:cs typeface="Arial"/>
                <a:sym typeface="Arial"/>
              </a:defRPr>
            </a:lvl3pPr>
            <a:lvl4pPr indent="0" lvl="3" marL="0" marR="0" rtl="0" algn="r">
              <a:spcBef>
                <a:spcPts val="0"/>
              </a:spcBef>
              <a:buNone/>
              <a:defRPr b="0" i="0" sz="700" u="none" cap="none" strike="noStrike">
                <a:solidFill>
                  <a:srgbClr val="5C6B73"/>
                </a:solidFill>
                <a:latin typeface="Arial"/>
                <a:ea typeface="Arial"/>
                <a:cs typeface="Arial"/>
                <a:sym typeface="Arial"/>
              </a:defRPr>
            </a:lvl4pPr>
            <a:lvl5pPr indent="0" lvl="4" marL="0" marR="0" rtl="0" algn="r">
              <a:spcBef>
                <a:spcPts val="0"/>
              </a:spcBef>
              <a:buNone/>
              <a:defRPr b="0" i="0" sz="700" u="none" cap="none" strike="noStrike">
                <a:solidFill>
                  <a:srgbClr val="5C6B73"/>
                </a:solidFill>
                <a:latin typeface="Arial"/>
                <a:ea typeface="Arial"/>
                <a:cs typeface="Arial"/>
                <a:sym typeface="Arial"/>
              </a:defRPr>
            </a:lvl5pPr>
            <a:lvl6pPr indent="0" lvl="5" marL="0" marR="0" rtl="0" algn="r">
              <a:spcBef>
                <a:spcPts val="0"/>
              </a:spcBef>
              <a:buNone/>
              <a:defRPr b="0" i="0" sz="700" u="none" cap="none" strike="noStrike">
                <a:solidFill>
                  <a:srgbClr val="5C6B73"/>
                </a:solidFill>
                <a:latin typeface="Arial"/>
                <a:ea typeface="Arial"/>
                <a:cs typeface="Arial"/>
                <a:sym typeface="Arial"/>
              </a:defRPr>
            </a:lvl6pPr>
            <a:lvl7pPr indent="0" lvl="6" marL="0" marR="0" rtl="0" algn="r">
              <a:spcBef>
                <a:spcPts val="0"/>
              </a:spcBef>
              <a:buNone/>
              <a:defRPr b="0" i="0" sz="700" u="none" cap="none" strike="noStrike">
                <a:solidFill>
                  <a:srgbClr val="5C6B73"/>
                </a:solidFill>
                <a:latin typeface="Arial"/>
                <a:ea typeface="Arial"/>
                <a:cs typeface="Arial"/>
                <a:sym typeface="Arial"/>
              </a:defRPr>
            </a:lvl7pPr>
            <a:lvl8pPr indent="0" lvl="7" marL="0" marR="0" rtl="0" algn="r">
              <a:spcBef>
                <a:spcPts val="0"/>
              </a:spcBef>
              <a:buNone/>
              <a:defRPr b="0" i="0" sz="700" u="none" cap="none" strike="noStrike">
                <a:solidFill>
                  <a:srgbClr val="5C6B73"/>
                </a:solidFill>
                <a:latin typeface="Arial"/>
                <a:ea typeface="Arial"/>
                <a:cs typeface="Arial"/>
                <a:sym typeface="Arial"/>
              </a:defRPr>
            </a:lvl8pPr>
            <a:lvl9pPr indent="0" lvl="8" marL="0" marR="0" rtl="0" algn="r">
              <a:spcBef>
                <a:spcPts val="0"/>
              </a:spcBef>
              <a:buNone/>
              <a:defRPr b="0" i="0" sz="700" u="none" cap="none" strike="noStrike">
                <a:solidFill>
                  <a:srgbClr val="5C6B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sp>
        <p:nvSpPr>
          <p:cNvPr id="12" name="Google Shape;12;p4"/>
          <p:cNvSpPr txBox="1"/>
          <p:nvPr>
            <p:ph idx="12" type="sldNum"/>
          </p:nvPr>
        </p:nvSpPr>
        <p:spPr>
          <a:xfrm>
            <a:off x="8606790" y="4841748"/>
            <a:ext cx="274320" cy="123444"/>
          </a:xfrm>
          <a:prstGeom prst="rect">
            <a:avLst/>
          </a:prstGeom>
          <a:noFill/>
          <a:ln>
            <a:noFill/>
          </a:ln>
        </p:spPr>
        <p:txBody>
          <a:bodyPr anchorCtr="0" anchor="t" bIns="34275" lIns="68575" spcFirstLastPara="1" rIns="68575" wrap="square" tIns="34275">
            <a:noAutofit/>
          </a:bodyPr>
          <a:lstStyle>
            <a:lvl1pPr indent="0" lvl="0" marL="0" marR="0" rtl="0" algn="r">
              <a:spcBef>
                <a:spcPts val="0"/>
              </a:spcBef>
              <a:buNone/>
              <a:defRPr b="0" i="0" sz="700" u="none" cap="none" strike="noStrike">
                <a:solidFill>
                  <a:srgbClr val="5C6B73"/>
                </a:solidFill>
                <a:latin typeface="Arial"/>
                <a:ea typeface="Arial"/>
                <a:cs typeface="Arial"/>
                <a:sym typeface="Arial"/>
              </a:defRPr>
            </a:lvl1pPr>
            <a:lvl2pPr indent="0" lvl="1" marL="0" marR="0" rtl="0" algn="r">
              <a:spcBef>
                <a:spcPts val="0"/>
              </a:spcBef>
              <a:buNone/>
              <a:defRPr b="0" i="0" sz="700" u="none" cap="none" strike="noStrike">
                <a:solidFill>
                  <a:srgbClr val="5C6B73"/>
                </a:solidFill>
                <a:latin typeface="Arial"/>
                <a:ea typeface="Arial"/>
                <a:cs typeface="Arial"/>
                <a:sym typeface="Arial"/>
              </a:defRPr>
            </a:lvl2pPr>
            <a:lvl3pPr indent="0" lvl="2" marL="0" marR="0" rtl="0" algn="r">
              <a:spcBef>
                <a:spcPts val="0"/>
              </a:spcBef>
              <a:buNone/>
              <a:defRPr b="0" i="0" sz="700" u="none" cap="none" strike="noStrike">
                <a:solidFill>
                  <a:srgbClr val="5C6B73"/>
                </a:solidFill>
                <a:latin typeface="Arial"/>
                <a:ea typeface="Arial"/>
                <a:cs typeface="Arial"/>
                <a:sym typeface="Arial"/>
              </a:defRPr>
            </a:lvl3pPr>
            <a:lvl4pPr indent="0" lvl="3" marL="0" marR="0" rtl="0" algn="r">
              <a:spcBef>
                <a:spcPts val="0"/>
              </a:spcBef>
              <a:buNone/>
              <a:defRPr b="0" i="0" sz="700" u="none" cap="none" strike="noStrike">
                <a:solidFill>
                  <a:srgbClr val="5C6B73"/>
                </a:solidFill>
                <a:latin typeface="Arial"/>
                <a:ea typeface="Arial"/>
                <a:cs typeface="Arial"/>
                <a:sym typeface="Arial"/>
              </a:defRPr>
            </a:lvl4pPr>
            <a:lvl5pPr indent="0" lvl="4" marL="0" marR="0" rtl="0" algn="r">
              <a:spcBef>
                <a:spcPts val="0"/>
              </a:spcBef>
              <a:buNone/>
              <a:defRPr b="0" i="0" sz="700" u="none" cap="none" strike="noStrike">
                <a:solidFill>
                  <a:srgbClr val="5C6B73"/>
                </a:solidFill>
                <a:latin typeface="Arial"/>
                <a:ea typeface="Arial"/>
                <a:cs typeface="Arial"/>
                <a:sym typeface="Arial"/>
              </a:defRPr>
            </a:lvl5pPr>
            <a:lvl6pPr indent="0" lvl="5" marL="0" marR="0" rtl="0" algn="r">
              <a:spcBef>
                <a:spcPts val="0"/>
              </a:spcBef>
              <a:buNone/>
              <a:defRPr b="0" i="0" sz="700" u="none" cap="none" strike="noStrike">
                <a:solidFill>
                  <a:srgbClr val="5C6B73"/>
                </a:solidFill>
                <a:latin typeface="Arial"/>
                <a:ea typeface="Arial"/>
                <a:cs typeface="Arial"/>
                <a:sym typeface="Arial"/>
              </a:defRPr>
            </a:lvl6pPr>
            <a:lvl7pPr indent="0" lvl="6" marL="0" marR="0" rtl="0" algn="r">
              <a:spcBef>
                <a:spcPts val="0"/>
              </a:spcBef>
              <a:buNone/>
              <a:defRPr b="0" i="0" sz="700" u="none" cap="none" strike="noStrike">
                <a:solidFill>
                  <a:srgbClr val="5C6B73"/>
                </a:solidFill>
                <a:latin typeface="Arial"/>
                <a:ea typeface="Arial"/>
                <a:cs typeface="Arial"/>
                <a:sym typeface="Arial"/>
              </a:defRPr>
            </a:lvl7pPr>
            <a:lvl8pPr indent="0" lvl="7" marL="0" marR="0" rtl="0" algn="r">
              <a:spcBef>
                <a:spcPts val="0"/>
              </a:spcBef>
              <a:buNone/>
              <a:defRPr b="0" i="0" sz="700" u="none" cap="none" strike="noStrike">
                <a:solidFill>
                  <a:srgbClr val="5C6B73"/>
                </a:solidFill>
                <a:latin typeface="Arial"/>
                <a:ea typeface="Arial"/>
                <a:cs typeface="Arial"/>
                <a:sym typeface="Arial"/>
              </a:defRPr>
            </a:lvl8pPr>
            <a:lvl9pPr indent="0" lvl="8" marL="0" marR="0" rtl="0" algn="r">
              <a:spcBef>
                <a:spcPts val="0"/>
              </a:spcBef>
              <a:buNone/>
              <a:defRPr b="0" i="0" sz="700" u="none" cap="none" strike="noStrike">
                <a:solidFill>
                  <a:srgbClr val="5C6B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0" r:id="rId1"/>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 name="Shape 1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A43"/>
        </a:solidFill>
      </p:bgPr>
    </p:bg>
    <p:spTree>
      <p:nvGrpSpPr>
        <p:cNvPr id="23" name="Shape 23"/>
        <p:cNvGrpSpPr/>
        <p:nvPr/>
      </p:nvGrpSpPr>
      <p:grpSpPr>
        <a:xfrm>
          <a:off x="0" y="0"/>
          <a:ext cx="0" cy="0"/>
          <a:chOff x="0" y="0"/>
          <a:chExt cx="0" cy="0"/>
        </a:xfrm>
      </p:grpSpPr>
      <p:pic>
        <p:nvPicPr>
          <p:cNvPr descr="/mnt/data/wide_high_resolution_realistic_yet_clean_illustr.png" id="24" name="Google Shape;24;p9"/>
          <p:cNvPicPr preferRelativeResize="0"/>
          <p:nvPr/>
        </p:nvPicPr>
        <p:blipFill rotWithShape="1">
          <a:blip r:embed="rId3">
            <a:alphaModFix/>
          </a:blip>
          <a:srcRect b="0" l="0" r="0" t="0"/>
          <a:stretch/>
        </p:blipFill>
        <p:spPr>
          <a:xfrm>
            <a:off x="0" y="0"/>
            <a:ext cx="9143771" cy="5143500"/>
          </a:xfrm>
          <a:prstGeom prst="rect">
            <a:avLst/>
          </a:prstGeom>
          <a:noFill/>
          <a:ln>
            <a:noFill/>
          </a:ln>
        </p:spPr>
      </p:pic>
      <p:sp>
        <p:nvSpPr>
          <p:cNvPr id="25" name="Google Shape;25;p9"/>
          <p:cNvSpPr/>
          <p:nvPr/>
        </p:nvSpPr>
        <p:spPr>
          <a:xfrm>
            <a:off x="0" y="0"/>
            <a:ext cx="5074920" cy="5143500"/>
          </a:xfrm>
          <a:prstGeom prst="rect">
            <a:avLst/>
          </a:prstGeom>
          <a:solidFill>
            <a:srgbClr val="102A43">
              <a:alpha val="92157"/>
            </a:srgbClr>
          </a:solidFill>
          <a:ln cap="flat" cmpd="sng" w="12700">
            <a:solidFill>
              <a:srgbClr val="102A43">
                <a:alpha val="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6" name="Google Shape;26;p9"/>
          <p:cNvSpPr/>
          <p:nvPr/>
        </p:nvSpPr>
        <p:spPr>
          <a:xfrm>
            <a:off x="493776" y="534924"/>
            <a:ext cx="356616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D86B"/>
              </a:buClr>
              <a:buSzPts val="900"/>
              <a:buFont typeface="Arial"/>
              <a:buNone/>
            </a:pPr>
            <a:r>
              <a:rPr b="1" lang="en" sz="900">
                <a:solidFill>
                  <a:srgbClr val="B8D86B"/>
                </a:solidFill>
                <a:latin typeface="Arial"/>
                <a:ea typeface="Arial"/>
                <a:cs typeface="Arial"/>
                <a:sym typeface="Arial"/>
              </a:rPr>
              <a:t>A03 • NEURAL NETWORK ZOO</a:t>
            </a:r>
            <a:endParaRPr sz="900">
              <a:solidFill>
                <a:schemeClr val="dk1"/>
              </a:solidFill>
              <a:latin typeface="Arial"/>
              <a:ea typeface="Arial"/>
              <a:cs typeface="Arial"/>
              <a:sym typeface="Arial"/>
            </a:endParaRPr>
          </a:p>
        </p:txBody>
      </p:sp>
      <p:sp>
        <p:nvSpPr>
          <p:cNvPr id="27" name="Google Shape;27;p9"/>
          <p:cNvSpPr/>
          <p:nvPr/>
        </p:nvSpPr>
        <p:spPr>
          <a:xfrm>
            <a:off x="493776" y="946404"/>
            <a:ext cx="432054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 sz="2700">
                <a:solidFill>
                  <a:srgbClr val="FFFFFF"/>
                </a:solidFill>
                <a:latin typeface="Play"/>
                <a:ea typeface="Play"/>
                <a:cs typeface="Play"/>
                <a:sym typeface="Play"/>
              </a:rPr>
              <a:t>CNN Chameleon</a:t>
            </a:r>
            <a:endParaRPr sz="2700">
              <a:solidFill>
                <a:schemeClr val="dk1"/>
              </a:solidFill>
              <a:latin typeface="Arial"/>
              <a:ea typeface="Arial"/>
              <a:cs typeface="Arial"/>
              <a:sym typeface="Arial"/>
            </a:endParaRPr>
          </a:p>
        </p:txBody>
      </p:sp>
      <p:sp>
        <p:nvSpPr>
          <p:cNvPr id="28" name="Google Shape;28;p9"/>
          <p:cNvSpPr/>
          <p:nvPr/>
        </p:nvSpPr>
        <p:spPr>
          <a:xfrm>
            <a:off x="507492" y="1543050"/>
            <a:ext cx="404622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2F5"/>
              </a:buClr>
              <a:buSzPts val="1500"/>
              <a:buFont typeface="Arial"/>
              <a:buNone/>
            </a:pPr>
            <a:r>
              <a:rPr lang="en" sz="1500">
                <a:solidFill>
                  <a:srgbClr val="E8F2F5"/>
                </a:solidFill>
                <a:latin typeface="Arial"/>
                <a:ea typeface="Arial"/>
                <a:cs typeface="Arial"/>
                <a:sym typeface="Arial"/>
              </a:rPr>
              <a:t>From biological neurons to visual learning</a:t>
            </a:r>
            <a:endParaRPr sz="1500">
              <a:solidFill>
                <a:schemeClr val="dk1"/>
              </a:solidFill>
              <a:latin typeface="Arial"/>
              <a:ea typeface="Arial"/>
              <a:cs typeface="Arial"/>
              <a:sym typeface="Arial"/>
            </a:endParaRPr>
          </a:p>
        </p:txBody>
      </p:sp>
      <p:sp>
        <p:nvSpPr>
          <p:cNvPr id="29" name="Google Shape;29;p9"/>
          <p:cNvSpPr/>
          <p:nvPr/>
        </p:nvSpPr>
        <p:spPr>
          <a:xfrm>
            <a:off x="507492" y="2084832"/>
            <a:ext cx="294894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6EA"/>
              </a:buClr>
              <a:buSzPts val="1100"/>
              <a:buFont typeface="Arial"/>
              <a:buNone/>
            </a:pPr>
            <a:r>
              <a:rPr b="1" lang="en" sz="1100">
                <a:solidFill>
                  <a:srgbClr val="D6E6EA"/>
                </a:solidFill>
                <a:latin typeface="Arial"/>
                <a:ea typeface="Arial"/>
                <a:cs typeface="Arial"/>
                <a:sym typeface="Arial"/>
              </a:rPr>
              <a:t>Group 4  |  ITAI 2376</a:t>
            </a:r>
            <a:endParaRPr sz="1100">
              <a:solidFill>
                <a:schemeClr val="dk1"/>
              </a:solidFill>
              <a:latin typeface="Arial"/>
              <a:ea typeface="Arial"/>
              <a:cs typeface="Arial"/>
              <a:sym typeface="Arial"/>
            </a:endParaRPr>
          </a:p>
        </p:txBody>
      </p:sp>
      <p:cxnSp>
        <p:nvCxnSpPr>
          <p:cNvPr id="30" name="Google Shape;30;p9"/>
          <p:cNvCxnSpPr/>
          <p:nvPr/>
        </p:nvCxnSpPr>
        <p:spPr>
          <a:xfrm>
            <a:off x="507492" y="2482596"/>
            <a:ext cx="685800" cy="0"/>
          </a:xfrm>
          <a:prstGeom prst="straightConnector1">
            <a:avLst/>
          </a:prstGeom>
          <a:noFill/>
          <a:ln cap="flat" cmpd="sng" w="50800">
            <a:solidFill>
              <a:srgbClr val="B8D86B"/>
            </a:solidFill>
            <a:prstDash val="solid"/>
            <a:round/>
            <a:headEnd len="sm" w="sm" type="none"/>
            <a:tailEnd len="sm" w="sm" type="none"/>
          </a:ln>
        </p:spPr>
      </p:cxnSp>
      <p:sp>
        <p:nvSpPr>
          <p:cNvPr id="31" name="Google Shape;31;p9"/>
          <p:cNvSpPr/>
          <p:nvPr/>
        </p:nvSpPr>
        <p:spPr>
          <a:xfrm>
            <a:off x="507492" y="2619756"/>
            <a:ext cx="26060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6EA"/>
              </a:buClr>
              <a:buSzPts val="900"/>
              <a:buFont typeface="Arial"/>
              <a:buNone/>
            </a:pPr>
            <a:r>
              <a:rPr lang="en" sz="900">
                <a:solidFill>
                  <a:srgbClr val="D6E6EA"/>
                </a:solidFill>
                <a:latin typeface="Arial"/>
                <a:ea typeface="Arial"/>
                <a:cs typeface="Arial"/>
                <a:sym typeface="Arial"/>
              </a:rPr>
              <a:t>Neural Network Zoo</a:t>
            </a:r>
            <a:endParaRPr sz="9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0"/>
          <p:cNvSpPr/>
          <p:nvPr/>
        </p:nvSpPr>
        <p:spPr>
          <a:xfrm>
            <a:off x="445770" y="219456"/>
            <a:ext cx="30861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800"/>
              <a:buFont typeface="Arial"/>
              <a:buNone/>
            </a:pPr>
            <a:r>
              <a:rPr b="1" lang="en" sz="800">
                <a:solidFill>
                  <a:srgbClr val="0E6973"/>
                </a:solidFill>
                <a:latin typeface="Arial"/>
                <a:ea typeface="Arial"/>
                <a:cs typeface="Arial"/>
                <a:sym typeface="Arial"/>
              </a:rPr>
              <a:t>PROJECT INTRODUCTION</a:t>
            </a:r>
            <a:endParaRPr sz="800">
              <a:solidFill>
                <a:schemeClr val="dk1"/>
              </a:solidFill>
              <a:latin typeface="Arial"/>
              <a:ea typeface="Arial"/>
              <a:cs typeface="Arial"/>
              <a:sym typeface="Arial"/>
            </a:endParaRPr>
          </a:p>
        </p:txBody>
      </p:sp>
      <p:sp>
        <p:nvSpPr>
          <p:cNvPr id="38" name="Google Shape;38;p10"/>
          <p:cNvSpPr/>
          <p:nvPr/>
        </p:nvSpPr>
        <p:spPr>
          <a:xfrm>
            <a:off x="445770" y="466344"/>
            <a:ext cx="8092440" cy="397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2100"/>
              <a:buFont typeface="Play"/>
              <a:buNone/>
            </a:pPr>
            <a:r>
              <a:rPr b="1" lang="en" sz="2100">
                <a:solidFill>
                  <a:srgbClr val="102A43"/>
                </a:solidFill>
                <a:latin typeface="Play"/>
                <a:ea typeface="Play"/>
                <a:cs typeface="Play"/>
                <a:sym typeface="Play"/>
              </a:rPr>
              <a:t>Why the CNN Chameleon?</a:t>
            </a:r>
            <a:endParaRPr sz="2100">
              <a:solidFill>
                <a:schemeClr val="dk1"/>
              </a:solidFill>
              <a:latin typeface="Arial"/>
              <a:ea typeface="Arial"/>
              <a:cs typeface="Arial"/>
              <a:sym typeface="Arial"/>
            </a:endParaRPr>
          </a:p>
        </p:txBody>
      </p:sp>
      <p:sp>
        <p:nvSpPr>
          <p:cNvPr id="39" name="Google Shape;39;p10"/>
          <p:cNvSpPr/>
          <p:nvPr/>
        </p:nvSpPr>
        <p:spPr>
          <a:xfrm>
            <a:off x="480060" y="1008126"/>
            <a:ext cx="150876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900"/>
              <a:buFont typeface="Arial"/>
              <a:buNone/>
            </a:pPr>
            <a:r>
              <a:rPr b="1" lang="en" sz="900">
                <a:solidFill>
                  <a:srgbClr val="0E6973"/>
                </a:solidFill>
                <a:latin typeface="Arial"/>
                <a:ea typeface="Arial"/>
                <a:cs typeface="Arial"/>
                <a:sym typeface="Arial"/>
              </a:rPr>
              <a:t>Our guiding question</a:t>
            </a:r>
            <a:endParaRPr sz="900">
              <a:solidFill>
                <a:schemeClr val="dk1"/>
              </a:solidFill>
              <a:latin typeface="Arial"/>
              <a:ea typeface="Arial"/>
              <a:cs typeface="Arial"/>
              <a:sym typeface="Arial"/>
            </a:endParaRPr>
          </a:p>
        </p:txBody>
      </p:sp>
      <p:sp>
        <p:nvSpPr>
          <p:cNvPr id="40" name="Google Shape;40;p10"/>
          <p:cNvSpPr/>
          <p:nvPr/>
        </p:nvSpPr>
        <p:spPr>
          <a:xfrm>
            <a:off x="480060" y="1248156"/>
            <a:ext cx="4320540" cy="72009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02A43"/>
              </a:buClr>
              <a:buSzPts val="1800"/>
              <a:buFont typeface="Play"/>
              <a:buNone/>
            </a:pPr>
            <a:r>
              <a:rPr b="1" lang="en" sz="1800">
                <a:solidFill>
                  <a:srgbClr val="102A43"/>
                </a:solidFill>
                <a:latin typeface="Play"/>
                <a:ea typeface="Play"/>
                <a:cs typeface="Play"/>
                <a:sym typeface="Play"/>
              </a:rPr>
              <a:t>How can a computer start with a grid of numbers and eventually decide what is in an image?</a:t>
            </a:r>
            <a:endParaRPr sz="1800">
              <a:solidFill>
                <a:schemeClr val="dk1"/>
              </a:solidFill>
              <a:latin typeface="Arial"/>
              <a:ea typeface="Arial"/>
              <a:cs typeface="Arial"/>
              <a:sym typeface="Arial"/>
            </a:endParaRPr>
          </a:p>
        </p:txBody>
      </p:sp>
      <p:sp>
        <p:nvSpPr>
          <p:cNvPr id="41" name="Google Shape;41;p10"/>
          <p:cNvSpPr/>
          <p:nvPr/>
        </p:nvSpPr>
        <p:spPr>
          <a:xfrm>
            <a:off x="5177790" y="994410"/>
            <a:ext cx="3394710" cy="2434590"/>
          </a:xfrm>
          <a:prstGeom prst="roundRect">
            <a:avLst>
              <a:gd fmla="val 2254" name="adj"/>
            </a:avLst>
          </a:prstGeom>
          <a:solidFill>
            <a:srgbClr val="FFFFFF"/>
          </a:solidFill>
          <a:ln cap="flat" cmpd="sng" w="12700">
            <a:solidFill>
              <a:srgbClr val="D6E2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2" name="Google Shape;42;p10"/>
          <p:cNvSpPr/>
          <p:nvPr/>
        </p:nvSpPr>
        <p:spPr>
          <a:xfrm>
            <a:off x="5417820" y="1220724"/>
            <a:ext cx="2400300" cy="2263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400"/>
              <a:buFont typeface="Arial"/>
              <a:buNone/>
            </a:pPr>
            <a:r>
              <a:rPr b="1" lang="en" sz="1400">
                <a:solidFill>
                  <a:srgbClr val="102A43"/>
                </a:solidFill>
                <a:latin typeface="Arial"/>
                <a:ea typeface="Arial"/>
                <a:cs typeface="Arial"/>
                <a:sym typeface="Arial"/>
              </a:rPr>
              <a:t>Why a chameleon?</a:t>
            </a:r>
            <a:endParaRPr sz="1400">
              <a:solidFill>
                <a:schemeClr val="dk1"/>
              </a:solidFill>
              <a:latin typeface="Arial"/>
              <a:ea typeface="Arial"/>
              <a:cs typeface="Arial"/>
              <a:sym typeface="Arial"/>
            </a:endParaRPr>
          </a:p>
        </p:txBody>
      </p:sp>
      <p:sp>
        <p:nvSpPr>
          <p:cNvPr id="43" name="Google Shape;43;p10"/>
          <p:cNvSpPr/>
          <p:nvPr/>
        </p:nvSpPr>
        <p:spPr>
          <a:xfrm>
            <a:off x="5417820" y="1563624"/>
            <a:ext cx="2777490" cy="150876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None/>
            </a:pPr>
            <a:r>
              <a:rPr b="1" lang="en" sz="1100">
                <a:solidFill>
                  <a:srgbClr val="6FA64B"/>
                </a:solidFill>
                <a:latin typeface="Arial"/>
                <a:ea typeface="Arial"/>
                <a:cs typeface="Arial"/>
                <a:sym typeface="Arial"/>
              </a:rPr>
              <a:t>• </a:t>
            </a:r>
            <a:r>
              <a:rPr lang="en" sz="1100">
                <a:solidFill>
                  <a:srgbClr val="1B2B34"/>
                </a:solidFill>
                <a:latin typeface="Arial"/>
                <a:ea typeface="Arial"/>
                <a:cs typeface="Arial"/>
                <a:sym typeface="Arial"/>
              </a:rPr>
              <a:t>Its eyes can survey different directions, giving us a natural visual analogy for examining a scene.</a:t>
            </a:r>
            <a:br>
              <a:rPr lang="en" sz="1100">
                <a:solidFill>
                  <a:srgbClr val="1B2B34"/>
                </a:solidFill>
                <a:latin typeface="Arial"/>
                <a:ea typeface="Arial"/>
                <a:cs typeface="Arial"/>
                <a:sym typeface="Arial"/>
              </a:rPr>
            </a:br>
            <a:r>
              <a:rPr b="1" lang="en" sz="1100">
                <a:solidFill>
                  <a:srgbClr val="6FA64B"/>
                </a:solidFill>
                <a:latin typeface="Arial"/>
                <a:ea typeface="Arial"/>
                <a:cs typeface="Arial"/>
                <a:sym typeface="Arial"/>
              </a:rPr>
              <a:t>• </a:t>
            </a:r>
            <a:r>
              <a:rPr lang="en" sz="1100">
                <a:solidFill>
                  <a:srgbClr val="1B2B34"/>
                </a:solidFill>
                <a:latin typeface="Arial"/>
                <a:ea typeface="Arial"/>
                <a:cs typeface="Arial"/>
                <a:sym typeface="Arial"/>
              </a:rPr>
              <a:t>The analogy stops there: a CNN does not literally “look around.” It applies mathematical filters to image data.</a:t>
            </a:r>
            <a:br>
              <a:rPr lang="en" sz="1100">
                <a:solidFill>
                  <a:srgbClr val="1B2B34"/>
                </a:solidFill>
                <a:latin typeface="Arial"/>
                <a:ea typeface="Arial"/>
                <a:cs typeface="Arial"/>
                <a:sym typeface="Arial"/>
              </a:rPr>
            </a:br>
            <a:r>
              <a:rPr b="1" lang="en" sz="1100">
                <a:solidFill>
                  <a:srgbClr val="6FA64B"/>
                </a:solidFill>
                <a:latin typeface="Arial"/>
                <a:ea typeface="Arial"/>
                <a:cs typeface="Arial"/>
                <a:sym typeface="Arial"/>
              </a:rPr>
              <a:t>• </a:t>
            </a:r>
            <a:r>
              <a:rPr lang="en" sz="1100">
                <a:solidFill>
                  <a:srgbClr val="1B2B34"/>
                </a:solidFill>
                <a:latin typeface="Arial"/>
                <a:ea typeface="Arial"/>
                <a:cs typeface="Arial"/>
                <a:sym typeface="Arial"/>
              </a:rPr>
              <a:t>That distinction helps us separate biological inspiration from the actual computation.</a:t>
            </a:r>
            <a:endParaRPr sz="1100">
              <a:solidFill>
                <a:schemeClr val="dk1"/>
              </a:solidFill>
              <a:latin typeface="Arial"/>
              <a:ea typeface="Arial"/>
              <a:cs typeface="Arial"/>
              <a:sym typeface="Arial"/>
            </a:endParaRPr>
          </a:p>
        </p:txBody>
      </p:sp>
      <p:sp>
        <p:nvSpPr>
          <p:cNvPr id="44" name="Google Shape;44;p10"/>
          <p:cNvSpPr/>
          <p:nvPr/>
        </p:nvSpPr>
        <p:spPr>
          <a:xfrm>
            <a:off x="514350" y="2976372"/>
            <a:ext cx="980694" cy="493776"/>
          </a:xfrm>
          <a:prstGeom prst="roundRect">
            <a:avLst>
              <a:gd fmla="val 11111" name="adj"/>
            </a:avLst>
          </a:prstGeom>
          <a:solidFill>
            <a:srgbClr val="EAF3F7"/>
          </a:solidFill>
          <a:ln cap="flat" cmpd="sng" w="16500">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5" name="Google Shape;45;p10"/>
          <p:cNvSpPr/>
          <p:nvPr/>
        </p:nvSpPr>
        <p:spPr>
          <a:xfrm>
            <a:off x="569214" y="3140964"/>
            <a:ext cx="870966"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6973"/>
              </a:buClr>
              <a:buSzPts val="800"/>
              <a:buFont typeface="Arial"/>
              <a:buNone/>
            </a:pPr>
            <a:r>
              <a:rPr b="1" lang="en" sz="800">
                <a:solidFill>
                  <a:srgbClr val="0E6973"/>
                </a:solidFill>
                <a:latin typeface="Arial"/>
                <a:ea typeface="Arial"/>
                <a:cs typeface="Arial"/>
                <a:sym typeface="Arial"/>
              </a:rPr>
              <a:t>IMAGE DATA</a:t>
            </a:r>
            <a:endParaRPr sz="800">
              <a:solidFill>
                <a:schemeClr val="dk1"/>
              </a:solidFill>
              <a:latin typeface="Arial"/>
              <a:ea typeface="Arial"/>
              <a:cs typeface="Arial"/>
              <a:sym typeface="Arial"/>
            </a:endParaRPr>
          </a:p>
        </p:txBody>
      </p:sp>
      <p:cxnSp>
        <p:nvCxnSpPr>
          <p:cNvPr id="46" name="Google Shape;46;p10"/>
          <p:cNvCxnSpPr/>
          <p:nvPr/>
        </p:nvCxnSpPr>
        <p:spPr>
          <a:xfrm>
            <a:off x="1515618" y="3223260"/>
            <a:ext cx="75438" cy="0"/>
          </a:xfrm>
          <a:prstGeom prst="straightConnector1">
            <a:avLst/>
          </a:prstGeom>
          <a:noFill/>
          <a:ln cap="flat" cmpd="sng" w="17775">
            <a:solidFill>
              <a:srgbClr val="5C6B73"/>
            </a:solidFill>
            <a:prstDash val="solid"/>
            <a:round/>
            <a:headEnd len="sm" w="sm" type="none"/>
            <a:tailEnd len="med" w="med" type="triangle"/>
          </a:ln>
        </p:spPr>
      </p:cxnSp>
      <p:sp>
        <p:nvSpPr>
          <p:cNvPr id="47" name="Google Shape;47;p10"/>
          <p:cNvSpPr/>
          <p:nvPr/>
        </p:nvSpPr>
        <p:spPr>
          <a:xfrm>
            <a:off x="1632204" y="2976372"/>
            <a:ext cx="980694" cy="493776"/>
          </a:xfrm>
          <a:prstGeom prst="roundRect">
            <a:avLst>
              <a:gd fmla="val 11111" name="adj"/>
            </a:avLst>
          </a:prstGeom>
          <a:solidFill>
            <a:srgbClr val="EEF6E8"/>
          </a:solidFill>
          <a:ln cap="flat" cmpd="sng" w="165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8" name="Google Shape;48;p10"/>
          <p:cNvSpPr/>
          <p:nvPr/>
        </p:nvSpPr>
        <p:spPr>
          <a:xfrm>
            <a:off x="1687068" y="3140964"/>
            <a:ext cx="870966"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800"/>
              <a:buFont typeface="Arial"/>
              <a:buNone/>
            </a:pPr>
            <a:r>
              <a:rPr b="1" lang="en" sz="800">
                <a:solidFill>
                  <a:srgbClr val="6FA64B"/>
                </a:solidFill>
                <a:latin typeface="Arial"/>
                <a:ea typeface="Arial"/>
                <a:cs typeface="Arial"/>
                <a:sym typeface="Arial"/>
              </a:rPr>
              <a:t>LOCAL PATTERNS</a:t>
            </a:r>
            <a:endParaRPr sz="800">
              <a:solidFill>
                <a:schemeClr val="dk1"/>
              </a:solidFill>
              <a:latin typeface="Arial"/>
              <a:ea typeface="Arial"/>
              <a:cs typeface="Arial"/>
              <a:sym typeface="Arial"/>
            </a:endParaRPr>
          </a:p>
        </p:txBody>
      </p:sp>
      <p:cxnSp>
        <p:nvCxnSpPr>
          <p:cNvPr id="49" name="Google Shape;49;p10"/>
          <p:cNvCxnSpPr/>
          <p:nvPr/>
        </p:nvCxnSpPr>
        <p:spPr>
          <a:xfrm>
            <a:off x="2633472" y="3223260"/>
            <a:ext cx="192024" cy="0"/>
          </a:xfrm>
          <a:prstGeom prst="straightConnector1">
            <a:avLst/>
          </a:prstGeom>
          <a:noFill/>
          <a:ln cap="flat" cmpd="sng" w="17775">
            <a:solidFill>
              <a:srgbClr val="5C6B73"/>
            </a:solidFill>
            <a:prstDash val="solid"/>
            <a:round/>
            <a:headEnd len="sm" w="sm" type="none"/>
            <a:tailEnd len="med" w="med" type="triangle"/>
          </a:ln>
        </p:spPr>
      </p:cxnSp>
      <p:sp>
        <p:nvSpPr>
          <p:cNvPr id="50" name="Google Shape;50;p10"/>
          <p:cNvSpPr/>
          <p:nvPr/>
        </p:nvSpPr>
        <p:spPr>
          <a:xfrm>
            <a:off x="2866644" y="2976372"/>
            <a:ext cx="980694" cy="493776"/>
          </a:xfrm>
          <a:prstGeom prst="roundRect">
            <a:avLst>
              <a:gd fmla="val 11111" name="adj"/>
            </a:avLst>
          </a:prstGeom>
          <a:solidFill>
            <a:srgbClr val="EEF6E8"/>
          </a:solidFill>
          <a:ln cap="flat" cmpd="sng" w="165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1" name="Google Shape;51;p10"/>
          <p:cNvSpPr/>
          <p:nvPr/>
        </p:nvSpPr>
        <p:spPr>
          <a:xfrm>
            <a:off x="2921508" y="3140964"/>
            <a:ext cx="870966"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800"/>
              <a:buFont typeface="Arial"/>
              <a:buNone/>
            </a:pPr>
            <a:r>
              <a:rPr b="1" lang="en" sz="800">
                <a:solidFill>
                  <a:srgbClr val="6FA64B"/>
                </a:solidFill>
                <a:latin typeface="Arial"/>
                <a:ea typeface="Arial"/>
                <a:cs typeface="Arial"/>
                <a:sym typeface="Arial"/>
              </a:rPr>
              <a:t>FEATURES</a:t>
            </a:r>
            <a:endParaRPr sz="800">
              <a:solidFill>
                <a:schemeClr val="dk1"/>
              </a:solidFill>
              <a:latin typeface="Arial"/>
              <a:ea typeface="Arial"/>
              <a:cs typeface="Arial"/>
              <a:sym typeface="Arial"/>
            </a:endParaRPr>
          </a:p>
        </p:txBody>
      </p:sp>
      <p:cxnSp>
        <p:nvCxnSpPr>
          <p:cNvPr id="52" name="Google Shape;52;p10"/>
          <p:cNvCxnSpPr/>
          <p:nvPr/>
        </p:nvCxnSpPr>
        <p:spPr>
          <a:xfrm>
            <a:off x="3867912" y="3223260"/>
            <a:ext cx="150876" cy="0"/>
          </a:xfrm>
          <a:prstGeom prst="straightConnector1">
            <a:avLst/>
          </a:prstGeom>
          <a:noFill/>
          <a:ln cap="flat" cmpd="sng" w="17775">
            <a:solidFill>
              <a:srgbClr val="5C6B73"/>
            </a:solidFill>
            <a:prstDash val="solid"/>
            <a:round/>
            <a:headEnd len="sm" w="sm" type="none"/>
            <a:tailEnd len="med" w="med" type="triangle"/>
          </a:ln>
        </p:spPr>
      </p:cxnSp>
      <p:sp>
        <p:nvSpPr>
          <p:cNvPr id="53" name="Google Shape;53;p10"/>
          <p:cNvSpPr/>
          <p:nvPr/>
        </p:nvSpPr>
        <p:spPr>
          <a:xfrm>
            <a:off x="4059936" y="2976372"/>
            <a:ext cx="980694" cy="493776"/>
          </a:xfrm>
          <a:prstGeom prst="roundRect">
            <a:avLst>
              <a:gd fmla="val 11111" name="adj"/>
            </a:avLst>
          </a:prstGeom>
          <a:solidFill>
            <a:srgbClr val="EEF6E8"/>
          </a:solidFill>
          <a:ln cap="flat" cmpd="sng" w="165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4" name="Google Shape;54;p10"/>
          <p:cNvSpPr/>
          <p:nvPr/>
        </p:nvSpPr>
        <p:spPr>
          <a:xfrm>
            <a:off x="4114800" y="3140964"/>
            <a:ext cx="870966"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800"/>
              <a:buFont typeface="Arial"/>
              <a:buNone/>
            </a:pPr>
            <a:r>
              <a:rPr b="1" lang="en" sz="800">
                <a:solidFill>
                  <a:srgbClr val="6FA64B"/>
                </a:solidFill>
                <a:latin typeface="Arial"/>
                <a:ea typeface="Arial"/>
                <a:cs typeface="Arial"/>
                <a:sym typeface="Arial"/>
              </a:rPr>
              <a:t>PREDICTION</a:t>
            </a:r>
            <a:endParaRPr sz="800">
              <a:solidFill>
                <a:schemeClr val="dk1"/>
              </a:solidFill>
              <a:latin typeface="Arial"/>
              <a:ea typeface="Arial"/>
              <a:cs typeface="Arial"/>
              <a:sym typeface="Arial"/>
            </a:endParaRPr>
          </a:p>
        </p:txBody>
      </p:sp>
      <p:sp>
        <p:nvSpPr>
          <p:cNvPr id="55" name="Google Shape;55;p10"/>
          <p:cNvSpPr/>
          <p:nvPr/>
        </p:nvSpPr>
        <p:spPr>
          <a:xfrm>
            <a:off x="514350" y="3669030"/>
            <a:ext cx="47320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3"/>
              </a:buClr>
              <a:buSzPts val="1100"/>
              <a:buFont typeface="Arial"/>
              <a:buNone/>
            </a:pPr>
            <a:r>
              <a:rPr i="1" lang="en" sz="1100">
                <a:solidFill>
                  <a:srgbClr val="5C6B73"/>
                </a:solidFill>
                <a:latin typeface="Arial"/>
                <a:ea typeface="Arial"/>
                <a:cs typeface="Arial"/>
                <a:sym typeface="Arial"/>
              </a:rPr>
              <a:t>We will follow the information, not just memorize the terminology.</a:t>
            </a:r>
            <a:endParaRPr sz="1100">
              <a:solidFill>
                <a:schemeClr val="dk1"/>
              </a:solidFill>
              <a:latin typeface="Arial"/>
              <a:ea typeface="Arial"/>
              <a:cs typeface="Arial"/>
              <a:sym typeface="Arial"/>
            </a:endParaRPr>
          </a:p>
        </p:txBody>
      </p:sp>
      <p:sp>
        <p:nvSpPr>
          <p:cNvPr id="56" name="Google Shape;56;p10"/>
          <p:cNvSpPr txBox="1"/>
          <p:nvPr>
            <p:ph idx="4294967295" type="sldNum"/>
          </p:nvPr>
        </p:nvSpPr>
        <p:spPr>
          <a:xfrm>
            <a:off x="8606790" y="4841748"/>
            <a:ext cx="274320" cy="123444"/>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 sz="700">
                <a:solidFill>
                  <a:srgbClr val="5C6B73"/>
                </a:solidFill>
                <a:latin typeface="Arial"/>
                <a:ea typeface="Arial"/>
                <a:cs typeface="Arial"/>
                <a:sym typeface="Arial"/>
              </a:rPr>
              <a:t>‹#›</a:t>
            </a:fld>
            <a:endParaRPr sz="700">
              <a:solidFill>
                <a:srgbClr val="5C6B73"/>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1"/>
          <p:cNvSpPr/>
          <p:nvPr/>
        </p:nvSpPr>
        <p:spPr>
          <a:xfrm>
            <a:off x="445770" y="219456"/>
            <a:ext cx="30861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800"/>
              <a:buFont typeface="Arial"/>
              <a:buNone/>
            </a:pPr>
            <a:r>
              <a:rPr b="1" i="0" lang="en" sz="800" u="none" cap="none" strike="noStrike">
                <a:solidFill>
                  <a:srgbClr val="0E6973"/>
                </a:solidFill>
                <a:latin typeface="Arial"/>
                <a:ea typeface="Arial"/>
                <a:cs typeface="Arial"/>
                <a:sym typeface="Arial"/>
              </a:rPr>
              <a:t>PROJECT INTRODUCTION CONTINUED </a:t>
            </a:r>
            <a:endParaRPr b="0" i="0" sz="800" u="none" cap="none" strike="noStrike">
              <a:solidFill>
                <a:schemeClr val="dk1"/>
              </a:solidFill>
              <a:latin typeface="Arial"/>
              <a:ea typeface="Arial"/>
              <a:cs typeface="Arial"/>
              <a:sym typeface="Arial"/>
            </a:endParaRPr>
          </a:p>
        </p:txBody>
      </p:sp>
      <p:sp>
        <p:nvSpPr>
          <p:cNvPr id="63" name="Google Shape;63;p11"/>
          <p:cNvSpPr/>
          <p:nvPr/>
        </p:nvSpPr>
        <p:spPr>
          <a:xfrm>
            <a:off x="445770" y="466344"/>
            <a:ext cx="8092440" cy="397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2100"/>
              <a:buFont typeface="Play"/>
              <a:buNone/>
            </a:pPr>
            <a:r>
              <a:rPr b="1" i="0" lang="en" sz="2100" u="none" cap="none" strike="noStrike">
                <a:solidFill>
                  <a:srgbClr val="102A43"/>
                </a:solidFill>
                <a:latin typeface="Play"/>
                <a:ea typeface="Play"/>
                <a:cs typeface="Play"/>
                <a:sym typeface="Play"/>
              </a:rPr>
              <a:t>Why CNNs were created</a:t>
            </a:r>
            <a:endParaRPr b="0" i="0" sz="2100" u="none" cap="none" strike="noStrike">
              <a:solidFill>
                <a:schemeClr val="dk1"/>
              </a:solidFill>
              <a:latin typeface="Arial"/>
              <a:ea typeface="Arial"/>
              <a:cs typeface="Arial"/>
              <a:sym typeface="Arial"/>
            </a:endParaRPr>
          </a:p>
        </p:txBody>
      </p:sp>
      <p:sp>
        <p:nvSpPr>
          <p:cNvPr id="64" name="Google Shape;64;p11"/>
          <p:cNvSpPr/>
          <p:nvPr/>
        </p:nvSpPr>
        <p:spPr>
          <a:xfrm>
            <a:off x="493776" y="918972"/>
            <a:ext cx="43891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3"/>
              </a:buClr>
              <a:buSzPts val="1000"/>
              <a:buFont typeface="Arial"/>
              <a:buNone/>
            </a:pPr>
            <a:r>
              <a:rPr b="0" i="0" lang="en" sz="1000" u="none" cap="none" strike="noStrike">
                <a:solidFill>
                  <a:srgbClr val="5C6B73"/>
                </a:solidFill>
                <a:latin typeface="Arial"/>
                <a:ea typeface="Arial"/>
                <a:cs typeface="Arial"/>
                <a:sym typeface="Arial"/>
              </a:rPr>
              <a:t>The story starts with a very practical vision problem:</a:t>
            </a:r>
            <a:endParaRPr b="0" i="0" sz="1000" u="none" cap="none" strike="noStrike">
              <a:solidFill>
                <a:schemeClr val="dk1"/>
              </a:solidFill>
              <a:latin typeface="Arial"/>
              <a:ea typeface="Arial"/>
              <a:cs typeface="Arial"/>
              <a:sym typeface="Arial"/>
            </a:endParaRPr>
          </a:p>
        </p:txBody>
      </p:sp>
      <p:sp>
        <p:nvSpPr>
          <p:cNvPr id="65" name="Google Shape;65;p11"/>
          <p:cNvSpPr/>
          <p:nvPr/>
        </p:nvSpPr>
        <p:spPr>
          <a:xfrm>
            <a:off x="493776" y="1165860"/>
            <a:ext cx="5966460" cy="425196"/>
          </a:xfrm>
          <a:prstGeom prst="rect">
            <a:avLst/>
          </a:prstGeom>
          <a:noFill/>
          <a:ln>
            <a:noFill/>
          </a:ln>
        </p:spPr>
        <p:txBody>
          <a:bodyPr anchorCtr="0" anchor="ctr" bIns="100" lIns="100" spcFirstLastPara="1" rIns="100" wrap="square" tIns="100">
            <a:noAutofit/>
          </a:bodyPr>
          <a:lstStyle/>
          <a:p>
            <a:pPr indent="0" lvl="0" marL="0" marR="0" rtl="0" algn="l">
              <a:spcBef>
                <a:spcPts val="0"/>
              </a:spcBef>
              <a:spcAft>
                <a:spcPts val="0"/>
              </a:spcAft>
              <a:buClr>
                <a:srgbClr val="102A43"/>
              </a:buClr>
              <a:buSzPts val="1700"/>
              <a:buFont typeface="Play"/>
              <a:buNone/>
            </a:pPr>
            <a:r>
              <a:rPr b="1" i="0" lang="en" sz="1700" u="none" cap="none" strike="noStrike">
                <a:solidFill>
                  <a:srgbClr val="102A43"/>
                </a:solidFill>
                <a:latin typeface="Play"/>
                <a:ea typeface="Play"/>
                <a:cs typeface="Play"/>
                <a:sym typeface="Play"/>
              </a:rPr>
              <a:t>How can a computer recognize the same thing when it moves around in an image?</a:t>
            </a:r>
            <a:endParaRPr b="0" i="0" sz="1700" u="none" cap="none" strike="noStrike">
              <a:solidFill>
                <a:schemeClr val="dk1"/>
              </a:solidFill>
              <a:latin typeface="Arial"/>
              <a:ea typeface="Arial"/>
              <a:cs typeface="Arial"/>
              <a:sym typeface="Arial"/>
            </a:endParaRPr>
          </a:p>
        </p:txBody>
      </p:sp>
      <p:sp>
        <p:nvSpPr>
          <p:cNvPr id="66" name="Google Shape;66;p11"/>
          <p:cNvSpPr/>
          <p:nvPr/>
        </p:nvSpPr>
        <p:spPr>
          <a:xfrm>
            <a:off x="493776" y="1748790"/>
            <a:ext cx="2564892" cy="2386584"/>
          </a:xfrm>
          <a:prstGeom prst="roundRect">
            <a:avLst>
              <a:gd fmla="val 2299" name="adj"/>
            </a:avLst>
          </a:prstGeom>
          <a:solidFill>
            <a:srgbClr val="FFFFFF"/>
          </a:solidFill>
          <a:ln cap="flat" cmpd="sng" w="12700">
            <a:solidFill>
              <a:srgbClr val="D6E2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 name="Google Shape;67;p11"/>
          <p:cNvSpPr/>
          <p:nvPr/>
        </p:nvSpPr>
        <p:spPr>
          <a:xfrm>
            <a:off x="3284982" y="1748790"/>
            <a:ext cx="2564892" cy="2386584"/>
          </a:xfrm>
          <a:prstGeom prst="roundRect">
            <a:avLst>
              <a:gd fmla="val 2299" name="adj"/>
            </a:avLst>
          </a:prstGeom>
          <a:solidFill>
            <a:srgbClr val="FFFFFF"/>
          </a:solidFill>
          <a:ln cap="flat" cmpd="sng" w="12700">
            <a:solidFill>
              <a:srgbClr val="D6E2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 name="Google Shape;68;p11"/>
          <p:cNvSpPr/>
          <p:nvPr/>
        </p:nvSpPr>
        <p:spPr>
          <a:xfrm>
            <a:off x="6076188" y="1748790"/>
            <a:ext cx="2564892" cy="2386584"/>
          </a:xfrm>
          <a:prstGeom prst="roundRect">
            <a:avLst>
              <a:gd fmla="val 2299" name="adj"/>
            </a:avLst>
          </a:prstGeom>
          <a:solidFill>
            <a:srgbClr val="FFFFFF"/>
          </a:solidFill>
          <a:ln cap="flat" cmpd="sng" w="12700">
            <a:solidFill>
              <a:srgbClr val="D6E2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 name="Google Shape;69;p11"/>
          <p:cNvSpPr/>
          <p:nvPr/>
        </p:nvSpPr>
        <p:spPr>
          <a:xfrm>
            <a:off x="699516" y="1961388"/>
            <a:ext cx="154305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900"/>
              <a:buFont typeface="Arial"/>
              <a:buNone/>
            </a:pPr>
            <a:r>
              <a:rPr b="1" i="0" lang="en" sz="900" u="none" cap="none" strike="noStrike">
                <a:solidFill>
                  <a:srgbClr val="0E6973"/>
                </a:solidFill>
                <a:latin typeface="Arial"/>
                <a:ea typeface="Arial"/>
                <a:cs typeface="Arial"/>
                <a:sym typeface="Arial"/>
              </a:rPr>
              <a:t>1  THE PROBLEM</a:t>
            </a:r>
            <a:endParaRPr b="0" i="0" sz="900" u="none" cap="none" strike="noStrike">
              <a:solidFill>
                <a:schemeClr val="dk1"/>
              </a:solidFill>
              <a:latin typeface="Arial"/>
              <a:ea typeface="Arial"/>
              <a:cs typeface="Arial"/>
              <a:sym typeface="Arial"/>
            </a:endParaRPr>
          </a:p>
        </p:txBody>
      </p:sp>
      <p:sp>
        <p:nvSpPr>
          <p:cNvPr id="70" name="Google Shape;70;p11"/>
          <p:cNvSpPr/>
          <p:nvPr/>
        </p:nvSpPr>
        <p:spPr>
          <a:xfrm>
            <a:off x="699516" y="2194560"/>
            <a:ext cx="2057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200"/>
              <a:buFont typeface="Arial"/>
              <a:buNone/>
            </a:pPr>
            <a:r>
              <a:rPr b="1" i="0" lang="en" sz="1200" u="none" cap="none" strike="noStrike">
                <a:solidFill>
                  <a:srgbClr val="102A43"/>
                </a:solidFill>
                <a:latin typeface="Arial"/>
                <a:ea typeface="Arial"/>
                <a:cs typeface="Arial"/>
                <a:sym typeface="Arial"/>
              </a:rPr>
              <a:t>A “7” is still a 7 — even when it moves.</a:t>
            </a:r>
            <a:endParaRPr b="0" i="0" sz="1200" u="none" cap="none" strike="noStrike">
              <a:solidFill>
                <a:schemeClr val="dk1"/>
              </a:solidFill>
              <a:latin typeface="Arial"/>
              <a:ea typeface="Arial"/>
              <a:cs typeface="Arial"/>
              <a:sym typeface="Arial"/>
            </a:endParaRPr>
          </a:p>
        </p:txBody>
      </p:sp>
      <p:sp>
        <p:nvSpPr>
          <p:cNvPr id="71" name="Google Shape;71;p11"/>
          <p:cNvSpPr/>
          <p:nvPr/>
        </p:nvSpPr>
        <p:spPr>
          <a:xfrm>
            <a:off x="754380" y="2756916"/>
            <a:ext cx="493776" cy="493776"/>
          </a:xfrm>
          <a:prstGeom prst="roundRect">
            <a:avLst>
              <a:gd fmla="val 5556" name="adj"/>
            </a:avLst>
          </a:prstGeom>
          <a:solidFill>
            <a:srgbClr val="EAF3F7"/>
          </a:solidFill>
          <a:ln cap="flat" cmpd="sng" w="12700">
            <a:solidFill>
              <a:srgbClr val="0E697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 name="Google Shape;72;p11"/>
          <p:cNvSpPr/>
          <p:nvPr/>
        </p:nvSpPr>
        <p:spPr>
          <a:xfrm>
            <a:off x="884682" y="2825496"/>
            <a:ext cx="233172"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1800"/>
              <a:buFont typeface="Play"/>
              <a:buNone/>
            </a:pPr>
            <a:r>
              <a:rPr b="1" i="0" lang="en" sz="1800" u="none" cap="none" strike="noStrike">
                <a:solidFill>
                  <a:srgbClr val="102A43"/>
                </a:solidFill>
                <a:latin typeface="Play"/>
                <a:ea typeface="Play"/>
                <a:cs typeface="Play"/>
                <a:sym typeface="Play"/>
              </a:rPr>
              <a:t>7</a:t>
            </a:r>
            <a:endParaRPr b="0" i="0" sz="1800" u="none" cap="none" strike="noStrike">
              <a:solidFill>
                <a:schemeClr val="dk1"/>
              </a:solidFill>
              <a:latin typeface="Arial"/>
              <a:ea typeface="Arial"/>
              <a:cs typeface="Arial"/>
              <a:sym typeface="Arial"/>
            </a:endParaRPr>
          </a:p>
        </p:txBody>
      </p:sp>
      <p:sp>
        <p:nvSpPr>
          <p:cNvPr id="73" name="Google Shape;73;p11"/>
          <p:cNvSpPr/>
          <p:nvPr/>
        </p:nvSpPr>
        <p:spPr>
          <a:xfrm>
            <a:off x="1385316" y="2578608"/>
            <a:ext cx="493776" cy="493776"/>
          </a:xfrm>
          <a:prstGeom prst="roundRect">
            <a:avLst>
              <a:gd fmla="val 5556" name="adj"/>
            </a:avLst>
          </a:prstGeom>
          <a:solidFill>
            <a:srgbClr val="EEF6E8"/>
          </a:solidFill>
          <a:ln cap="flat" cmpd="sng" w="12700">
            <a:solidFill>
              <a:srgbClr val="6FA64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 name="Google Shape;74;p11"/>
          <p:cNvSpPr/>
          <p:nvPr/>
        </p:nvSpPr>
        <p:spPr>
          <a:xfrm>
            <a:off x="1515618" y="2647188"/>
            <a:ext cx="233172"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1800"/>
              <a:buFont typeface="Play"/>
              <a:buNone/>
            </a:pPr>
            <a:r>
              <a:rPr b="1" i="0" lang="en" sz="1800" u="none" cap="none" strike="noStrike">
                <a:solidFill>
                  <a:srgbClr val="102A43"/>
                </a:solidFill>
                <a:latin typeface="Play"/>
                <a:ea typeface="Play"/>
                <a:cs typeface="Play"/>
                <a:sym typeface="Play"/>
              </a:rPr>
              <a:t>7</a:t>
            </a:r>
            <a:endParaRPr b="0" i="0" sz="1800" u="none" cap="none" strike="noStrike">
              <a:solidFill>
                <a:schemeClr val="dk1"/>
              </a:solidFill>
              <a:latin typeface="Arial"/>
              <a:ea typeface="Arial"/>
              <a:cs typeface="Arial"/>
              <a:sym typeface="Arial"/>
            </a:endParaRPr>
          </a:p>
        </p:txBody>
      </p:sp>
      <p:sp>
        <p:nvSpPr>
          <p:cNvPr id="75" name="Google Shape;75;p11"/>
          <p:cNvSpPr/>
          <p:nvPr/>
        </p:nvSpPr>
        <p:spPr>
          <a:xfrm>
            <a:off x="2016252" y="2832354"/>
            <a:ext cx="493776" cy="493776"/>
          </a:xfrm>
          <a:prstGeom prst="roundRect">
            <a:avLst>
              <a:gd fmla="val 5556" name="adj"/>
            </a:avLst>
          </a:prstGeom>
          <a:solidFill>
            <a:srgbClr val="EAF3F7"/>
          </a:solidFill>
          <a:ln cap="flat" cmpd="sng" w="12700">
            <a:solidFill>
              <a:srgbClr val="0E697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 name="Google Shape;76;p11"/>
          <p:cNvSpPr/>
          <p:nvPr/>
        </p:nvSpPr>
        <p:spPr>
          <a:xfrm>
            <a:off x="2146554" y="2900934"/>
            <a:ext cx="233172"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1800"/>
              <a:buFont typeface="Play"/>
              <a:buNone/>
            </a:pPr>
            <a:r>
              <a:rPr b="1" i="0" lang="en" sz="1800" u="none" cap="none" strike="noStrike">
                <a:solidFill>
                  <a:srgbClr val="102A43"/>
                </a:solidFill>
                <a:latin typeface="Play"/>
                <a:ea typeface="Play"/>
                <a:cs typeface="Play"/>
                <a:sym typeface="Play"/>
              </a:rPr>
              <a:t>7</a:t>
            </a:r>
            <a:endParaRPr b="0" i="0" sz="1800" u="none" cap="none" strike="noStrike">
              <a:solidFill>
                <a:schemeClr val="dk1"/>
              </a:solidFill>
              <a:latin typeface="Arial"/>
              <a:ea typeface="Arial"/>
              <a:cs typeface="Arial"/>
              <a:sym typeface="Arial"/>
            </a:endParaRPr>
          </a:p>
        </p:txBody>
      </p:sp>
      <p:sp>
        <p:nvSpPr>
          <p:cNvPr id="77" name="Google Shape;77;p11"/>
          <p:cNvSpPr/>
          <p:nvPr/>
        </p:nvSpPr>
        <p:spPr>
          <a:xfrm>
            <a:off x="699516" y="3415284"/>
            <a:ext cx="209169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3"/>
              </a:buClr>
              <a:buSzPts val="800"/>
              <a:buFont typeface="Arial"/>
              <a:buNone/>
            </a:pPr>
            <a:r>
              <a:rPr b="0" i="0" lang="en" sz="800" u="none" cap="none" strike="noStrike">
                <a:solidFill>
                  <a:srgbClr val="5C6B73"/>
                </a:solidFill>
                <a:latin typeface="Arial"/>
                <a:ea typeface="Arial"/>
                <a:cs typeface="Arial"/>
                <a:sym typeface="Arial"/>
              </a:rPr>
              <a:t>A basic system could treat each location as a different problem.</a:t>
            </a:r>
            <a:endParaRPr b="0" i="0" sz="800" u="none" cap="none" strike="noStrike">
              <a:solidFill>
                <a:schemeClr val="dk1"/>
              </a:solidFill>
              <a:latin typeface="Arial"/>
              <a:ea typeface="Arial"/>
              <a:cs typeface="Arial"/>
              <a:sym typeface="Arial"/>
            </a:endParaRPr>
          </a:p>
        </p:txBody>
      </p:sp>
      <p:sp>
        <p:nvSpPr>
          <p:cNvPr id="78" name="Google Shape;78;p11"/>
          <p:cNvSpPr/>
          <p:nvPr/>
        </p:nvSpPr>
        <p:spPr>
          <a:xfrm>
            <a:off x="3490722" y="1961388"/>
            <a:ext cx="144018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A64B"/>
              </a:buClr>
              <a:buSzPts val="900"/>
              <a:buFont typeface="Arial"/>
              <a:buNone/>
            </a:pPr>
            <a:r>
              <a:rPr b="1" i="0" lang="en" sz="900" u="none" cap="none" strike="noStrike">
                <a:solidFill>
                  <a:srgbClr val="6FA64B"/>
                </a:solidFill>
                <a:latin typeface="Arial"/>
                <a:ea typeface="Arial"/>
                <a:cs typeface="Arial"/>
                <a:sym typeface="Arial"/>
              </a:rPr>
              <a:t>2  THE IDEA</a:t>
            </a:r>
            <a:endParaRPr b="0" i="0" sz="900" u="none" cap="none" strike="noStrike">
              <a:solidFill>
                <a:schemeClr val="dk1"/>
              </a:solidFill>
              <a:latin typeface="Arial"/>
              <a:ea typeface="Arial"/>
              <a:cs typeface="Arial"/>
              <a:sym typeface="Arial"/>
            </a:endParaRPr>
          </a:p>
        </p:txBody>
      </p:sp>
      <p:sp>
        <p:nvSpPr>
          <p:cNvPr id="79" name="Google Shape;79;p11"/>
          <p:cNvSpPr/>
          <p:nvPr/>
        </p:nvSpPr>
        <p:spPr>
          <a:xfrm>
            <a:off x="3490722" y="2194560"/>
            <a:ext cx="2057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200"/>
              <a:buFont typeface="Arial"/>
              <a:buNone/>
            </a:pPr>
            <a:r>
              <a:rPr b="1" i="0" lang="en" sz="1200" u="none" cap="none" strike="noStrike">
                <a:solidFill>
                  <a:srgbClr val="102A43"/>
                </a:solidFill>
                <a:latin typeface="Arial"/>
                <a:ea typeface="Arial"/>
                <a:cs typeface="Arial"/>
                <a:sym typeface="Arial"/>
              </a:rPr>
              <a:t>Reuse the same small pattern detector.</a:t>
            </a:r>
            <a:endParaRPr b="0" i="0" sz="1200" u="none" cap="none" strike="noStrike">
              <a:solidFill>
                <a:schemeClr val="dk1"/>
              </a:solidFill>
              <a:latin typeface="Arial"/>
              <a:ea typeface="Arial"/>
              <a:cs typeface="Arial"/>
              <a:sym typeface="Arial"/>
            </a:endParaRPr>
          </a:p>
        </p:txBody>
      </p:sp>
      <p:sp>
        <p:nvSpPr>
          <p:cNvPr id="80" name="Google Shape;80;p11"/>
          <p:cNvSpPr/>
          <p:nvPr/>
        </p:nvSpPr>
        <p:spPr>
          <a:xfrm>
            <a:off x="3586734" y="2660904"/>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 name="Google Shape;81;p11"/>
          <p:cNvSpPr/>
          <p:nvPr/>
        </p:nvSpPr>
        <p:spPr>
          <a:xfrm>
            <a:off x="3737610" y="2660904"/>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1"/>
          <p:cNvSpPr/>
          <p:nvPr/>
        </p:nvSpPr>
        <p:spPr>
          <a:xfrm>
            <a:off x="3888486" y="2660904"/>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1"/>
          <p:cNvSpPr/>
          <p:nvPr/>
        </p:nvSpPr>
        <p:spPr>
          <a:xfrm>
            <a:off x="4039362" y="2660904"/>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1"/>
          <p:cNvSpPr/>
          <p:nvPr/>
        </p:nvSpPr>
        <p:spPr>
          <a:xfrm>
            <a:off x="4190238" y="2660904"/>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1"/>
          <p:cNvSpPr/>
          <p:nvPr/>
        </p:nvSpPr>
        <p:spPr>
          <a:xfrm>
            <a:off x="4341114" y="2660904"/>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6" name="Google Shape;86;p11"/>
          <p:cNvSpPr/>
          <p:nvPr/>
        </p:nvSpPr>
        <p:spPr>
          <a:xfrm>
            <a:off x="3586734" y="2811780"/>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7" name="Google Shape;87;p11"/>
          <p:cNvSpPr/>
          <p:nvPr/>
        </p:nvSpPr>
        <p:spPr>
          <a:xfrm>
            <a:off x="3737610" y="2811780"/>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 name="Google Shape;88;p11"/>
          <p:cNvSpPr/>
          <p:nvPr/>
        </p:nvSpPr>
        <p:spPr>
          <a:xfrm>
            <a:off x="3888486" y="2811780"/>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1"/>
          <p:cNvSpPr/>
          <p:nvPr/>
        </p:nvSpPr>
        <p:spPr>
          <a:xfrm>
            <a:off x="4039362" y="2811780"/>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p11"/>
          <p:cNvSpPr/>
          <p:nvPr/>
        </p:nvSpPr>
        <p:spPr>
          <a:xfrm>
            <a:off x="4190238" y="2811780"/>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1"/>
          <p:cNvSpPr/>
          <p:nvPr/>
        </p:nvSpPr>
        <p:spPr>
          <a:xfrm>
            <a:off x="4341114" y="2811780"/>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 name="Google Shape;92;p11"/>
          <p:cNvSpPr/>
          <p:nvPr/>
        </p:nvSpPr>
        <p:spPr>
          <a:xfrm>
            <a:off x="3586734" y="2962656"/>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p11"/>
          <p:cNvSpPr/>
          <p:nvPr/>
        </p:nvSpPr>
        <p:spPr>
          <a:xfrm>
            <a:off x="3737610" y="2962656"/>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11"/>
          <p:cNvSpPr/>
          <p:nvPr/>
        </p:nvSpPr>
        <p:spPr>
          <a:xfrm>
            <a:off x="3888486" y="2962656"/>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1"/>
          <p:cNvSpPr/>
          <p:nvPr/>
        </p:nvSpPr>
        <p:spPr>
          <a:xfrm>
            <a:off x="4039362" y="2962656"/>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11"/>
          <p:cNvSpPr/>
          <p:nvPr/>
        </p:nvSpPr>
        <p:spPr>
          <a:xfrm>
            <a:off x="4190238" y="2962656"/>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7" name="Google Shape;97;p11"/>
          <p:cNvSpPr/>
          <p:nvPr/>
        </p:nvSpPr>
        <p:spPr>
          <a:xfrm>
            <a:off x="4341114" y="2962656"/>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8" name="Google Shape;98;p11"/>
          <p:cNvSpPr/>
          <p:nvPr/>
        </p:nvSpPr>
        <p:spPr>
          <a:xfrm>
            <a:off x="3586734" y="3113532"/>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1"/>
          <p:cNvSpPr/>
          <p:nvPr/>
        </p:nvSpPr>
        <p:spPr>
          <a:xfrm>
            <a:off x="3737610" y="3113532"/>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 name="Google Shape;100;p11"/>
          <p:cNvSpPr/>
          <p:nvPr/>
        </p:nvSpPr>
        <p:spPr>
          <a:xfrm>
            <a:off x="3888486" y="3113532"/>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1" name="Google Shape;101;p11"/>
          <p:cNvSpPr/>
          <p:nvPr/>
        </p:nvSpPr>
        <p:spPr>
          <a:xfrm>
            <a:off x="4039362" y="3113532"/>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11"/>
          <p:cNvSpPr/>
          <p:nvPr/>
        </p:nvSpPr>
        <p:spPr>
          <a:xfrm>
            <a:off x="4190238" y="3113532"/>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 name="Google Shape;103;p11"/>
          <p:cNvSpPr/>
          <p:nvPr/>
        </p:nvSpPr>
        <p:spPr>
          <a:xfrm>
            <a:off x="4341114" y="3113532"/>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11"/>
          <p:cNvSpPr/>
          <p:nvPr/>
        </p:nvSpPr>
        <p:spPr>
          <a:xfrm>
            <a:off x="4190238" y="2811780"/>
            <a:ext cx="452628" cy="452628"/>
          </a:xfrm>
          <a:prstGeom prst="rect">
            <a:avLst/>
          </a:prstGeom>
          <a:solidFill>
            <a:srgbClr val="FFFFFF">
              <a:alpha val="0"/>
            </a:srgbClr>
          </a:solidFill>
          <a:ln cap="flat" cmpd="sng" w="22850">
            <a:solidFill>
              <a:srgbClr val="6FA64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105" name="Google Shape;105;p11"/>
          <p:cNvCxnSpPr/>
          <p:nvPr/>
        </p:nvCxnSpPr>
        <p:spPr>
          <a:xfrm>
            <a:off x="4745736" y="2955798"/>
            <a:ext cx="363474" cy="0"/>
          </a:xfrm>
          <a:prstGeom prst="straightConnector1">
            <a:avLst/>
          </a:prstGeom>
          <a:noFill/>
          <a:ln cap="flat" cmpd="sng" w="13950">
            <a:solidFill>
              <a:srgbClr val="5C6B73"/>
            </a:solidFill>
            <a:prstDash val="solid"/>
            <a:round/>
            <a:headEnd len="sm" w="sm" type="none"/>
            <a:tailEnd len="med" w="med" type="triangle"/>
          </a:ln>
        </p:spPr>
      </p:cxnSp>
      <p:sp>
        <p:nvSpPr>
          <p:cNvPr id="106" name="Google Shape;106;p11"/>
          <p:cNvSpPr/>
          <p:nvPr/>
        </p:nvSpPr>
        <p:spPr>
          <a:xfrm>
            <a:off x="5177790" y="2729484"/>
            <a:ext cx="432054" cy="432054"/>
          </a:xfrm>
          <a:prstGeom prst="roundRect">
            <a:avLst>
              <a:gd fmla="val 6349" name="adj"/>
            </a:avLst>
          </a:prstGeom>
          <a:solidFill>
            <a:srgbClr val="EEF6E8"/>
          </a:solidFill>
          <a:ln cap="flat" cmpd="sng" w="12700">
            <a:solidFill>
              <a:srgbClr val="6FA64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11"/>
          <p:cNvSpPr/>
          <p:nvPr/>
        </p:nvSpPr>
        <p:spPr>
          <a:xfrm>
            <a:off x="5225796" y="2825496"/>
            <a:ext cx="336042"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600"/>
              <a:buFont typeface="Arial"/>
              <a:buNone/>
            </a:pPr>
            <a:r>
              <a:rPr b="1" i="0" lang="en" sz="600" u="none" cap="none" strike="noStrike">
                <a:solidFill>
                  <a:srgbClr val="6FA64B"/>
                </a:solidFill>
                <a:latin typeface="Arial"/>
                <a:ea typeface="Arial"/>
                <a:cs typeface="Arial"/>
                <a:sym typeface="Arial"/>
              </a:rPr>
              <a:t>same</a:t>
            </a:r>
            <a:endParaRPr b="0" i="0" sz="6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6FA64B"/>
              </a:buClr>
              <a:buSzPts val="600"/>
              <a:buFont typeface="Arial"/>
              <a:buNone/>
            </a:pPr>
            <a:r>
              <a:rPr b="1" i="0" lang="en" sz="600" u="none" cap="none" strike="noStrike">
                <a:solidFill>
                  <a:srgbClr val="6FA64B"/>
                </a:solidFill>
                <a:latin typeface="Arial"/>
                <a:ea typeface="Arial"/>
                <a:cs typeface="Arial"/>
                <a:sym typeface="Arial"/>
              </a:rPr>
              <a:t>filter</a:t>
            </a:r>
            <a:endParaRPr b="0" i="0" sz="600" u="none" cap="none" strike="noStrike">
              <a:solidFill>
                <a:schemeClr val="dk1"/>
              </a:solidFill>
              <a:latin typeface="Arial"/>
              <a:ea typeface="Arial"/>
              <a:cs typeface="Arial"/>
              <a:sym typeface="Arial"/>
            </a:endParaRPr>
          </a:p>
        </p:txBody>
      </p:sp>
      <p:sp>
        <p:nvSpPr>
          <p:cNvPr id="108" name="Google Shape;108;p11"/>
          <p:cNvSpPr/>
          <p:nvPr/>
        </p:nvSpPr>
        <p:spPr>
          <a:xfrm>
            <a:off x="3490722" y="3415284"/>
            <a:ext cx="209169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3"/>
              </a:buClr>
              <a:buSzPts val="800"/>
              <a:buFont typeface="Arial"/>
              <a:buNone/>
            </a:pPr>
            <a:r>
              <a:rPr b="0" i="0" lang="en" sz="800" u="none" cap="none" strike="noStrike">
                <a:solidFill>
                  <a:srgbClr val="5C6B73"/>
                </a:solidFill>
                <a:latin typeface="Arial"/>
                <a:ea typeface="Arial"/>
                <a:cs typeface="Arial"/>
                <a:sym typeface="Arial"/>
              </a:rPr>
              <a:t>1980 • Kunihiko Fukushima’s Neocognitron showed how layered visual detectors could recognize patterns even when their position changed.</a:t>
            </a:r>
            <a:endParaRPr b="0" i="0" sz="800" u="none" cap="none" strike="noStrike">
              <a:solidFill>
                <a:schemeClr val="dk1"/>
              </a:solidFill>
              <a:latin typeface="Arial"/>
              <a:ea typeface="Arial"/>
              <a:cs typeface="Arial"/>
              <a:sym typeface="Arial"/>
            </a:endParaRPr>
          </a:p>
        </p:txBody>
      </p:sp>
      <p:sp>
        <p:nvSpPr>
          <p:cNvPr id="109" name="Google Shape;109;p11"/>
          <p:cNvSpPr/>
          <p:nvPr/>
        </p:nvSpPr>
        <p:spPr>
          <a:xfrm>
            <a:off x="6281928" y="1961388"/>
            <a:ext cx="192024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72C"/>
              </a:buClr>
              <a:buSzPts val="900"/>
              <a:buFont typeface="Arial"/>
              <a:buNone/>
            </a:pPr>
            <a:r>
              <a:rPr b="1" i="0" lang="en" sz="900" u="none" cap="none" strike="noStrike">
                <a:solidFill>
                  <a:srgbClr val="D4A72C"/>
                </a:solidFill>
                <a:latin typeface="Arial"/>
                <a:ea typeface="Arial"/>
                <a:cs typeface="Arial"/>
                <a:sym typeface="Arial"/>
              </a:rPr>
              <a:t>3  THE REAL-WORLD TEST</a:t>
            </a:r>
            <a:endParaRPr b="0" i="0" sz="900" u="none" cap="none" strike="noStrike">
              <a:solidFill>
                <a:schemeClr val="dk1"/>
              </a:solidFill>
              <a:latin typeface="Arial"/>
              <a:ea typeface="Arial"/>
              <a:cs typeface="Arial"/>
              <a:sym typeface="Arial"/>
            </a:endParaRPr>
          </a:p>
        </p:txBody>
      </p:sp>
      <p:sp>
        <p:nvSpPr>
          <p:cNvPr id="110" name="Google Shape;110;p11"/>
          <p:cNvSpPr/>
          <p:nvPr/>
        </p:nvSpPr>
        <p:spPr>
          <a:xfrm>
            <a:off x="6281928" y="2194560"/>
            <a:ext cx="2057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200"/>
              <a:buFont typeface="Arial"/>
              <a:buNone/>
            </a:pPr>
            <a:r>
              <a:rPr b="1" i="0" lang="en" sz="1200" u="none" cap="none" strike="noStrike">
                <a:solidFill>
                  <a:srgbClr val="102A43"/>
                </a:solidFill>
                <a:latin typeface="Arial"/>
                <a:ea typeface="Arial"/>
                <a:cs typeface="Arial"/>
                <a:sym typeface="Arial"/>
              </a:rPr>
              <a:t>Could it read messy human handwriting?</a:t>
            </a:r>
            <a:endParaRPr b="0" i="0" sz="1200" u="none" cap="none" strike="noStrike">
              <a:solidFill>
                <a:schemeClr val="dk1"/>
              </a:solidFill>
              <a:latin typeface="Arial"/>
              <a:ea typeface="Arial"/>
              <a:cs typeface="Arial"/>
              <a:sym typeface="Arial"/>
            </a:endParaRPr>
          </a:p>
        </p:txBody>
      </p:sp>
      <p:sp>
        <p:nvSpPr>
          <p:cNvPr id="111" name="Google Shape;111;p11"/>
          <p:cNvSpPr/>
          <p:nvPr/>
        </p:nvSpPr>
        <p:spPr>
          <a:xfrm>
            <a:off x="6432804" y="2660904"/>
            <a:ext cx="1933956" cy="740664"/>
          </a:xfrm>
          <a:prstGeom prst="roundRect">
            <a:avLst>
              <a:gd fmla="val 3704" name="adj"/>
            </a:avLst>
          </a:prstGeom>
          <a:solidFill>
            <a:srgbClr val="FFF9E8"/>
          </a:solidFill>
          <a:ln cap="flat" cmpd="sng" w="12700">
            <a:solidFill>
              <a:srgbClr val="E8D49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1"/>
          <p:cNvSpPr/>
          <p:nvPr/>
        </p:nvSpPr>
        <p:spPr>
          <a:xfrm>
            <a:off x="6569964" y="2777490"/>
            <a:ext cx="37719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72C"/>
              </a:buClr>
              <a:buSzPts val="700"/>
              <a:buFont typeface="Arial"/>
              <a:buNone/>
            </a:pPr>
            <a:r>
              <a:rPr b="1" i="0" lang="en" sz="700" u="none" cap="none" strike="noStrike">
                <a:solidFill>
                  <a:srgbClr val="D4A72C"/>
                </a:solidFill>
                <a:latin typeface="Arial"/>
                <a:ea typeface="Arial"/>
                <a:cs typeface="Arial"/>
                <a:sym typeface="Arial"/>
              </a:rPr>
              <a:t>MAIL</a:t>
            </a:r>
            <a:endParaRPr b="0" i="0" sz="700" u="none" cap="none" strike="noStrike">
              <a:solidFill>
                <a:schemeClr val="dk1"/>
              </a:solidFill>
              <a:latin typeface="Arial"/>
              <a:ea typeface="Arial"/>
              <a:cs typeface="Arial"/>
              <a:sym typeface="Arial"/>
            </a:endParaRPr>
          </a:p>
        </p:txBody>
      </p:sp>
      <p:cxnSp>
        <p:nvCxnSpPr>
          <p:cNvPr id="113" name="Google Shape;113;p11"/>
          <p:cNvCxnSpPr/>
          <p:nvPr/>
        </p:nvCxnSpPr>
        <p:spPr>
          <a:xfrm>
            <a:off x="6556248" y="2990088"/>
            <a:ext cx="795528" cy="0"/>
          </a:xfrm>
          <a:prstGeom prst="straightConnector1">
            <a:avLst/>
          </a:prstGeom>
          <a:noFill/>
          <a:ln cap="flat" cmpd="sng" w="12700">
            <a:solidFill>
              <a:srgbClr val="C7B477"/>
            </a:solidFill>
            <a:prstDash val="solid"/>
            <a:round/>
            <a:headEnd len="sm" w="sm" type="none"/>
            <a:tailEnd len="sm" w="sm" type="none"/>
          </a:ln>
        </p:spPr>
      </p:cxnSp>
      <p:cxnSp>
        <p:nvCxnSpPr>
          <p:cNvPr id="114" name="Google Shape;114;p11"/>
          <p:cNvCxnSpPr/>
          <p:nvPr/>
        </p:nvCxnSpPr>
        <p:spPr>
          <a:xfrm>
            <a:off x="6556248" y="3113532"/>
            <a:ext cx="795528" cy="0"/>
          </a:xfrm>
          <a:prstGeom prst="straightConnector1">
            <a:avLst/>
          </a:prstGeom>
          <a:noFill/>
          <a:ln cap="flat" cmpd="sng" w="12700">
            <a:solidFill>
              <a:srgbClr val="C7B477"/>
            </a:solidFill>
            <a:prstDash val="solid"/>
            <a:round/>
            <a:headEnd len="sm" w="sm" type="none"/>
            <a:tailEnd len="sm" w="sm" type="none"/>
          </a:ln>
        </p:spPr>
      </p:cxnSp>
      <p:sp>
        <p:nvSpPr>
          <p:cNvPr id="115" name="Google Shape;115;p11"/>
          <p:cNvSpPr/>
          <p:nvPr/>
        </p:nvSpPr>
        <p:spPr>
          <a:xfrm>
            <a:off x="7420356" y="2866644"/>
            <a:ext cx="699516"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1400"/>
              <a:buFont typeface="Play"/>
              <a:buNone/>
            </a:pPr>
            <a:r>
              <a:rPr b="1" i="0" lang="en" sz="1400" u="none" cap="none" strike="noStrike">
                <a:solidFill>
                  <a:srgbClr val="102A43"/>
                </a:solidFill>
                <a:latin typeface="Play"/>
                <a:ea typeface="Play"/>
                <a:cs typeface="Play"/>
                <a:sym typeface="Play"/>
              </a:rPr>
              <a:t>77005</a:t>
            </a:r>
            <a:endParaRPr b="0" i="0" sz="1400" u="none" cap="none" strike="noStrike">
              <a:solidFill>
                <a:schemeClr val="dk1"/>
              </a:solidFill>
              <a:latin typeface="Arial"/>
              <a:ea typeface="Arial"/>
              <a:cs typeface="Arial"/>
              <a:sym typeface="Arial"/>
            </a:endParaRPr>
          </a:p>
        </p:txBody>
      </p:sp>
      <p:sp>
        <p:nvSpPr>
          <p:cNvPr id="116" name="Google Shape;116;p11"/>
          <p:cNvSpPr/>
          <p:nvPr/>
        </p:nvSpPr>
        <p:spPr>
          <a:xfrm>
            <a:off x="6281928" y="3483864"/>
            <a:ext cx="209169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3"/>
              </a:buClr>
              <a:buSzPts val="800"/>
              <a:buFont typeface="Arial"/>
              <a:buNone/>
            </a:pPr>
            <a:r>
              <a:rPr b="0" i="0" lang="en" sz="800" u="none" cap="none" strike="noStrike">
                <a:solidFill>
                  <a:srgbClr val="5C6B73"/>
                </a:solidFill>
                <a:latin typeface="Arial"/>
                <a:ea typeface="Arial"/>
                <a:cs typeface="Arial"/>
                <a:sym typeface="Arial"/>
              </a:rPr>
              <a:t>Late 1980s • Yann LeCun and colleagues used trainable convolution-style networks for handwritten ZIP-code recognition.</a:t>
            </a:r>
            <a:endParaRPr b="0" i="0" sz="800" u="none" cap="none" strike="noStrike">
              <a:solidFill>
                <a:schemeClr val="dk1"/>
              </a:solidFill>
              <a:latin typeface="Arial"/>
              <a:ea typeface="Arial"/>
              <a:cs typeface="Arial"/>
              <a:sym typeface="Arial"/>
            </a:endParaRPr>
          </a:p>
        </p:txBody>
      </p:sp>
      <p:sp>
        <p:nvSpPr>
          <p:cNvPr id="117" name="Google Shape;117;p11"/>
          <p:cNvSpPr/>
          <p:nvPr/>
        </p:nvSpPr>
        <p:spPr>
          <a:xfrm>
            <a:off x="658368" y="4306824"/>
            <a:ext cx="7776972" cy="356616"/>
          </a:xfrm>
          <a:prstGeom prst="roundRect">
            <a:avLst>
              <a:gd fmla="val 7692" name="adj"/>
            </a:avLst>
          </a:prstGeom>
          <a:solidFill>
            <a:srgbClr val="F3F7F9"/>
          </a:solidFill>
          <a:ln cap="flat" cmpd="sng" w="12700">
            <a:solidFill>
              <a:srgbClr val="D6E2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1"/>
          <p:cNvSpPr/>
          <p:nvPr/>
        </p:nvSpPr>
        <p:spPr>
          <a:xfrm>
            <a:off x="802386" y="4402836"/>
            <a:ext cx="517779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800"/>
              <a:buFont typeface="Arial"/>
              <a:buNone/>
            </a:pPr>
            <a:r>
              <a:rPr b="1" i="0" lang="en" sz="800" u="none" cap="none" strike="noStrike">
                <a:solidFill>
                  <a:srgbClr val="0E6973"/>
                </a:solidFill>
                <a:latin typeface="Arial"/>
                <a:ea typeface="Arial"/>
                <a:cs typeface="Arial"/>
                <a:sym typeface="Arial"/>
              </a:rPr>
              <a:t>So CNNs grew from a simple idea: recognize a useful pattern once, then look for it anywhere.</a:t>
            </a:r>
            <a:endParaRPr b="0" i="0" sz="800" u="none" cap="none" strike="noStrike">
              <a:solidFill>
                <a:schemeClr val="dk1"/>
              </a:solidFill>
              <a:latin typeface="Arial"/>
              <a:ea typeface="Arial"/>
              <a:cs typeface="Arial"/>
              <a:sym typeface="Arial"/>
            </a:endParaRPr>
          </a:p>
        </p:txBody>
      </p:sp>
      <p:sp>
        <p:nvSpPr>
          <p:cNvPr id="119" name="Google Shape;119;p11"/>
          <p:cNvSpPr/>
          <p:nvPr/>
        </p:nvSpPr>
        <p:spPr>
          <a:xfrm>
            <a:off x="5980176" y="4389120"/>
            <a:ext cx="2276856" cy="1371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02A43"/>
              </a:buClr>
              <a:buSzPts val="800"/>
              <a:buFont typeface="Arial"/>
              <a:buNone/>
            </a:pPr>
            <a:r>
              <a:rPr b="1" i="0" lang="en" sz="800" u="none" cap="none" strike="noStrike">
                <a:solidFill>
                  <a:srgbClr val="102A43"/>
                </a:solidFill>
                <a:latin typeface="Arial"/>
                <a:ea typeface="Arial"/>
                <a:cs typeface="Arial"/>
                <a:sym typeface="Arial"/>
              </a:rPr>
              <a:t>But what is the basic unit doing the learning? → the artificial neuron</a:t>
            </a:r>
            <a:endParaRPr b="0" i="0" sz="800" u="none" cap="none" strike="noStrike">
              <a:solidFill>
                <a:schemeClr val="dk1"/>
              </a:solidFill>
              <a:latin typeface="Arial"/>
              <a:ea typeface="Arial"/>
              <a:cs typeface="Arial"/>
              <a:sym typeface="Arial"/>
            </a:endParaRPr>
          </a:p>
        </p:txBody>
      </p:sp>
      <p:sp>
        <p:nvSpPr>
          <p:cNvPr id="120" name="Google Shape;120;p11"/>
          <p:cNvSpPr/>
          <p:nvPr/>
        </p:nvSpPr>
        <p:spPr>
          <a:xfrm>
            <a:off x="452628" y="4821174"/>
            <a:ext cx="774954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790"/>
              </a:buClr>
              <a:buSzPts val="600"/>
              <a:buFont typeface="Arial"/>
              <a:buNone/>
            </a:pPr>
            <a:r>
              <a:rPr b="0" i="0" lang="en" sz="600" u="none" cap="none" strike="noStrike">
                <a:solidFill>
                  <a:srgbClr val="7A8790"/>
                </a:solidFill>
                <a:latin typeface="Arial"/>
                <a:ea typeface="Arial"/>
                <a:cs typeface="Arial"/>
                <a:sym typeface="Arial"/>
              </a:rPr>
              <a:t>Landmarks: Fukushima’s Neocognitron (1980) • LeCun et al., handwritten ZIP-code recognition (late 1980s)</a:t>
            </a:r>
            <a:endParaRPr b="0" i="0" sz="600" u="none" cap="none" strike="noStrike">
              <a:solidFill>
                <a:schemeClr val="dk1"/>
              </a:solidFill>
              <a:latin typeface="Arial"/>
              <a:ea typeface="Arial"/>
              <a:cs typeface="Arial"/>
              <a:sym typeface="Arial"/>
            </a:endParaRPr>
          </a:p>
        </p:txBody>
      </p:sp>
      <p:sp>
        <p:nvSpPr>
          <p:cNvPr id="121" name="Google Shape;121;p11"/>
          <p:cNvSpPr txBox="1"/>
          <p:nvPr>
            <p:ph idx="4294967295" type="sldNum"/>
          </p:nvPr>
        </p:nvSpPr>
        <p:spPr>
          <a:xfrm>
            <a:off x="8606790" y="4841748"/>
            <a:ext cx="274320" cy="123444"/>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700" u="none" cap="none" strike="noStrike">
                <a:solidFill>
                  <a:srgbClr val="5C6B73"/>
                </a:solidFill>
                <a:latin typeface="Arial"/>
                <a:ea typeface="Arial"/>
                <a:cs typeface="Arial"/>
                <a:sym typeface="Arial"/>
              </a:rPr>
              <a:t>‹#›</a:t>
            </a:fld>
            <a:endParaRPr b="0" i="0" sz="700" u="none" cap="none" strike="noStrike">
              <a:solidFill>
                <a:srgbClr val="5C6B7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2"/>
          <p:cNvSpPr/>
          <p:nvPr/>
        </p:nvSpPr>
        <p:spPr>
          <a:xfrm>
            <a:off x="445770" y="219456"/>
            <a:ext cx="30861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800"/>
              <a:buFont typeface="Arial"/>
              <a:buNone/>
            </a:pPr>
            <a:r>
              <a:rPr b="1" lang="en" sz="800">
                <a:solidFill>
                  <a:srgbClr val="0E6973"/>
                </a:solidFill>
              </a:rPr>
              <a:t>James Delgado</a:t>
            </a:r>
            <a:r>
              <a:rPr b="1" lang="en" sz="800">
                <a:solidFill>
                  <a:srgbClr val="0E6973"/>
                </a:solidFill>
                <a:latin typeface="Arial"/>
                <a:ea typeface="Arial"/>
                <a:cs typeface="Arial"/>
                <a:sym typeface="Arial"/>
              </a:rPr>
              <a:t>  • NEURAL NETWORK BASICS</a:t>
            </a:r>
            <a:endParaRPr sz="800">
              <a:solidFill>
                <a:schemeClr val="dk1"/>
              </a:solidFill>
              <a:latin typeface="Arial"/>
              <a:ea typeface="Arial"/>
              <a:cs typeface="Arial"/>
              <a:sym typeface="Arial"/>
            </a:endParaRPr>
          </a:p>
        </p:txBody>
      </p:sp>
      <p:sp>
        <p:nvSpPr>
          <p:cNvPr id="128" name="Google Shape;128;p12"/>
          <p:cNvSpPr/>
          <p:nvPr/>
        </p:nvSpPr>
        <p:spPr>
          <a:xfrm>
            <a:off x="445770" y="466344"/>
            <a:ext cx="8092440" cy="397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2100"/>
              <a:buFont typeface="Play"/>
              <a:buNone/>
            </a:pPr>
            <a:r>
              <a:rPr b="1" lang="en" sz="2100">
                <a:solidFill>
                  <a:srgbClr val="102A43"/>
                </a:solidFill>
                <a:latin typeface="Play"/>
                <a:ea typeface="Play"/>
                <a:cs typeface="Play"/>
                <a:sym typeface="Play"/>
              </a:rPr>
              <a:t>From a biological neuron to an artificial neuron</a:t>
            </a:r>
            <a:endParaRPr sz="2100">
              <a:solidFill>
                <a:schemeClr val="dk1"/>
              </a:solidFill>
              <a:latin typeface="Arial"/>
              <a:ea typeface="Arial"/>
              <a:cs typeface="Arial"/>
              <a:sym typeface="Arial"/>
            </a:endParaRPr>
          </a:p>
        </p:txBody>
      </p:sp>
      <p:sp>
        <p:nvSpPr>
          <p:cNvPr id="129" name="Google Shape;129;p12"/>
          <p:cNvSpPr/>
          <p:nvPr/>
        </p:nvSpPr>
        <p:spPr>
          <a:xfrm>
            <a:off x="466344" y="973836"/>
            <a:ext cx="3963924" cy="2825496"/>
          </a:xfrm>
          <a:prstGeom prst="roundRect">
            <a:avLst>
              <a:gd fmla="val 1942" name="adj"/>
            </a:avLst>
          </a:prstGeom>
          <a:solidFill>
            <a:srgbClr val="FFFFFF"/>
          </a:solidFill>
          <a:ln cap="flat" cmpd="sng" w="12700">
            <a:solidFill>
              <a:srgbClr val="D6E2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30" name="Google Shape;130;p12"/>
          <p:cNvSpPr/>
          <p:nvPr/>
        </p:nvSpPr>
        <p:spPr>
          <a:xfrm>
            <a:off x="4704588" y="973836"/>
            <a:ext cx="3963924" cy="2825496"/>
          </a:xfrm>
          <a:prstGeom prst="roundRect">
            <a:avLst>
              <a:gd fmla="val 1942" name="adj"/>
            </a:avLst>
          </a:prstGeom>
          <a:solidFill>
            <a:srgbClr val="FFFFFF"/>
          </a:solidFill>
          <a:ln cap="flat" cmpd="sng" w="12700">
            <a:solidFill>
              <a:srgbClr val="D6E2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31" name="Google Shape;131;p12"/>
          <p:cNvSpPr/>
          <p:nvPr/>
        </p:nvSpPr>
        <p:spPr>
          <a:xfrm>
            <a:off x="672084" y="1165860"/>
            <a:ext cx="18516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A64B"/>
              </a:buClr>
              <a:buSzPts val="1000"/>
              <a:buFont typeface="Arial"/>
              <a:buNone/>
            </a:pPr>
            <a:r>
              <a:rPr b="1" lang="en" sz="1000">
                <a:solidFill>
                  <a:srgbClr val="6FA64B"/>
                </a:solidFill>
                <a:latin typeface="Arial"/>
                <a:ea typeface="Arial"/>
                <a:cs typeface="Arial"/>
                <a:sym typeface="Arial"/>
              </a:rPr>
              <a:t>BIOLOGICAL NEURON</a:t>
            </a:r>
            <a:endParaRPr sz="1000">
              <a:solidFill>
                <a:schemeClr val="dk1"/>
              </a:solidFill>
              <a:latin typeface="Arial"/>
              <a:ea typeface="Arial"/>
              <a:cs typeface="Arial"/>
              <a:sym typeface="Arial"/>
            </a:endParaRPr>
          </a:p>
        </p:txBody>
      </p:sp>
      <p:sp>
        <p:nvSpPr>
          <p:cNvPr id="132" name="Google Shape;132;p12"/>
          <p:cNvSpPr/>
          <p:nvPr/>
        </p:nvSpPr>
        <p:spPr>
          <a:xfrm>
            <a:off x="4910328" y="1165860"/>
            <a:ext cx="18516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1000"/>
              <a:buFont typeface="Arial"/>
              <a:buNone/>
            </a:pPr>
            <a:r>
              <a:rPr b="1" lang="en" sz="1000">
                <a:solidFill>
                  <a:srgbClr val="0E6973"/>
                </a:solidFill>
                <a:latin typeface="Arial"/>
                <a:ea typeface="Arial"/>
                <a:cs typeface="Arial"/>
                <a:sym typeface="Arial"/>
              </a:rPr>
              <a:t>ARTIFICIAL NEURON</a:t>
            </a:r>
            <a:endParaRPr sz="1000">
              <a:solidFill>
                <a:schemeClr val="dk1"/>
              </a:solidFill>
              <a:latin typeface="Arial"/>
              <a:ea typeface="Arial"/>
              <a:cs typeface="Arial"/>
              <a:sym typeface="Arial"/>
            </a:endParaRPr>
          </a:p>
        </p:txBody>
      </p:sp>
      <p:cxnSp>
        <p:nvCxnSpPr>
          <p:cNvPr id="133" name="Google Shape;133;p12"/>
          <p:cNvCxnSpPr/>
          <p:nvPr/>
        </p:nvCxnSpPr>
        <p:spPr>
          <a:xfrm>
            <a:off x="804101" y="1623631"/>
            <a:ext cx="618934" cy="390906"/>
          </a:xfrm>
          <a:prstGeom prst="straightConnector1">
            <a:avLst/>
          </a:prstGeom>
          <a:noFill/>
          <a:ln cap="flat" cmpd="sng" w="38100">
            <a:solidFill>
              <a:srgbClr val="6FA64B"/>
            </a:solidFill>
            <a:prstDash val="solid"/>
            <a:round/>
            <a:headEnd len="sm" w="sm" type="none"/>
            <a:tailEnd len="sm" w="sm" type="none"/>
          </a:ln>
        </p:spPr>
      </p:cxnSp>
      <p:cxnSp>
        <p:nvCxnSpPr>
          <p:cNvPr id="134" name="Google Shape;134;p12"/>
          <p:cNvCxnSpPr/>
          <p:nvPr/>
        </p:nvCxnSpPr>
        <p:spPr>
          <a:xfrm>
            <a:off x="738950" y="1949387"/>
            <a:ext cx="651510" cy="162878"/>
          </a:xfrm>
          <a:prstGeom prst="straightConnector1">
            <a:avLst/>
          </a:prstGeom>
          <a:noFill/>
          <a:ln cap="flat" cmpd="sng" w="38100">
            <a:solidFill>
              <a:srgbClr val="6FA64B"/>
            </a:solidFill>
            <a:prstDash val="solid"/>
            <a:round/>
            <a:headEnd len="sm" w="sm" type="none"/>
            <a:tailEnd len="sm" w="sm" type="none"/>
          </a:ln>
        </p:spPr>
      </p:cxnSp>
      <p:cxnSp>
        <p:nvCxnSpPr>
          <p:cNvPr id="135" name="Google Shape;135;p12"/>
          <p:cNvCxnSpPr/>
          <p:nvPr/>
        </p:nvCxnSpPr>
        <p:spPr>
          <a:xfrm>
            <a:off x="823646" y="2340293"/>
            <a:ext cx="579844" cy="0"/>
          </a:xfrm>
          <a:prstGeom prst="straightConnector1">
            <a:avLst/>
          </a:prstGeom>
          <a:noFill/>
          <a:ln cap="flat" cmpd="sng" w="38100">
            <a:solidFill>
              <a:srgbClr val="6FA64B"/>
            </a:solidFill>
            <a:prstDash val="solid"/>
            <a:round/>
            <a:headEnd len="sm" w="sm" type="none"/>
            <a:tailEnd len="sm" w="sm" type="none"/>
          </a:ln>
        </p:spPr>
      </p:cxnSp>
      <p:cxnSp>
        <p:nvCxnSpPr>
          <p:cNvPr id="136" name="Google Shape;136;p12"/>
          <p:cNvCxnSpPr/>
          <p:nvPr/>
        </p:nvCxnSpPr>
        <p:spPr>
          <a:xfrm>
            <a:off x="1019099" y="2581352"/>
            <a:ext cx="469088" cy="0"/>
          </a:xfrm>
          <a:prstGeom prst="straightConnector1">
            <a:avLst/>
          </a:prstGeom>
          <a:noFill/>
          <a:ln cap="flat" cmpd="sng" w="38100">
            <a:solidFill>
              <a:srgbClr val="6FA64B"/>
            </a:solidFill>
            <a:prstDash val="solid"/>
            <a:round/>
            <a:headEnd len="sm" w="sm" type="none"/>
            <a:tailEnd len="sm" w="sm" type="none"/>
          </a:ln>
        </p:spPr>
      </p:cxnSp>
      <p:cxnSp>
        <p:nvCxnSpPr>
          <p:cNvPr id="137" name="Google Shape;137;p12"/>
          <p:cNvCxnSpPr/>
          <p:nvPr/>
        </p:nvCxnSpPr>
        <p:spPr>
          <a:xfrm>
            <a:off x="1064704" y="1493330"/>
            <a:ext cx="436512" cy="501663"/>
          </a:xfrm>
          <a:prstGeom prst="straightConnector1">
            <a:avLst/>
          </a:prstGeom>
          <a:noFill/>
          <a:ln cap="flat" cmpd="sng" w="38100">
            <a:solidFill>
              <a:srgbClr val="6FA64B"/>
            </a:solidFill>
            <a:prstDash val="solid"/>
            <a:round/>
            <a:headEnd len="sm" w="sm" type="none"/>
            <a:tailEnd len="sm" w="sm" type="none"/>
          </a:ln>
        </p:spPr>
      </p:cxnSp>
      <p:sp>
        <p:nvSpPr>
          <p:cNvPr id="138" name="Google Shape;138;p12"/>
          <p:cNvSpPr/>
          <p:nvPr/>
        </p:nvSpPr>
        <p:spPr>
          <a:xfrm>
            <a:off x="1455611" y="2112264"/>
            <a:ext cx="469088" cy="469088"/>
          </a:xfrm>
          <a:prstGeom prst="ellipse">
            <a:avLst/>
          </a:prstGeom>
          <a:solidFill>
            <a:srgbClr val="EEF6E8"/>
          </a:solidFill>
          <a:ln cap="flat" cmpd="sng" w="27925">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39" name="Google Shape;139;p12"/>
          <p:cNvSpPr/>
          <p:nvPr/>
        </p:nvSpPr>
        <p:spPr>
          <a:xfrm>
            <a:off x="1611973" y="2255596"/>
            <a:ext cx="143333" cy="143333"/>
          </a:xfrm>
          <a:prstGeom prst="ellipse">
            <a:avLst/>
          </a:prstGeom>
          <a:solidFill>
            <a:srgbClr val="6FA64B"/>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cxnSp>
        <p:nvCxnSpPr>
          <p:cNvPr id="140" name="Google Shape;140;p12"/>
          <p:cNvCxnSpPr/>
          <p:nvPr/>
        </p:nvCxnSpPr>
        <p:spPr>
          <a:xfrm>
            <a:off x="1911668" y="2346808"/>
            <a:ext cx="1009840" cy="0"/>
          </a:xfrm>
          <a:prstGeom prst="straightConnector1">
            <a:avLst/>
          </a:prstGeom>
          <a:noFill/>
          <a:ln cap="flat" cmpd="sng" w="50800">
            <a:solidFill>
              <a:srgbClr val="6FA64B"/>
            </a:solidFill>
            <a:prstDash val="solid"/>
            <a:round/>
            <a:headEnd len="sm" w="sm" type="none"/>
            <a:tailEnd len="sm" w="sm" type="none"/>
          </a:ln>
        </p:spPr>
      </p:cxnSp>
      <p:cxnSp>
        <p:nvCxnSpPr>
          <p:cNvPr id="141" name="Google Shape;141;p12"/>
          <p:cNvCxnSpPr/>
          <p:nvPr/>
        </p:nvCxnSpPr>
        <p:spPr>
          <a:xfrm>
            <a:off x="2465451" y="2346808"/>
            <a:ext cx="130302" cy="0"/>
          </a:xfrm>
          <a:prstGeom prst="straightConnector1">
            <a:avLst/>
          </a:prstGeom>
          <a:noFill/>
          <a:ln cap="flat" cmpd="sng" w="31750">
            <a:solidFill>
              <a:srgbClr val="6FA64B"/>
            </a:solidFill>
            <a:prstDash val="solid"/>
            <a:round/>
            <a:headEnd len="sm" w="sm" type="none"/>
            <a:tailEnd len="sm" w="sm" type="none"/>
          </a:ln>
        </p:spPr>
      </p:cxnSp>
      <p:sp>
        <p:nvSpPr>
          <p:cNvPr id="142" name="Google Shape;142;p12"/>
          <p:cNvSpPr/>
          <p:nvPr/>
        </p:nvSpPr>
        <p:spPr>
          <a:xfrm>
            <a:off x="2569693" y="1988477"/>
            <a:ext cx="52121" cy="52121"/>
          </a:xfrm>
          <a:prstGeom prst="ellipse">
            <a:avLst/>
          </a:prstGeom>
          <a:solidFill>
            <a:srgbClr val="6FA64B"/>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cxnSp>
        <p:nvCxnSpPr>
          <p:cNvPr id="143" name="Google Shape;143;p12"/>
          <p:cNvCxnSpPr/>
          <p:nvPr/>
        </p:nvCxnSpPr>
        <p:spPr>
          <a:xfrm>
            <a:off x="2465451" y="2346808"/>
            <a:ext cx="228028" cy="0"/>
          </a:xfrm>
          <a:prstGeom prst="straightConnector1">
            <a:avLst/>
          </a:prstGeom>
          <a:noFill/>
          <a:ln cap="flat" cmpd="sng" w="31750">
            <a:solidFill>
              <a:srgbClr val="6FA64B"/>
            </a:solidFill>
            <a:prstDash val="solid"/>
            <a:round/>
            <a:headEnd len="sm" w="sm" type="none"/>
            <a:tailEnd len="sm" w="sm" type="none"/>
          </a:ln>
        </p:spPr>
      </p:cxnSp>
      <p:sp>
        <p:nvSpPr>
          <p:cNvPr id="144" name="Google Shape;144;p12"/>
          <p:cNvSpPr/>
          <p:nvPr/>
        </p:nvSpPr>
        <p:spPr>
          <a:xfrm>
            <a:off x="2667419" y="2151355"/>
            <a:ext cx="52121" cy="52121"/>
          </a:xfrm>
          <a:prstGeom prst="ellipse">
            <a:avLst/>
          </a:prstGeom>
          <a:solidFill>
            <a:srgbClr val="6FA64B"/>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cxnSp>
        <p:nvCxnSpPr>
          <p:cNvPr id="145" name="Google Shape;145;p12"/>
          <p:cNvCxnSpPr/>
          <p:nvPr/>
        </p:nvCxnSpPr>
        <p:spPr>
          <a:xfrm>
            <a:off x="2465451" y="2346808"/>
            <a:ext cx="130302" cy="0"/>
          </a:xfrm>
          <a:prstGeom prst="straightConnector1">
            <a:avLst/>
          </a:prstGeom>
          <a:noFill/>
          <a:ln cap="flat" cmpd="sng" w="31750">
            <a:solidFill>
              <a:srgbClr val="6FA64B"/>
            </a:solidFill>
            <a:prstDash val="solid"/>
            <a:round/>
            <a:headEnd len="sm" w="sm" type="none"/>
            <a:tailEnd len="sm" w="sm" type="none"/>
          </a:ln>
        </p:spPr>
      </p:cxnSp>
      <p:sp>
        <p:nvSpPr>
          <p:cNvPr id="146" name="Google Shape;146;p12"/>
          <p:cNvSpPr/>
          <p:nvPr/>
        </p:nvSpPr>
        <p:spPr>
          <a:xfrm>
            <a:off x="2569693" y="2314232"/>
            <a:ext cx="52121" cy="52121"/>
          </a:xfrm>
          <a:prstGeom prst="ellipse">
            <a:avLst/>
          </a:prstGeom>
          <a:solidFill>
            <a:srgbClr val="6FA64B"/>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47" name="Google Shape;147;p12"/>
          <p:cNvSpPr/>
          <p:nvPr/>
        </p:nvSpPr>
        <p:spPr>
          <a:xfrm>
            <a:off x="4882896" y="1589684"/>
            <a:ext cx="214518" cy="214518"/>
          </a:xfrm>
          <a:prstGeom prst="ellipse">
            <a:avLst/>
          </a:prstGeom>
          <a:solidFill>
            <a:srgbClr val="EAF3F7"/>
          </a:solidFill>
          <a:ln cap="flat" cmpd="sng" w="19050">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48" name="Google Shape;148;p12"/>
          <p:cNvSpPr/>
          <p:nvPr/>
        </p:nvSpPr>
        <p:spPr>
          <a:xfrm>
            <a:off x="4580047" y="1602303"/>
            <a:ext cx="252374" cy="126187"/>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73"/>
              </a:buClr>
              <a:buSzPts val="800"/>
              <a:buFont typeface="Arial"/>
              <a:buNone/>
            </a:pPr>
            <a:r>
              <a:rPr lang="en" sz="800">
                <a:solidFill>
                  <a:srgbClr val="5C6B73"/>
                </a:solidFill>
                <a:latin typeface="Arial"/>
                <a:ea typeface="Arial"/>
                <a:cs typeface="Arial"/>
                <a:sym typeface="Arial"/>
              </a:rPr>
              <a:t>x1</a:t>
            </a:r>
            <a:endParaRPr sz="800">
              <a:solidFill>
                <a:schemeClr val="dk1"/>
              </a:solidFill>
              <a:latin typeface="Arial"/>
              <a:ea typeface="Arial"/>
              <a:cs typeface="Arial"/>
              <a:sym typeface="Arial"/>
            </a:endParaRPr>
          </a:p>
        </p:txBody>
      </p:sp>
      <p:cxnSp>
        <p:nvCxnSpPr>
          <p:cNvPr id="149" name="Google Shape;149;p12"/>
          <p:cNvCxnSpPr/>
          <p:nvPr/>
        </p:nvCxnSpPr>
        <p:spPr>
          <a:xfrm>
            <a:off x="5097414" y="1696943"/>
            <a:ext cx="567842" cy="365943"/>
          </a:xfrm>
          <a:prstGeom prst="straightConnector1">
            <a:avLst/>
          </a:prstGeom>
          <a:noFill/>
          <a:ln cap="flat" cmpd="sng" w="19050">
            <a:solidFill>
              <a:srgbClr val="0E6973"/>
            </a:solidFill>
            <a:prstDash val="solid"/>
            <a:round/>
            <a:headEnd len="sm" w="sm" type="none"/>
            <a:tailEnd len="sm" w="sm" type="none"/>
          </a:ln>
        </p:spPr>
      </p:cxnSp>
      <p:sp>
        <p:nvSpPr>
          <p:cNvPr id="150" name="Google Shape;150;p12"/>
          <p:cNvSpPr/>
          <p:nvPr/>
        </p:nvSpPr>
        <p:spPr>
          <a:xfrm>
            <a:off x="4882896" y="1949318"/>
            <a:ext cx="214518" cy="214518"/>
          </a:xfrm>
          <a:prstGeom prst="ellipse">
            <a:avLst/>
          </a:prstGeom>
          <a:solidFill>
            <a:srgbClr val="EAF3F7"/>
          </a:solidFill>
          <a:ln cap="flat" cmpd="sng" w="19050">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51" name="Google Shape;151;p12"/>
          <p:cNvSpPr/>
          <p:nvPr/>
        </p:nvSpPr>
        <p:spPr>
          <a:xfrm>
            <a:off x="4580047" y="1961937"/>
            <a:ext cx="252374" cy="1261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73"/>
              </a:buClr>
              <a:buSzPts val="800"/>
              <a:buFont typeface="Arial"/>
              <a:buNone/>
            </a:pPr>
            <a:r>
              <a:rPr lang="en" sz="800">
                <a:solidFill>
                  <a:srgbClr val="5C6B73"/>
                </a:solidFill>
                <a:latin typeface="Arial"/>
                <a:ea typeface="Arial"/>
                <a:cs typeface="Arial"/>
                <a:sym typeface="Arial"/>
              </a:rPr>
              <a:t>x2</a:t>
            </a:r>
            <a:endParaRPr sz="800">
              <a:solidFill>
                <a:schemeClr val="dk1"/>
              </a:solidFill>
              <a:latin typeface="Arial"/>
              <a:ea typeface="Arial"/>
              <a:cs typeface="Arial"/>
              <a:sym typeface="Arial"/>
            </a:endParaRPr>
          </a:p>
        </p:txBody>
      </p:sp>
      <p:cxnSp>
        <p:nvCxnSpPr>
          <p:cNvPr id="152" name="Google Shape;152;p12"/>
          <p:cNvCxnSpPr/>
          <p:nvPr/>
        </p:nvCxnSpPr>
        <p:spPr>
          <a:xfrm>
            <a:off x="5097414" y="2056577"/>
            <a:ext cx="567842" cy="6309"/>
          </a:xfrm>
          <a:prstGeom prst="straightConnector1">
            <a:avLst/>
          </a:prstGeom>
          <a:noFill/>
          <a:ln cap="flat" cmpd="sng" w="19050">
            <a:solidFill>
              <a:srgbClr val="0E6973"/>
            </a:solidFill>
            <a:prstDash val="solid"/>
            <a:round/>
            <a:headEnd len="sm" w="sm" type="none"/>
            <a:tailEnd len="sm" w="sm" type="none"/>
          </a:ln>
        </p:spPr>
      </p:cxnSp>
      <p:sp>
        <p:nvSpPr>
          <p:cNvPr id="153" name="Google Shape;153;p12"/>
          <p:cNvSpPr/>
          <p:nvPr/>
        </p:nvSpPr>
        <p:spPr>
          <a:xfrm>
            <a:off x="4882896" y="2308952"/>
            <a:ext cx="214518" cy="214518"/>
          </a:xfrm>
          <a:prstGeom prst="ellipse">
            <a:avLst/>
          </a:prstGeom>
          <a:solidFill>
            <a:srgbClr val="EAF3F7"/>
          </a:solidFill>
          <a:ln cap="flat" cmpd="sng" w="19050">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54" name="Google Shape;154;p12"/>
          <p:cNvSpPr/>
          <p:nvPr/>
        </p:nvSpPr>
        <p:spPr>
          <a:xfrm>
            <a:off x="4580047" y="2321570"/>
            <a:ext cx="252374" cy="1261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73"/>
              </a:buClr>
              <a:buSzPts val="800"/>
              <a:buFont typeface="Arial"/>
              <a:buNone/>
            </a:pPr>
            <a:r>
              <a:rPr lang="en" sz="800">
                <a:solidFill>
                  <a:srgbClr val="5C6B73"/>
                </a:solidFill>
                <a:latin typeface="Arial"/>
                <a:ea typeface="Arial"/>
                <a:cs typeface="Arial"/>
                <a:sym typeface="Arial"/>
              </a:rPr>
              <a:t>x3</a:t>
            </a:r>
            <a:endParaRPr sz="800">
              <a:solidFill>
                <a:schemeClr val="dk1"/>
              </a:solidFill>
              <a:latin typeface="Arial"/>
              <a:ea typeface="Arial"/>
              <a:cs typeface="Arial"/>
              <a:sym typeface="Arial"/>
            </a:endParaRPr>
          </a:p>
        </p:txBody>
      </p:sp>
      <p:cxnSp>
        <p:nvCxnSpPr>
          <p:cNvPr id="155" name="Google Shape;155;p12"/>
          <p:cNvCxnSpPr/>
          <p:nvPr/>
        </p:nvCxnSpPr>
        <p:spPr>
          <a:xfrm>
            <a:off x="5097414" y="2416211"/>
            <a:ext cx="567842" cy="0"/>
          </a:xfrm>
          <a:prstGeom prst="straightConnector1">
            <a:avLst/>
          </a:prstGeom>
          <a:noFill/>
          <a:ln cap="flat" cmpd="sng" w="19050">
            <a:solidFill>
              <a:srgbClr val="0E6973"/>
            </a:solidFill>
            <a:prstDash val="solid"/>
            <a:round/>
            <a:headEnd len="sm" w="sm" type="none"/>
            <a:tailEnd len="sm" w="sm" type="none"/>
          </a:ln>
        </p:spPr>
      </p:cxnSp>
      <p:sp>
        <p:nvSpPr>
          <p:cNvPr id="156" name="Google Shape;156;p12"/>
          <p:cNvSpPr/>
          <p:nvPr/>
        </p:nvSpPr>
        <p:spPr>
          <a:xfrm>
            <a:off x="5671566" y="1917771"/>
            <a:ext cx="466893" cy="466893"/>
          </a:xfrm>
          <a:prstGeom prst="ellipse">
            <a:avLst/>
          </a:prstGeom>
          <a:solidFill>
            <a:srgbClr val="FFFFFF"/>
          </a:solidFill>
          <a:ln cap="flat" cmpd="sng" w="25400">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57" name="Google Shape;157;p12"/>
          <p:cNvSpPr/>
          <p:nvPr/>
        </p:nvSpPr>
        <p:spPr>
          <a:xfrm>
            <a:off x="5791444" y="1987174"/>
            <a:ext cx="227137" cy="15142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6973"/>
              </a:buClr>
              <a:buSzPts val="1300"/>
              <a:buFont typeface="Play"/>
              <a:buNone/>
            </a:pPr>
            <a:r>
              <a:rPr b="1" lang="en" sz="1300">
                <a:solidFill>
                  <a:srgbClr val="0E6973"/>
                </a:solidFill>
                <a:latin typeface="Play"/>
                <a:ea typeface="Play"/>
                <a:cs typeface="Play"/>
                <a:sym typeface="Play"/>
              </a:rPr>
              <a:t>Σ</a:t>
            </a:r>
            <a:endParaRPr sz="1300">
              <a:solidFill>
                <a:schemeClr val="dk1"/>
              </a:solidFill>
              <a:latin typeface="Arial"/>
              <a:ea typeface="Arial"/>
              <a:cs typeface="Arial"/>
              <a:sym typeface="Arial"/>
            </a:endParaRPr>
          </a:p>
        </p:txBody>
      </p:sp>
      <p:sp>
        <p:nvSpPr>
          <p:cNvPr id="158" name="Google Shape;158;p12"/>
          <p:cNvSpPr/>
          <p:nvPr/>
        </p:nvSpPr>
        <p:spPr>
          <a:xfrm>
            <a:off x="5778825" y="2157527"/>
            <a:ext cx="252374" cy="11356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600"/>
              <a:buFont typeface="Arial"/>
              <a:buNone/>
            </a:pPr>
            <a:r>
              <a:rPr lang="en" sz="600">
                <a:solidFill>
                  <a:srgbClr val="5C6B73"/>
                </a:solidFill>
                <a:latin typeface="Arial"/>
                <a:ea typeface="Arial"/>
                <a:cs typeface="Arial"/>
                <a:sym typeface="Arial"/>
              </a:rPr>
              <a:t>+ b</a:t>
            </a:r>
            <a:endParaRPr sz="600">
              <a:solidFill>
                <a:schemeClr val="dk1"/>
              </a:solidFill>
              <a:latin typeface="Arial"/>
              <a:ea typeface="Arial"/>
              <a:cs typeface="Arial"/>
              <a:sym typeface="Arial"/>
            </a:endParaRPr>
          </a:p>
        </p:txBody>
      </p:sp>
      <p:cxnSp>
        <p:nvCxnSpPr>
          <p:cNvPr id="159" name="Google Shape;159;p12"/>
          <p:cNvCxnSpPr/>
          <p:nvPr/>
        </p:nvCxnSpPr>
        <p:spPr>
          <a:xfrm>
            <a:off x="6157387" y="2151218"/>
            <a:ext cx="397490" cy="0"/>
          </a:xfrm>
          <a:prstGeom prst="straightConnector1">
            <a:avLst/>
          </a:prstGeom>
          <a:noFill/>
          <a:ln cap="flat" cmpd="sng" w="21575">
            <a:solidFill>
              <a:srgbClr val="0E6973"/>
            </a:solidFill>
            <a:prstDash val="solid"/>
            <a:round/>
            <a:headEnd len="sm" w="sm" type="none"/>
            <a:tailEnd len="med" w="med" type="triangle"/>
          </a:ln>
        </p:spPr>
      </p:cxnSp>
      <p:sp>
        <p:nvSpPr>
          <p:cNvPr id="160" name="Google Shape;160;p12"/>
          <p:cNvSpPr/>
          <p:nvPr/>
        </p:nvSpPr>
        <p:spPr>
          <a:xfrm>
            <a:off x="6567495" y="1955627"/>
            <a:ext cx="555224" cy="391181"/>
          </a:xfrm>
          <a:prstGeom prst="roundRect">
            <a:avLst>
              <a:gd fmla="val 14025" name="adj"/>
            </a:avLst>
          </a:prstGeom>
          <a:solidFill>
            <a:srgbClr val="EEF6E8"/>
          </a:solidFill>
          <a:ln cap="flat" cmpd="sng" w="203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1" name="Google Shape;161;p12"/>
          <p:cNvSpPr/>
          <p:nvPr/>
        </p:nvSpPr>
        <p:spPr>
          <a:xfrm>
            <a:off x="6611661" y="2075505"/>
            <a:ext cx="466893" cy="11356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700"/>
              <a:buFont typeface="Arial"/>
              <a:buNone/>
            </a:pPr>
            <a:r>
              <a:rPr b="1" lang="en" sz="700">
                <a:solidFill>
                  <a:srgbClr val="6FA64B"/>
                </a:solidFill>
                <a:latin typeface="Arial"/>
                <a:ea typeface="Arial"/>
                <a:cs typeface="Arial"/>
                <a:sym typeface="Arial"/>
              </a:rPr>
              <a:t>activation</a:t>
            </a:r>
            <a:endParaRPr sz="700">
              <a:solidFill>
                <a:schemeClr val="dk1"/>
              </a:solidFill>
              <a:latin typeface="Arial"/>
              <a:ea typeface="Arial"/>
              <a:cs typeface="Arial"/>
              <a:sym typeface="Arial"/>
            </a:endParaRPr>
          </a:p>
        </p:txBody>
      </p:sp>
      <p:cxnSp>
        <p:nvCxnSpPr>
          <p:cNvPr id="162" name="Google Shape;162;p12"/>
          <p:cNvCxnSpPr/>
          <p:nvPr/>
        </p:nvCxnSpPr>
        <p:spPr>
          <a:xfrm>
            <a:off x="7135337" y="2151218"/>
            <a:ext cx="429037" cy="0"/>
          </a:xfrm>
          <a:prstGeom prst="straightConnector1">
            <a:avLst/>
          </a:prstGeom>
          <a:noFill/>
          <a:ln cap="flat" cmpd="sng" w="21575">
            <a:solidFill>
              <a:srgbClr val="0E6973"/>
            </a:solidFill>
            <a:prstDash val="solid"/>
            <a:round/>
            <a:headEnd len="sm" w="sm" type="none"/>
            <a:tailEnd len="med" w="med" type="triangle"/>
          </a:ln>
        </p:spPr>
      </p:cxnSp>
      <p:sp>
        <p:nvSpPr>
          <p:cNvPr id="163" name="Google Shape;163;p12"/>
          <p:cNvSpPr/>
          <p:nvPr/>
        </p:nvSpPr>
        <p:spPr>
          <a:xfrm>
            <a:off x="7576993" y="2075505"/>
            <a:ext cx="410108" cy="126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700"/>
              <a:buFont typeface="Arial"/>
              <a:buNone/>
            </a:pPr>
            <a:r>
              <a:rPr b="1" lang="en" sz="700">
                <a:solidFill>
                  <a:srgbClr val="102A43"/>
                </a:solidFill>
                <a:latin typeface="Arial"/>
                <a:ea typeface="Arial"/>
                <a:cs typeface="Arial"/>
                <a:sym typeface="Arial"/>
              </a:rPr>
              <a:t>output</a:t>
            </a:r>
            <a:endParaRPr sz="700">
              <a:solidFill>
                <a:schemeClr val="dk1"/>
              </a:solidFill>
              <a:latin typeface="Arial"/>
              <a:ea typeface="Arial"/>
              <a:cs typeface="Arial"/>
              <a:sym typeface="Arial"/>
            </a:endParaRPr>
          </a:p>
        </p:txBody>
      </p:sp>
      <p:sp>
        <p:nvSpPr>
          <p:cNvPr id="164" name="Google Shape;164;p12"/>
          <p:cNvSpPr/>
          <p:nvPr/>
        </p:nvSpPr>
        <p:spPr>
          <a:xfrm>
            <a:off x="672084" y="2708910"/>
            <a:ext cx="630936"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A64B"/>
              </a:buClr>
              <a:buSzPts val="800"/>
              <a:buFont typeface="Arial"/>
              <a:buNone/>
            </a:pPr>
            <a:r>
              <a:rPr b="1" lang="en" sz="800">
                <a:solidFill>
                  <a:srgbClr val="6FA64B"/>
                </a:solidFill>
                <a:latin typeface="Arial"/>
                <a:ea typeface="Arial"/>
                <a:cs typeface="Arial"/>
                <a:sym typeface="Arial"/>
              </a:rPr>
              <a:t>Receives</a:t>
            </a:r>
            <a:endParaRPr sz="800">
              <a:solidFill>
                <a:schemeClr val="dk1"/>
              </a:solidFill>
              <a:latin typeface="Arial"/>
              <a:ea typeface="Arial"/>
              <a:cs typeface="Arial"/>
              <a:sym typeface="Arial"/>
            </a:endParaRPr>
          </a:p>
        </p:txBody>
      </p:sp>
      <p:sp>
        <p:nvSpPr>
          <p:cNvPr id="165" name="Google Shape;165;p12"/>
          <p:cNvSpPr/>
          <p:nvPr/>
        </p:nvSpPr>
        <p:spPr>
          <a:xfrm>
            <a:off x="1316736" y="2702052"/>
            <a:ext cx="277749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800"/>
              <a:buFont typeface="Arial"/>
              <a:buNone/>
            </a:pPr>
            <a:r>
              <a:rPr lang="en" sz="800">
                <a:solidFill>
                  <a:srgbClr val="1B2B34"/>
                </a:solidFill>
                <a:latin typeface="Arial"/>
                <a:ea typeface="Arial"/>
                <a:cs typeface="Arial"/>
                <a:sym typeface="Arial"/>
              </a:rPr>
              <a:t>Dendrites and synapses receive signals from other cells.</a:t>
            </a:r>
            <a:endParaRPr sz="800">
              <a:solidFill>
                <a:schemeClr val="dk1"/>
              </a:solidFill>
              <a:latin typeface="Arial"/>
              <a:ea typeface="Arial"/>
              <a:cs typeface="Arial"/>
              <a:sym typeface="Arial"/>
            </a:endParaRPr>
          </a:p>
        </p:txBody>
      </p:sp>
      <p:sp>
        <p:nvSpPr>
          <p:cNvPr id="166" name="Google Shape;166;p12"/>
          <p:cNvSpPr/>
          <p:nvPr/>
        </p:nvSpPr>
        <p:spPr>
          <a:xfrm>
            <a:off x="672084" y="2955798"/>
            <a:ext cx="630936"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A64B"/>
              </a:buClr>
              <a:buSzPts val="800"/>
              <a:buFont typeface="Arial"/>
              <a:buNone/>
            </a:pPr>
            <a:r>
              <a:rPr b="1" lang="en" sz="800">
                <a:solidFill>
                  <a:srgbClr val="6FA64B"/>
                </a:solidFill>
                <a:latin typeface="Arial"/>
                <a:ea typeface="Arial"/>
                <a:cs typeface="Arial"/>
                <a:sym typeface="Arial"/>
              </a:rPr>
              <a:t>Combines</a:t>
            </a:r>
            <a:endParaRPr sz="800">
              <a:solidFill>
                <a:schemeClr val="dk1"/>
              </a:solidFill>
              <a:latin typeface="Arial"/>
              <a:ea typeface="Arial"/>
              <a:cs typeface="Arial"/>
              <a:sym typeface="Arial"/>
            </a:endParaRPr>
          </a:p>
        </p:txBody>
      </p:sp>
      <p:sp>
        <p:nvSpPr>
          <p:cNvPr id="167" name="Google Shape;167;p12"/>
          <p:cNvSpPr/>
          <p:nvPr/>
        </p:nvSpPr>
        <p:spPr>
          <a:xfrm>
            <a:off x="1316736" y="2948940"/>
            <a:ext cx="277749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800"/>
              <a:buFont typeface="Arial"/>
              <a:buNone/>
            </a:pPr>
            <a:r>
              <a:rPr lang="en" sz="800">
                <a:solidFill>
                  <a:srgbClr val="1B2B34"/>
                </a:solidFill>
                <a:latin typeface="Arial"/>
                <a:ea typeface="Arial"/>
                <a:cs typeface="Arial"/>
                <a:sym typeface="Arial"/>
              </a:rPr>
              <a:t>The cell body integrates many incoming signals.</a:t>
            </a:r>
            <a:endParaRPr sz="800">
              <a:solidFill>
                <a:schemeClr val="dk1"/>
              </a:solidFill>
              <a:latin typeface="Arial"/>
              <a:ea typeface="Arial"/>
              <a:cs typeface="Arial"/>
              <a:sym typeface="Arial"/>
            </a:endParaRPr>
          </a:p>
        </p:txBody>
      </p:sp>
      <p:sp>
        <p:nvSpPr>
          <p:cNvPr id="168" name="Google Shape;168;p12"/>
          <p:cNvSpPr/>
          <p:nvPr/>
        </p:nvSpPr>
        <p:spPr>
          <a:xfrm>
            <a:off x="672084" y="3202686"/>
            <a:ext cx="630936"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A64B"/>
              </a:buClr>
              <a:buSzPts val="800"/>
              <a:buFont typeface="Arial"/>
              <a:buNone/>
            </a:pPr>
            <a:r>
              <a:rPr b="1" lang="en" sz="800">
                <a:solidFill>
                  <a:srgbClr val="6FA64B"/>
                </a:solidFill>
                <a:latin typeface="Arial"/>
                <a:ea typeface="Arial"/>
                <a:cs typeface="Arial"/>
                <a:sym typeface="Arial"/>
              </a:rPr>
              <a:t>Threshold</a:t>
            </a:r>
            <a:endParaRPr sz="800">
              <a:solidFill>
                <a:schemeClr val="dk1"/>
              </a:solidFill>
              <a:latin typeface="Arial"/>
              <a:ea typeface="Arial"/>
              <a:cs typeface="Arial"/>
              <a:sym typeface="Arial"/>
            </a:endParaRPr>
          </a:p>
        </p:txBody>
      </p:sp>
      <p:sp>
        <p:nvSpPr>
          <p:cNvPr id="169" name="Google Shape;169;p12"/>
          <p:cNvSpPr/>
          <p:nvPr/>
        </p:nvSpPr>
        <p:spPr>
          <a:xfrm>
            <a:off x="1316736" y="3195828"/>
            <a:ext cx="277749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800"/>
              <a:buFont typeface="Arial"/>
              <a:buNone/>
            </a:pPr>
            <a:r>
              <a:rPr lang="en" sz="800">
                <a:solidFill>
                  <a:srgbClr val="1B2B34"/>
                </a:solidFill>
                <a:latin typeface="Arial"/>
                <a:ea typeface="Arial"/>
                <a:cs typeface="Arial"/>
                <a:sym typeface="Arial"/>
              </a:rPr>
              <a:t>Membrane behavior determines whether an action potential occurs.</a:t>
            </a:r>
            <a:endParaRPr sz="800">
              <a:solidFill>
                <a:schemeClr val="dk1"/>
              </a:solidFill>
              <a:latin typeface="Arial"/>
              <a:ea typeface="Arial"/>
              <a:cs typeface="Arial"/>
              <a:sym typeface="Arial"/>
            </a:endParaRPr>
          </a:p>
        </p:txBody>
      </p:sp>
      <p:sp>
        <p:nvSpPr>
          <p:cNvPr id="170" name="Google Shape;170;p12"/>
          <p:cNvSpPr/>
          <p:nvPr/>
        </p:nvSpPr>
        <p:spPr>
          <a:xfrm>
            <a:off x="672084" y="3449574"/>
            <a:ext cx="630936"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A64B"/>
              </a:buClr>
              <a:buSzPts val="800"/>
              <a:buFont typeface="Arial"/>
              <a:buNone/>
            </a:pPr>
            <a:r>
              <a:rPr b="1" lang="en" sz="800">
                <a:solidFill>
                  <a:srgbClr val="6FA64B"/>
                </a:solidFill>
                <a:latin typeface="Arial"/>
                <a:ea typeface="Arial"/>
                <a:cs typeface="Arial"/>
                <a:sym typeface="Arial"/>
              </a:rPr>
              <a:t>Passes on</a:t>
            </a:r>
            <a:endParaRPr sz="800">
              <a:solidFill>
                <a:schemeClr val="dk1"/>
              </a:solidFill>
              <a:latin typeface="Arial"/>
              <a:ea typeface="Arial"/>
              <a:cs typeface="Arial"/>
              <a:sym typeface="Arial"/>
            </a:endParaRPr>
          </a:p>
        </p:txBody>
      </p:sp>
      <p:sp>
        <p:nvSpPr>
          <p:cNvPr id="171" name="Google Shape;171;p12"/>
          <p:cNvSpPr/>
          <p:nvPr/>
        </p:nvSpPr>
        <p:spPr>
          <a:xfrm>
            <a:off x="1316736" y="3442716"/>
            <a:ext cx="277749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800"/>
              <a:buFont typeface="Arial"/>
              <a:buNone/>
            </a:pPr>
            <a:r>
              <a:rPr lang="en" sz="800">
                <a:solidFill>
                  <a:srgbClr val="1B2B34"/>
                </a:solidFill>
                <a:latin typeface="Arial"/>
                <a:ea typeface="Arial"/>
                <a:cs typeface="Arial"/>
                <a:sym typeface="Arial"/>
              </a:rPr>
              <a:t>The axon carries the signal toward other cells.</a:t>
            </a:r>
            <a:endParaRPr sz="800">
              <a:solidFill>
                <a:schemeClr val="dk1"/>
              </a:solidFill>
              <a:latin typeface="Arial"/>
              <a:ea typeface="Arial"/>
              <a:cs typeface="Arial"/>
              <a:sym typeface="Arial"/>
            </a:endParaRPr>
          </a:p>
        </p:txBody>
      </p:sp>
      <p:sp>
        <p:nvSpPr>
          <p:cNvPr id="172" name="Google Shape;172;p12"/>
          <p:cNvSpPr/>
          <p:nvPr/>
        </p:nvSpPr>
        <p:spPr>
          <a:xfrm>
            <a:off x="4910328" y="2708910"/>
            <a:ext cx="630936"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800"/>
              <a:buFont typeface="Arial"/>
              <a:buNone/>
            </a:pPr>
            <a:r>
              <a:rPr b="1" lang="en" sz="800">
                <a:solidFill>
                  <a:srgbClr val="0E6973"/>
                </a:solidFill>
                <a:latin typeface="Arial"/>
                <a:ea typeface="Arial"/>
                <a:cs typeface="Arial"/>
                <a:sym typeface="Arial"/>
              </a:rPr>
              <a:t>Receives</a:t>
            </a:r>
            <a:endParaRPr sz="800">
              <a:solidFill>
                <a:schemeClr val="dk1"/>
              </a:solidFill>
              <a:latin typeface="Arial"/>
              <a:ea typeface="Arial"/>
              <a:cs typeface="Arial"/>
              <a:sym typeface="Arial"/>
            </a:endParaRPr>
          </a:p>
        </p:txBody>
      </p:sp>
      <p:sp>
        <p:nvSpPr>
          <p:cNvPr id="173" name="Google Shape;173;p12"/>
          <p:cNvSpPr/>
          <p:nvPr/>
        </p:nvSpPr>
        <p:spPr>
          <a:xfrm>
            <a:off x="5554980" y="2702052"/>
            <a:ext cx="277749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800"/>
              <a:buFont typeface="Arial"/>
              <a:buNone/>
            </a:pPr>
            <a:r>
              <a:rPr lang="en" sz="800">
                <a:solidFill>
                  <a:srgbClr val="1B2B34"/>
                </a:solidFill>
                <a:latin typeface="Arial"/>
                <a:ea typeface="Arial"/>
                <a:cs typeface="Arial"/>
                <a:sym typeface="Arial"/>
              </a:rPr>
              <a:t>Numerical inputs enter the artificial neuron.</a:t>
            </a:r>
            <a:endParaRPr sz="800">
              <a:solidFill>
                <a:schemeClr val="dk1"/>
              </a:solidFill>
              <a:latin typeface="Arial"/>
              <a:ea typeface="Arial"/>
              <a:cs typeface="Arial"/>
              <a:sym typeface="Arial"/>
            </a:endParaRPr>
          </a:p>
        </p:txBody>
      </p:sp>
      <p:sp>
        <p:nvSpPr>
          <p:cNvPr id="174" name="Google Shape;174;p12"/>
          <p:cNvSpPr/>
          <p:nvPr/>
        </p:nvSpPr>
        <p:spPr>
          <a:xfrm>
            <a:off x="4910328" y="2955798"/>
            <a:ext cx="630936"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800"/>
              <a:buFont typeface="Arial"/>
              <a:buNone/>
            </a:pPr>
            <a:r>
              <a:rPr b="1" lang="en" sz="800">
                <a:solidFill>
                  <a:srgbClr val="0E6973"/>
                </a:solidFill>
                <a:latin typeface="Arial"/>
                <a:ea typeface="Arial"/>
                <a:cs typeface="Arial"/>
                <a:sym typeface="Arial"/>
              </a:rPr>
              <a:t>Combines</a:t>
            </a:r>
            <a:endParaRPr sz="800">
              <a:solidFill>
                <a:schemeClr val="dk1"/>
              </a:solidFill>
              <a:latin typeface="Arial"/>
              <a:ea typeface="Arial"/>
              <a:cs typeface="Arial"/>
              <a:sym typeface="Arial"/>
            </a:endParaRPr>
          </a:p>
        </p:txBody>
      </p:sp>
      <p:sp>
        <p:nvSpPr>
          <p:cNvPr id="175" name="Google Shape;175;p12"/>
          <p:cNvSpPr/>
          <p:nvPr/>
        </p:nvSpPr>
        <p:spPr>
          <a:xfrm>
            <a:off x="5554980" y="2948940"/>
            <a:ext cx="277749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800"/>
              <a:buFont typeface="Arial"/>
              <a:buNone/>
            </a:pPr>
            <a:r>
              <a:rPr lang="en" sz="800">
                <a:solidFill>
                  <a:srgbClr val="1B2B34"/>
                </a:solidFill>
                <a:latin typeface="Arial"/>
                <a:ea typeface="Arial"/>
                <a:cs typeface="Arial"/>
                <a:sym typeface="Arial"/>
              </a:rPr>
              <a:t>Weights change importance; the neuron adds the weighted inputs plus a bias.</a:t>
            </a:r>
            <a:endParaRPr sz="800">
              <a:solidFill>
                <a:schemeClr val="dk1"/>
              </a:solidFill>
              <a:latin typeface="Arial"/>
              <a:ea typeface="Arial"/>
              <a:cs typeface="Arial"/>
              <a:sym typeface="Arial"/>
            </a:endParaRPr>
          </a:p>
        </p:txBody>
      </p:sp>
      <p:sp>
        <p:nvSpPr>
          <p:cNvPr id="176" name="Google Shape;176;p12"/>
          <p:cNvSpPr/>
          <p:nvPr/>
        </p:nvSpPr>
        <p:spPr>
          <a:xfrm>
            <a:off x="4910328" y="3202686"/>
            <a:ext cx="630936"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800"/>
              <a:buFont typeface="Arial"/>
              <a:buNone/>
            </a:pPr>
            <a:r>
              <a:rPr b="1" lang="en" sz="800">
                <a:solidFill>
                  <a:srgbClr val="0E6973"/>
                </a:solidFill>
                <a:latin typeface="Arial"/>
                <a:ea typeface="Arial"/>
                <a:cs typeface="Arial"/>
                <a:sym typeface="Arial"/>
              </a:rPr>
              <a:t>Activation</a:t>
            </a:r>
            <a:endParaRPr sz="800">
              <a:solidFill>
                <a:schemeClr val="dk1"/>
              </a:solidFill>
              <a:latin typeface="Arial"/>
              <a:ea typeface="Arial"/>
              <a:cs typeface="Arial"/>
              <a:sym typeface="Arial"/>
            </a:endParaRPr>
          </a:p>
        </p:txBody>
      </p:sp>
      <p:sp>
        <p:nvSpPr>
          <p:cNvPr id="177" name="Google Shape;177;p12"/>
          <p:cNvSpPr/>
          <p:nvPr/>
        </p:nvSpPr>
        <p:spPr>
          <a:xfrm>
            <a:off x="5554980" y="3195828"/>
            <a:ext cx="277749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800"/>
              <a:buFont typeface="Arial"/>
              <a:buNone/>
            </a:pPr>
            <a:r>
              <a:rPr lang="en" sz="800">
                <a:solidFill>
                  <a:srgbClr val="1B2B34"/>
                </a:solidFill>
                <a:latin typeface="Arial"/>
                <a:ea typeface="Arial"/>
                <a:cs typeface="Arial"/>
                <a:sym typeface="Arial"/>
              </a:rPr>
              <a:t>An activation function transforms the combined value.</a:t>
            </a:r>
            <a:endParaRPr sz="800">
              <a:solidFill>
                <a:schemeClr val="dk1"/>
              </a:solidFill>
              <a:latin typeface="Arial"/>
              <a:ea typeface="Arial"/>
              <a:cs typeface="Arial"/>
              <a:sym typeface="Arial"/>
            </a:endParaRPr>
          </a:p>
        </p:txBody>
      </p:sp>
      <p:sp>
        <p:nvSpPr>
          <p:cNvPr id="178" name="Google Shape;178;p12"/>
          <p:cNvSpPr/>
          <p:nvPr/>
        </p:nvSpPr>
        <p:spPr>
          <a:xfrm>
            <a:off x="4910328" y="3449574"/>
            <a:ext cx="630936"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800"/>
              <a:buFont typeface="Arial"/>
              <a:buNone/>
            </a:pPr>
            <a:r>
              <a:rPr b="1" lang="en" sz="800">
                <a:solidFill>
                  <a:srgbClr val="0E6973"/>
                </a:solidFill>
                <a:latin typeface="Arial"/>
                <a:ea typeface="Arial"/>
                <a:cs typeface="Arial"/>
                <a:sym typeface="Arial"/>
              </a:rPr>
              <a:t>Passes on</a:t>
            </a:r>
            <a:endParaRPr sz="800">
              <a:solidFill>
                <a:schemeClr val="dk1"/>
              </a:solidFill>
              <a:latin typeface="Arial"/>
              <a:ea typeface="Arial"/>
              <a:cs typeface="Arial"/>
              <a:sym typeface="Arial"/>
            </a:endParaRPr>
          </a:p>
        </p:txBody>
      </p:sp>
      <p:sp>
        <p:nvSpPr>
          <p:cNvPr id="179" name="Google Shape;179;p12"/>
          <p:cNvSpPr/>
          <p:nvPr/>
        </p:nvSpPr>
        <p:spPr>
          <a:xfrm>
            <a:off x="5554980" y="3442716"/>
            <a:ext cx="277749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800"/>
              <a:buFont typeface="Arial"/>
              <a:buNone/>
            </a:pPr>
            <a:r>
              <a:rPr lang="en" sz="800">
                <a:solidFill>
                  <a:srgbClr val="1B2B34"/>
                </a:solidFill>
                <a:latin typeface="Arial"/>
                <a:ea typeface="Arial"/>
                <a:cs typeface="Arial"/>
                <a:sym typeface="Arial"/>
              </a:rPr>
              <a:t>The output becomes input to neurons in the next layer.</a:t>
            </a:r>
            <a:endParaRPr sz="800">
              <a:solidFill>
                <a:schemeClr val="dk1"/>
              </a:solidFill>
              <a:latin typeface="Arial"/>
              <a:ea typeface="Arial"/>
              <a:cs typeface="Arial"/>
              <a:sym typeface="Arial"/>
            </a:endParaRPr>
          </a:p>
        </p:txBody>
      </p:sp>
      <p:sp>
        <p:nvSpPr>
          <p:cNvPr id="180" name="Google Shape;180;p12"/>
          <p:cNvSpPr/>
          <p:nvPr/>
        </p:nvSpPr>
        <p:spPr>
          <a:xfrm>
            <a:off x="617220" y="3922776"/>
            <a:ext cx="7900416" cy="329184"/>
          </a:xfrm>
          <a:prstGeom prst="roundRect">
            <a:avLst>
              <a:gd fmla="val 10417" name="adj"/>
            </a:avLst>
          </a:prstGeom>
          <a:solidFill>
            <a:srgbClr val="F3F7F9"/>
          </a:solidFill>
          <a:ln cap="flat" cmpd="sng" w="12700">
            <a:solidFill>
              <a:srgbClr val="D6E2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81" name="Google Shape;181;p12"/>
          <p:cNvSpPr/>
          <p:nvPr/>
        </p:nvSpPr>
        <p:spPr>
          <a:xfrm>
            <a:off x="768096" y="4025646"/>
            <a:ext cx="493776"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800"/>
              <a:buFont typeface="Arial"/>
              <a:buNone/>
            </a:pPr>
            <a:r>
              <a:rPr b="1" lang="en" sz="800">
                <a:solidFill>
                  <a:srgbClr val="102A43"/>
                </a:solidFill>
                <a:latin typeface="Arial"/>
                <a:ea typeface="Arial"/>
                <a:cs typeface="Arial"/>
                <a:sym typeface="Arial"/>
              </a:rPr>
              <a:t>Key idea</a:t>
            </a:r>
            <a:endParaRPr sz="800">
              <a:solidFill>
                <a:schemeClr val="dk1"/>
              </a:solidFill>
              <a:latin typeface="Arial"/>
              <a:ea typeface="Arial"/>
              <a:cs typeface="Arial"/>
              <a:sym typeface="Arial"/>
            </a:endParaRPr>
          </a:p>
        </p:txBody>
      </p:sp>
      <p:sp>
        <p:nvSpPr>
          <p:cNvPr id="182" name="Google Shape;182;p12"/>
          <p:cNvSpPr/>
          <p:nvPr/>
        </p:nvSpPr>
        <p:spPr>
          <a:xfrm>
            <a:off x="1316736" y="4005072"/>
            <a:ext cx="6816852"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3"/>
              </a:buClr>
              <a:buSzPts val="800"/>
              <a:buFont typeface="Arial"/>
              <a:buNone/>
            </a:pPr>
            <a:r>
              <a:rPr lang="en" sz="800">
                <a:solidFill>
                  <a:srgbClr val="5C6B73"/>
                </a:solidFill>
                <a:latin typeface="Arial"/>
                <a:ea typeface="Arial"/>
                <a:cs typeface="Arial"/>
                <a:sym typeface="Arial"/>
              </a:rPr>
              <a:t>Artificial neurons borrow the idea of receiving, combining, and passing signals — not the full biology of a living neuron.</a:t>
            </a:r>
            <a:endParaRPr sz="800">
              <a:solidFill>
                <a:schemeClr val="dk1"/>
              </a:solidFill>
              <a:latin typeface="Arial"/>
              <a:ea typeface="Arial"/>
              <a:cs typeface="Arial"/>
              <a:sym typeface="Arial"/>
            </a:endParaRPr>
          </a:p>
        </p:txBody>
      </p:sp>
      <p:sp>
        <p:nvSpPr>
          <p:cNvPr id="183" name="Google Shape;183;p12"/>
          <p:cNvSpPr/>
          <p:nvPr/>
        </p:nvSpPr>
        <p:spPr>
          <a:xfrm>
            <a:off x="374275" y="4357806"/>
            <a:ext cx="181737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000"/>
              <a:buFont typeface="Arial"/>
              <a:buNone/>
            </a:pPr>
            <a:r>
              <a:rPr b="1" lang="en" sz="1000">
                <a:solidFill>
                  <a:srgbClr val="102A43"/>
                </a:solidFill>
                <a:latin typeface="Arial"/>
                <a:ea typeface="Arial"/>
                <a:cs typeface="Arial"/>
                <a:sym typeface="Arial"/>
              </a:rPr>
              <a:t>How do neurons become a network?</a:t>
            </a:r>
            <a:endParaRPr sz="1000">
              <a:solidFill>
                <a:schemeClr val="dk1"/>
              </a:solidFill>
              <a:latin typeface="Arial"/>
              <a:ea typeface="Arial"/>
              <a:cs typeface="Arial"/>
              <a:sym typeface="Arial"/>
            </a:endParaRPr>
          </a:p>
        </p:txBody>
      </p:sp>
      <p:sp>
        <p:nvSpPr>
          <p:cNvPr id="184" name="Google Shape;184;p12"/>
          <p:cNvSpPr/>
          <p:nvPr/>
        </p:nvSpPr>
        <p:spPr>
          <a:xfrm>
            <a:off x="2091690" y="4347972"/>
            <a:ext cx="380619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3"/>
              </a:buClr>
              <a:buSzPts val="800"/>
              <a:buFont typeface="Arial"/>
              <a:buNone/>
            </a:pPr>
            <a:r>
              <a:rPr lang="en" sz="800">
                <a:solidFill>
                  <a:srgbClr val="5C6B73"/>
                </a:solidFill>
                <a:latin typeface="Arial"/>
                <a:ea typeface="Arial"/>
                <a:cs typeface="Arial"/>
                <a:sym typeface="Arial"/>
              </a:rPr>
              <a:t>Each neuron passes its output forward. Groups of neurons working at the same stage form a layer.</a:t>
            </a:r>
            <a:endParaRPr sz="800">
              <a:solidFill>
                <a:schemeClr val="dk1"/>
              </a:solidFill>
              <a:latin typeface="Arial"/>
              <a:ea typeface="Arial"/>
              <a:cs typeface="Arial"/>
              <a:sym typeface="Arial"/>
            </a:endParaRPr>
          </a:p>
        </p:txBody>
      </p:sp>
      <p:sp>
        <p:nvSpPr>
          <p:cNvPr id="185" name="Google Shape;185;p12"/>
          <p:cNvSpPr/>
          <p:nvPr/>
        </p:nvSpPr>
        <p:spPr>
          <a:xfrm>
            <a:off x="5966460" y="4149090"/>
            <a:ext cx="137160" cy="137160"/>
          </a:xfrm>
          <a:prstGeom prst="ellipse">
            <a:avLst/>
          </a:prstGeom>
          <a:solidFill>
            <a:srgbClr val="EAF3F7"/>
          </a:solidFill>
          <a:ln cap="flat" cmpd="sng" w="12700">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86" name="Google Shape;186;p12"/>
          <p:cNvSpPr/>
          <p:nvPr/>
        </p:nvSpPr>
        <p:spPr>
          <a:xfrm>
            <a:off x="5966460" y="4306824"/>
            <a:ext cx="137160" cy="137160"/>
          </a:xfrm>
          <a:prstGeom prst="ellipse">
            <a:avLst/>
          </a:prstGeom>
          <a:solidFill>
            <a:srgbClr val="EAF3F7"/>
          </a:solidFill>
          <a:ln cap="flat" cmpd="sng" w="12700">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87" name="Google Shape;187;p12"/>
          <p:cNvSpPr/>
          <p:nvPr/>
        </p:nvSpPr>
        <p:spPr>
          <a:xfrm>
            <a:off x="5966460" y="4464558"/>
            <a:ext cx="137160" cy="137160"/>
          </a:xfrm>
          <a:prstGeom prst="ellipse">
            <a:avLst/>
          </a:prstGeom>
          <a:solidFill>
            <a:srgbClr val="EAF3F7"/>
          </a:solidFill>
          <a:ln cap="flat" cmpd="sng" w="12700">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88" name="Google Shape;188;p12"/>
          <p:cNvSpPr/>
          <p:nvPr/>
        </p:nvSpPr>
        <p:spPr>
          <a:xfrm>
            <a:off x="5843016" y="4649724"/>
            <a:ext cx="384048" cy="960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6973"/>
              </a:buClr>
              <a:buSzPts val="500"/>
              <a:buFont typeface="Arial"/>
              <a:buNone/>
            </a:pPr>
            <a:r>
              <a:rPr b="1" lang="en" sz="500">
                <a:solidFill>
                  <a:srgbClr val="0E6973"/>
                </a:solidFill>
                <a:latin typeface="Arial"/>
                <a:ea typeface="Arial"/>
                <a:cs typeface="Arial"/>
                <a:sym typeface="Arial"/>
              </a:rPr>
              <a:t>INPUT</a:t>
            </a:r>
            <a:endParaRPr sz="500">
              <a:solidFill>
                <a:schemeClr val="dk1"/>
              </a:solidFill>
              <a:latin typeface="Arial"/>
              <a:ea typeface="Arial"/>
              <a:cs typeface="Arial"/>
              <a:sym typeface="Arial"/>
            </a:endParaRPr>
          </a:p>
        </p:txBody>
      </p:sp>
      <p:sp>
        <p:nvSpPr>
          <p:cNvPr id="189" name="Google Shape;189;p12"/>
          <p:cNvSpPr/>
          <p:nvPr/>
        </p:nvSpPr>
        <p:spPr>
          <a:xfrm>
            <a:off x="6665976" y="4070223"/>
            <a:ext cx="137160" cy="137160"/>
          </a:xfrm>
          <a:prstGeom prst="ellipse">
            <a:avLst/>
          </a:prstGeom>
          <a:solidFill>
            <a:srgbClr val="EEF6E8"/>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0" name="Google Shape;190;p12"/>
          <p:cNvSpPr/>
          <p:nvPr/>
        </p:nvSpPr>
        <p:spPr>
          <a:xfrm>
            <a:off x="6665976" y="4227957"/>
            <a:ext cx="137160" cy="137160"/>
          </a:xfrm>
          <a:prstGeom prst="ellipse">
            <a:avLst/>
          </a:prstGeom>
          <a:solidFill>
            <a:srgbClr val="EEF6E8"/>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1" name="Google Shape;191;p12"/>
          <p:cNvSpPr/>
          <p:nvPr/>
        </p:nvSpPr>
        <p:spPr>
          <a:xfrm>
            <a:off x="6665976" y="4385691"/>
            <a:ext cx="137160" cy="137160"/>
          </a:xfrm>
          <a:prstGeom prst="ellipse">
            <a:avLst/>
          </a:prstGeom>
          <a:solidFill>
            <a:srgbClr val="EEF6E8"/>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2" name="Google Shape;192;p12"/>
          <p:cNvSpPr/>
          <p:nvPr/>
        </p:nvSpPr>
        <p:spPr>
          <a:xfrm>
            <a:off x="6665976" y="4543425"/>
            <a:ext cx="137160" cy="137160"/>
          </a:xfrm>
          <a:prstGeom prst="ellipse">
            <a:avLst/>
          </a:prstGeom>
          <a:solidFill>
            <a:srgbClr val="EEF6E8"/>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3" name="Google Shape;193;p12"/>
          <p:cNvSpPr/>
          <p:nvPr/>
        </p:nvSpPr>
        <p:spPr>
          <a:xfrm>
            <a:off x="6542532" y="4649724"/>
            <a:ext cx="384048" cy="960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500"/>
              <a:buFont typeface="Arial"/>
              <a:buNone/>
            </a:pPr>
            <a:r>
              <a:rPr b="1" lang="en" sz="500">
                <a:solidFill>
                  <a:srgbClr val="6FA64B"/>
                </a:solidFill>
                <a:latin typeface="Arial"/>
                <a:ea typeface="Arial"/>
                <a:cs typeface="Arial"/>
                <a:sym typeface="Arial"/>
              </a:rPr>
              <a:t>HIDDEN 1</a:t>
            </a:r>
            <a:endParaRPr sz="500">
              <a:solidFill>
                <a:schemeClr val="dk1"/>
              </a:solidFill>
              <a:latin typeface="Arial"/>
              <a:ea typeface="Arial"/>
              <a:cs typeface="Arial"/>
              <a:sym typeface="Arial"/>
            </a:endParaRPr>
          </a:p>
        </p:txBody>
      </p:sp>
      <p:sp>
        <p:nvSpPr>
          <p:cNvPr id="194" name="Google Shape;194;p12"/>
          <p:cNvSpPr/>
          <p:nvPr/>
        </p:nvSpPr>
        <p:spPr>
          <a:xfrm>
            <a:off x="7420356" y="4070223"/>
            <a:ext cx="137160" cy="137160"/>
          </a:xfrm>
          <a:prstGeom prst="ellipse">
            <a:avLst/>
          </a:prstGeom>
          <a:solidFill>
            <a:srgbClr val="EEF6E8"/>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5" name="Google Shape;195;p12"/>
          <p:cNvSpPr/>
          <p:nvPr/>
        </p:nvSpPr>
        <p:spPr>
          <a:xfrm>
            <a:off x="7420356" y="4227957"/>
            <a:ext cx="137160" cy="137160"/>
          </a:xfrm>
          <a:prstGeom prst="ellipse">
            <a:avLst/>
          </a:prstGeom>
          <a:solidFill>
            <a:srgbClr val="EEF6E8"/>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6" name="Google Shape;196;p12"/>
          <p:cNvSpPr/>
          <p:nvPr/>
        </p:nvSpPr>
        <p:spPr>
          <a:xfrm>
            <a:off x="7420356" y="4385691"/>
            <a:ext cx="137160" cy="137160"/>
          </a:xfrm>
          <a:prstGeom prst="ellipse">
            <a:avLst/>
          </a:prstGeom>
          <a:solidFill>
            <a:srgbClr val="EEF6E8"/>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7" name="Google Shape;197;p12"/>
          <p:cNvSpPr/>
          <p:nvPr/>
        </p:nvSpPr>
        <p:spPr>
          <a:xfrm>
            <a:off x="7420356" y="4543425"/>
            <a:ext cx="137160" cy="137160"/>
          </a:xfrm>
          <a:prstGeom prst="ellipse">
            <a:avLst/>
          </a:prstGeom>
          <a:solidFill>
            <a:srgbClr val="EEF6E8"/>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98" name="Google Shape;198;p12"/>
          <p:cNvSpPr/>
          <p:nvPr/>
        </p:nvSpPr>
        <p:spPr>
          <a:xfrm>
            <a:off x="7296912" y="4649724"/>
            <a:ext cx="384048" cy="960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500"/>
              <a:buFont typeface="Arial"/>
              <a:buNone/>
            </a:pPr>
            <a:r>
              <a:rPr b="1" lang="en" sz="500">
                <a:solidFill>
                  <a:srgbClr val="6FA64B"/>
                </a:solidFill>
                <a:latin typeface="Arial"/>
                <a:ea typeface="Arial"/>
                <a:cs typeface="Arial"/>
                <a:sym typeface="Arial"/>
              </a:rPr>
              <a:t>HIDDEN 2</a:t>
            </a:r>
            <a:endParaRPr sz="500">
              <a:solidFill>
                <a:schemeClr val="dk1"/>
              </a:solidFill>
              <a:latin typeface="Arial"/>
              <a:ea typeface="Arial"/>
              <a:cs typeface="Arial"/>
              <a:sym typeface="Arial"/>
            </a:endParaRPr>
          </a:p>
        </p:txBody>
      </p:sp>
      <p:sp>
        <p:nvSpPr>
          <p:cNvPr id="199" name="Google Shape;199;p12"/>
          <p:cNvSpPr/>
          <p:nvPr/>
        </p:nvSpPr>
        <p:spPr>
          <a:xfrm>
            <a:off x="8195310" y="4227957"/>
            <a:ext cx="137160" cy="137160"/>
          </a:xfrm>
          <a:prstGeom prst="ellipse">
            <a:avLst/>
          </a:prstGeom>
          <a:solidFill>
            <a:srgbClr val="FFF9E8"/>
          </a:solidFill>
          <a:ln cap="flat" cmpd="sng" w="12700">
            <a:solidFill>
              <a:srgbClr val="D4A72C"/>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00" name="Google Shape;200;p12"/>
          <p:cNvSpPr/>
          <p:nvPr/>
        </p:nvSpPr>
        <p:spPr>
          <a:xfrm>
            <a:off x="8195310" y="4385691"/>
            <a:ext cx="137160" cy="137160"/>
          </a:xfrm>
          <a:prstGeom prst="ellipse">
            <a:avLst/>
          </a:prstGeom>
          <a:solidFill>
            <a:srgbClr val="FFF9E8"/>
          </a:solidFill>
          <a:ln cap="flat" cmpd="sng" w="12700">
            <a:solidFill>
              <a:srgbClr val="D4A72C"/>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01" name="Google Shape;201;p12"/>
          <p:cNvSpPr/>
          <p:nvPr/>
        </p:nvSpPr>
        <p:spPr>
          <a:xfrm>
            <a:off x="8071866" y="4649724"/>
            <a:ext cx="384048" cy="960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72C"/>
              </a:buClr>
              <a:buSzPts val="500"/>
              <a:buFont typeface="Arial"/>
              <a:buNone/>
            </a:pPr>
            <a:r>
              <a:rPr b="1" lang="en" sz="500">
                <a:solidFill>
                  <a:srgbClr val="D4A72C"/>
                </a:solidFill>
                <a:latin typeface="Arial"/>
                <a:ea typeface="Arial"/>
                <a:cs typeface="Arial"/>
                <a:sym typeface="Arial"/>
              </a:rPr>
              <a:t>OUTPUT</a:t>
            </a:r>
            <a:endParaRPr sz="500">
              <a:solidFill>
                <a:schemeClr val="dk1"/>
              </a:solidFill>
              <a:latin typeface="Arial"/>
              <a:ea typeface="Arial"/>
              <a:cs typeface="Arial"/>
              <a:sym typeface="Arial"/>
            </a:endParaRPr>
          </a:p>
        </p:txBody>
      </p:sp>
      <p:cxnSp>
        <p:nvCxnSpPr>
          <p:cNvPr id="202" name="Google Shape;202;p12"/>
          <p:cNvCxnSpPr/>
          <p:nvPr/>
        </p:nvCxnSpPr>
        <p:spPr>
          <a:xfrm>
            <a:off x="6035040" y="4217670"/>
            <a:ext cx="699516"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03" name="Google Shape;203;p12"/>
          <p:cNvCxnSpPr/>
          <p:nvPr/>
        </p:nvCxnSpPr>
        <p:spPr>
          <a:xfrm>
            <a:off x="6035040" y="4217670"/>
            <a:ext cx="699516" cy="78867"/>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04" name="Google Shape;204;p12"/>
          <p:cNvCxnSpPr/>
          <p:nvPr/>
        </p:nvCxnSpPr>
        <p:spPr>
          <a:xfrm>
            <a:off x="6035040" y="4217670"/>
            <a:ext cx="699516" cy="236601"/>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05" name="Google Shape;205;p12"/>
          <p:cNvCxnSpPr/>
          <p:nvPr/>
        </p:nvCxnSpPr>
        <p:spPr>
          <a:xfrm>
            <a:off x="6035040" y="4217670"/>
            <a:ext cx="699516" cy="394335"/>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06" name="Google Shape;206;p12"/>
          <p:cNvCxnSpPr/>
          <p:nvPr/>
        </p:nvCxnSpPr>
        <p:spPr>
          <a:xfrm>
            <a:off x="6035040" y="4375404"/>
            <a:ext cx="699516"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07" name="Google Shape;207;p12"/>
          <p:cNvCxnSpPr/>
          <p:nvPr/>
        </p:nvCxnSpPr>
        <p:spPr>
          <a:xfrm>
            <a:off x="6035040" y="4375404"/>
            <a:ext cx="699516"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08" name="Google Shape;208;p12"/>
          <p:cNvCxnSpPr/>
          <p:nvPr/>
        </p:nvCxnSpPr>
        <p:spPr>
          <a:xfrm>
            <a:off x="6035040" y="4375404"/>
            <a:ext cx="699516" cy="78867"/>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09" name="Google Shape;209;p12"/>
          <p:cNvCxnSpPr/>
          <p:nvPr/>
        </p:nvCxnSpPr>
        <p:spPr>
          <a:xfrm>
            <a:off x="6035040" y="4375404"/>
            <a:ext cx="699516" cy="236601"/>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10" name="Google Shape;210;p12"/>
          <p:cNvCxnSpPr/>
          <p:nvPr/>
        </p:nvCxnSpPr>
        <p:spPr>
          <a:xfrm>
            <a:off x="6035040" y="4533138"/>
            <a:ext cx="699516"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11" name="Google Shape;211;p12"/>
          <p:cNvCxnSpPr/>
          <p:nvPr/>
        </p:nvCxnSpPr>
        <p:spPr>
          <a:xfrm>
            <a:off x="6035040" y="4533138"/>
            <a:ext cx="699516"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12" name="Google Shape;212;p12"/>
          <p:cNvCxnSpPr/>
          <p:nvPr/>
        </p:nvCxnSpPr>
        <p:spPr>
          <a:xfrm>
            <a:off x="6035040" y="4533138"/>
            <a:ext cx="699516"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13" name="Google Shape;213;p12"/>
          <p:cNvCxnSpPr/>
          <p:nvPr/>
        </p:nvCxnSpPr>
        <p:spPr>
          <a:xfrm>
            <a:off x="6035040" y="4533138"/>
            <a:ext cx="699516" cy="78867"/>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14" name="Google Shape;214;p12"/>
          <p:cNvCxnSpPr/>
          <p:nvPr/>
        </p:nvCxnSpPr>
        <p:spPr>
          <a:xfrm>
            <a:off x="6734556" y="4138803"/>
            <a:ext cx="754380"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15" name="Google Shape;215;p12"/>
          <p:cNvCxnSpPr/>
          <p:nvPr/>
        </p:nvCxnSpPr>
        <p:spPr>
          <a:xfrm>
            <a:off x="6734556" y="4138803"/>
            <a:ext cx="754380" cy="157734"/>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16" name="Google Shape;216;p12"/>
          <p:cNvCxnSpPr/>
          <p:nvPr/>
        </p:nvCxnSpPr>
        <p:spPr>
          <a:xfrm>
            <a:off x="6734556" y="4138803"/>
            <a:ext cx="754380" cy="315468"/>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17" name="Google Shape;217;p12"/>
          <p:cNvCxnSpPr/>
          <p:nvPr/>
        </p:nvCxnSpPr>
        <p:spPr>
          <a:xfrm>
            <a:off x="6734556" y="4138803"/>
            <a:ext cx="754380" cy="473202"/>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18" name="Google Shape;218;p12"/>
          <p:cNvCxnSpPr/>
          <p:nvPr/>
        </p:nvCxnSpPr>
        <p:spPr>
          <a:xfrm>
            <a:off x="6734556" y="4296537"/>
            <a:ext cx="754380"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19" name="Google Shape;219;p12"/>
          <p:cNvCxnSpPr/>
          <p:nvPr/>
        </p:nvCxnSpPr>
        <p:spPr>
          <a:xfrm>
            <a:off x="6734556" y="4296537"/>
            <a:ext cx="754380"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20" name="Google Shape;220;p12"/>
          <p:cNvCxnSpPr/>
          <p:nvPr/>
        </p:nvCxnSpPr>
        <p:spPr>
          <a:xfrm>
            <a:off x="6734556" y="4296537"/>
            <a:ext cx="754380" cy="157734"/>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21" name="Google Shape;221;p12"/>
          <p:cNvCxnSpPr/>
          <p:nvPr/>
        </p:nvCxnSpPr>
        <p:spPr>
          <a:xfrm>
            <a:off x="6734556" y="4296537"/>
            <a:ext cx="754380" cy="315468"/>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22" name="Google Shape;222;p12"/>
          <p:cNvCxnSpPr/>
          <p:nvPr/>
        </p:nvCxnSpPr>
        <p:spPr>
          <a:xfrm>
            <a:off x="6734556" y="4454271"/>
            <a:ext cx="754380"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23" name="Google Shape;223;p12"/>
          <p:cNvCxnSpPr/>
          <p:nvPr/>
        </p:nvCxnSpPr>
        <p:spPr>
          <a:xfrm>
            <a:off x="6734556" y="4454271"/>
            <a:ext cx="754380"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24" name="Google Shape;224;p12"/>
          <p:cNvCxnSpPr/>
          <p:nvPr/>
        </p:nvCxnSpPr>
        <p:spPr>
          <a:xfrm>
            <a:off x="6734556" y="4454271"/>
            <a:ext cx="754380"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25" name="Google Shape;225;p12"/>
          <p:cNvCxnSpPr/>
          <p:nvPr/>
        </p:nvCxnSpPr>
        <p:spPr>
          <a:xfrm>
            <a:off x="6734556" y="4454271"/>
            <a:ext cx="754380" cy="157734"/>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26" name="Google Shape;226;p12"/>
          <p:cNvCxnSpPr/>
          <p:nvPr/>
        </p:nvCxnSpPr>
        <p:spPr>
          <a:xfrm>
            <a:off x="6734556" y="4612005"/>
            <a:ext cx="754380"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27" name="Google Shape;227;p12"/>
          <p:cNvCxnSpPr/>
          <p:nvPr/>
        </p:nvCxnSpPr>
        <p:spPr>
          <a:xfrm>
            <a:off x="6734556" y="4612005"/>
            <a:ext cx="754380"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28" name="Google Shape;228;p12"/>
          <p:cNvCxnSpPr/>
          <p:nvPr/>
        </p:nvCxnSpPr>
        <p:spPr>
          <a:xfrm>
            <a:off x="6734556" y="4612005"/>
            <a:ext cx="754380"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29" name="Google Shape;229;p12"/>
          <p:cNvCxnSpPr/>
          <p:nvPr/>
        </p:nvCxnSpPr>
        <p:spPr>
          <a:xfrm>
            <a:off x="6734556" y="4612005"/>
            <a:ext cx="754380"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30" name="Google Shape;230;p12"/>
          <p:cNvCxnSpPr/>
          <p:nvPr/>
        </p:nvCxnSpPr>
        <p:spPr>
          <a:xfrm>
            <a:off x="7488936" y="4138803"/>
            <a:ext cx="774954" cy="157734"/>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31" name="Google Shape;231;p12"/>
          <p:cNvCxnSpPr/>
          <p:nvPr/>
        </p:nvCxnSpPr>
        <p:spPr>
          <a:xfrm>
            <a:off x="7488936" y="4138803"/>
            <a:ext cx="774954" cy="315468"/>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32" name="Google Shape;232;p12"/>
          <p:cNvCxnSpPr/>
          <p:nvPr/>
        </p:nvCxnSpPr>
        <p:spPr>
          <a:xfrm>
            <a:off x="7488936" y="4296537"/>
            <a:ext cx="774954"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33" name="Google Shape;233;p12"/>
          <p:cNvCxnSpPr/>
          <p:nvPr/>
        </p:nvCxnSpPr>
        <p:spPr>
          <a:xfrm>
            <a:off x="7488936" y="4296537"/>
            <a:ext cx="774954" cy="157734"/>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34" name="Google Shape;234;p12"/>
          <p:cNvCxnSpPr/>
          <p:nvPr/>
        </p:nvCxnSpPr>
        <p:spPr>
          <a:xfrm>
            <a:off x="7488936" y="4454271"/>
            <a:ext cx="774954"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35" name="Google Shape;235;p12"/>
          <p:cNvCxnSpPr/>
          <p:nvPr/>
        </p:nvCxnSpPr>
        <p:spPr>
          <a:xfrm>
            <a:off x="7488936" y="4454271"/>
            <a:ext cx="774954"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36" name="Google Shape;236;p12"/>
          <p:cNvCxnSpPr/>
          <p:nvPr/>
        </p:nvCxnSpPr>
        <p:spPr>
          <a:xfrm>
            <a:off x="7488936" y="4612005"/>
            <a:ext cx="774954" cy="0"/>
          </a:xfrm>
          <a:prstGeom prst="straightConnector1">
            <a:avLst/>
          </a:prstGeom>
          <a:noFill/>
          <a:ln cap="flat" cmpd="sng" w="9525">
            <a:solidFill>
              <a:srgbClr val="C3CCD1">
                <a:alpha val="65098"/>
              </a:srgbClr>
            </a:solidFill>
            <a:prstDash val="solid"/>
            <a:round/>
            <a:headEnd len="sm" w="sm" type="none"/>
            <a:tailEnd len="sm" w="sm" type="none"/>
          </a:ln>
        </p:spPr>
      </p:cxnSp>
      <p:cxnSp>
        <p:nvCxnSpPr>
          <p:cNvPr id="237" name="Google Shape;237;p12"/>
          <p:cNvCxnSpPr/>
          <p:nvPr/>
        </p:nvCxnSpPr>
        <p:spPr>
          <a:xfrm>
            <a:off x="7488936" y="4612005"/>
            <a:ext cx="774954" cy="0"/>
          </a:xfrm>
          <a:prstGeom prst="straightConnector1">
            <a:avLst/>
          </a:prstGeom>
          <a:noFill/>
          <a:ln cap="flat" cmpd="sng" w="9525">
            <a:solidFill>
              <a:srgbClr val="C3CCD1">
                <a:alpha val="65098"/>
              </a:srgbClr>
            </a:solidFill>
            <a:prstDash val="solid"/>
            <a:round/>
            <a:headEnd len="sm" w="sm" type="none"/>
            <a:tailEnd len="sm" w="sm" type="none"/>
          </a:ln>
        </p:spPr>
      </p:cxnSp>
      <p:sp>
        <p:nvSpPr>
          <p:cNvPr id="238" name="Google Shape;238;p12"/>
          <p:cNvSpPr/>
          <p:nvPr/>
        </p:nvSpPr>
        <p:spPr>
          <a:xfrm>
            <a:off x="452628" y="4821174"/>
            <a:ext cx="774954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790"/>
              </a:buClr>
              <a:buSzPts val="600"/>
              <a:buFont typeface="Arial"/>
              <a:buNone/>
            </a:pPr>
            <a:r>
              <a:rPr lang="en" sz="600">
                <a:solidFill>
                  <a:srgbClr val="7A8790"/>
                </a:solidFill>
                <a:latin typeface="Arial"/>
                <a:ea typeface="Arial"/>
                <a:cs typeface="Arial"/>
                <a:sym typeface="Arial"/>
              </a:rPr>
              <a:t>Landmark: McCulloch &amp; Pitts (1943) formalized an early mathematical neuron model.</a:t>
            </a:r>
            <a:endParaRPr sz="600">
              <a:solidFill>
                <a:schemeClr val="dk1"/>
              </a:solidFill>
              <a:latin typeface="Arial"/>
              <a:ea typeface="Arial"/>
              <a:cs typeface="Arial"/>
              <a:sym typeface="Arial"/>
            </a:endParaRPr>
          </a:p>
        </p:txBody>
      </p:sp>
      <p:sp>
        <p:nvSpPr>
          <p:cNvPr id="239" name="Google Shape;239;p12"/>
          <p:cNvSpPr txBox="1"/>
          <p:nvPr>
            <p:ph idx="4294967295" type="sldNum"/>
          </p:nvPr>
        </p:nvSpPr>
        <p:spPr>
          <a:xfrm>
            <a:off x="8606790" y="4841748"/>
            <a:ext cx="274320" cy="123444"/>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 sz="700">
                <a:solidFill>
                  <a:srgbClr val="5C6B73"/>
                </a:solidFill>
                <a:latin typeface="Arial"/>
                <a:ea typeface="Arial"/>
                <a:cs typeface="Arial"/>
                <a:sym typeface="Arial"/>
              </a:rPr>
              <a:t>‹#›</a:t>
            </a:fld>
            <a:endParaRPr sz="700">
              <a:solidFill>
                <a:srgbClr val="5C6B7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3"/>
          <p:cNvSpPr/>
          <p:nvPr/>
        </p:nvSpPr>
        <p:spPr>
          <a:xfrm>
            <a:off x="445770" y="219456"/>
            <a:ext cx="30861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800"/>
              <a:buFont typeface="Arial"/>
              <a:buNone/>
            </a:pPr>
            <a:r>
              <a:rPr b="1" lang="en" sz="800">
                <a:solidFill>
                  <a:srgbClr val="0E6973"/>
                </a:solidFill>
              </a:rPr>
              <a:t>James Delgado </a:t>
            </a:r>
            <a:r>
              <a:rPr b="1" lang="en" sz="800">
                <a:solidFill>
                  <a:srgbClr val="0E6973"/>
                </a:solidFill>
                <a:latin typeface="Arial"/>
                <a:ea typeface="Arial"/>
                <a:cs typeface="Arial"/>
                <a:sym typeface="Arial"/>
              </a:rPr>
              <a:t>• NEURAL NETWORK BASICS</a:t>
            </a:r>
            <a:endParaRPr sz="800">
              <a:solidFill>
                <a:schemeClr val="dk1"/>
              </a:solidFill>
              <a:latin typeface="Arial"/>
              <a:ea typeface="Arial"/>
              <a:cs typeface="Arial"/>
              <a:sym typeface="Arial"/>
            </a:endParaRPr>
          </a:p>
        </p:txBody>
      </p:sp>
      <p:sp>
        <p:nvSpPr>
          <p:cNvPr id="246" name="Google Shape;246;p13"/>
          <p:cNvSpPr/>
          <p:nvPr/>
        </p:nvSpPr>
        <p:spPr>
          <a:xfrm>
            <a:off x="445770" y="466344"/>
            <a:ext cx="8092440" cy="397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2100"/>
              <a:buFont typeface="Play"/>
              <a:buNone/>
            </a:pPr>
            <a:r>
              <a:rPr b="1" lang="en" sz="2100">
                <a:solidFill>
                  <a:srgbClr val="102A43"/>
                </a:solidFill>
                <a:latin typeface="Play"/>
                <a:ea typeface="Play"/>
                <a:cs typeface="Play"/>
                <a:sym typeface="Play"/>
              </a:rPr>
              <a:t>Why a CNN adds convolution</a:t>
            </a:r>
            <a:endParaRPr sz="2100">
              <a:solidFill>
                <a:schemeClr val="dk1"/>
              </a:solidFill>
              <a:latin typeface="Arial"/>
              <a:ea typeface="Arial"/>
              <a:cs typeface="Arial"/>
              <a:sym typeface="Arial"/>
            </a:endParaRPr>
          </a:p>
        </p:txBody>
      </p:sp>
      <p:sp>
        <p:nvSpPr>
          <p:cNvPr id="247" name="Google Shape;247;p13"/>
          <p:cNvSpPr/>
          <p:nvPr/>
        </p:nvSpPr>
        <p:spPr>
          <a:xfrm>
            <a:off x="466344" y="973836"/>
            <a:ext cx="2914650" cy="3737610"/>
          </a:xfrm>
          <a:prstGeom prst="roundRect">
            <a:avLst>
              <a:gd fmla="val 1882" name="adj"/>
            </a:avLst>
          </a:prstGeom>
          <a:solidFill>
            <a:srgbClr val="FFFFFF"/>
          </a:solidFill>
          <a:ln cap="flat" cmpd="sng" w="12700">
            <a:solidFill>
              <a:srgbClr val="D6E2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48" name="Google Shape;248;p13"/>
          <p:cNvSpPr/>
          <p:nvPr/>
        </p:nvSpPr>
        <p:spPr>
          <a:xfrm>
            <a:off x="672084" y="1179576"/>
            <a:ext cx="212598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000"/>
              <a:buFont typeface="Arial"/>
              <a:buNone/>
            </a:pPr>
            <a:r>
              <a:rPr b="1" lang="en" sz="1000">
                <a:solidFill>
                  <a:srgbClr val="102A43"/>
                </a:solidFill>
                <a:latin typeface="Arial"/>
                <a:ea typeface="Arial"/>
                <a:cs typeface="Arial"/>
                <a:sym typeface="Arial"/>
              </a:rPr>
              <a:t>FROM LAYERS TO CONVOLUTION</a:t>
            </a:r>
            <a:endParaRPr sz="1000">
              <a:solidFill>
                <a:schemeClr val="dk1"/>
              </a:solidFill>
              <a:latin typeface="Arial"/>
              <a:ea typeface="Arial"/>
              <a:cs typeface="Arial"/>
              <a:sym typeface="Arial"/>
            </a:endParaRPr>
          </a:p>
        </p:txBody>
      </p:sp>
      <p:sp>
        <p:nvSpPr>
          <p:cNvPr id="249" name="Google Shape;249;p13"/>
          <p:cNvSpPr/>
          <p:nvPr/>
        </p:nvSpPr>
        <p:spPr>
          <a:xfrm>
            <a:off x="672084" y="1440180"/>
            <a:ext cx="236601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1000"/>
              <a:buFont typeface="Arial"/>
              <a:buNone/>
            </a:pPr>
            <a:r>
              <a:rPr lang="en" sz="1000">
                <a:solidFill>
                  <a:srgbClr val="1B2B34"/>
                </a:solidFill>
                <a:latin typeface="Arial"/>
                <a:ea typeface="Arial"/>
                <a:cs typeface="Arial"/>
                <a:sym typeface="Arial"/>
              </a:rPr>
              <a:t>A basic neural network gives us layers. But an image has a special structure:</a:t>
            </a:r>
            <a:endParaRPr sz="1000">
              <a:solidFill>
                <a:schemeClr val="dk1"/>
              </a:solidFill>
              <a:latin typeface="Arial"/>
              <a:ea typeface="Arial"/>
              <a:cs typeface="Arial"/>
              <a:sym typeface="Arial"/>
            </a:endParaRPr>
          </a:p>
        </p:txBody>
      </p:sp>
      <p:sp>
        <p:nvSpPr>
          <p:cNvPr id="250" name="Google Shape;250;p13"/>
          <p:cNvSpPr/>
          <p:nvPr/>
        </p:nvSpPr>
        <p:spPr>
          <a:xfrm>
            <a:off x="685800" y="1961388"/>
            <a:ext cx="260604" cy="260604"/>
          </a:xfrm>
          <a:prstGeom prst="ellipse">
            <a:avLst/>
          </a:prstGeom>
          <a:solidFill>
            <a:srgbClr val="0E6973"/>
          </a:solidFill>
          <a:ln cap="flat" cmpd="sng" w="12700">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51" name="Google Shape;251;p13"/>
          <p:cNvSpPr/>
          <p:nvPr/>
        </p:nvSpPr>
        <p:spPr>
          <a:xfrm>
            <a:off x="685800" y="2023110"/>
            <a:ext cx="260604"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 sz="800">
                <a:solidFill>
                  <a:srgbClr val="FFFFFF"/>
                </a:solidFill>
                <a:latin typeface="Arial"/>
                <a:ea typeface="Arial"/>
                <a:cs typeface="Arial"/>
                <a:sym typeface="Arial"/>
              </a:rPr>
              <a:t>1</a:t>
            </a:r>
            <a:endParaRPr sz="800">
              <a:solidFill>
                <a:schemeClr val="dk1"/>
              </a:solidFill>
              <a:latin typeface="Arial"/>
              <a:ea typeface="Arial"/>
              <a:cs typeface="Arial"/>
              <a:sym typeface="Arial"/>
            </a:endParaRPr>
          </a:p>
        </p:txBody>
      </p:sp>
      <p:sp>
        <p:nvSpPr>
          <p:cNvPr id="252" name="Google Shape;252;p13"/>
          <p:cNvSpPr/>
          <p:nvPr/>
        </p:nvSpPr>
        <p:spPr>
          <a:xfrm>
            <a:off x="1062990" y="1947672"/>
            <a:ext cx="195453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900"/>
              <a:buFont typeface="Arial"/>
              <a:buNone/>
            </a:pPr>
            <a:r>
              <a:rPr b="1" lang="en" sz="900">
                <a:solidFill>
                  <a:srgbClr val="1B2B34"/>
                </a:solidFill>
                <a:latin typeface="Arial"/>
                <a:ea typeface="Arial"/>
                <a:cs typeface="Arial"/>
                <a:sym typeface="Arial"/>
              </a:rPr>
              <a:t>Pixels have neighbors</a:t>
            </a:r>
            <a:endParaRPr sz="900">
              <a:solidFill>
                <a:schemeClr val="dk1"/>
              </a:solidFill>
              <a:latin typeface="Arial"/>
              <a:ea typeface="Arial"/>
              <a:cs typeface="Arial"/>
              <a:sym typeface="Arial"/>
            </a:endParaRPr>
          </a:p>
        </p:txBody>
      </p:sp>
      <p:sp>
        <p:nvSpPr>
          <p:cNvPr id="253" name="Google Shape;253;p13"/>
          <p:cNvSpPr/>
          <p:nvPr/>
        </p:nvSpPr>
        <p:spPr>
          <a:xfrm>
            <a:off x="1062990" y="2125980"/>
            <a:ext cx="1954530" cy="2948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3"/>
              </a:buClr>
              <a:buSzPts val="800"/>
              <a:buFont typeface="Arial"/>
              <a:buNone/>
            </a:pPr>
            <a:r>
              <a:rPr lang="en" sz="800">
                <a:solidFill>
                  <a:srgbClr val="5C6B73"/>
                </a:solidFill>
                <a:latin typeface="Arial"/>
                <a:ea typeface="Arial"/>
                <a:cs typeface="Arial"/>
                <a:sym typeface="Arial"/>
              </a:rPr>
              <a:t>Edges and textures are local patterns, not isolated pixels.</a:t>
            </a:r>
            <a:endParaRPr sz="800">
              <a:solidFill>
                <a:schemeClr val="dk1"/>
              </a:solidFill>
              <a:latin typeface="Arial"/>
              <a:ea typeface="Arial"/>
              <a:cs typeface="Arial"/>
              <a:sym typeface="Arial"/>
            </a:endParaRPr>
          </a:p>
        </p:txBody>
      </p:sp>
      <p:sp>
        <p:nvSpPr>
          <p:cNvPr id="254" name="Google Shape;254;p13"/>
          <p:cNvSpPr/>
          <p:nvPr/>
        </p:nvSpPr>
        <p:spPr>
          <a:xfrm>
            <a:off x="685800" y="2592324"/>
            <a:ext cx="260604" cy="260604"/>
          </a:xfrm>
          <a:prstGeom prst="ellipse">
            <a:avLst/>
          </a:prstGeom>
          <a:solidFill>
            <a:srgbClr val="0E6973"/>
          </a:solidFill>
          <a:ln cap="flat" cmpd="sng" w="12700">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55" name="Google Shape;255;p13"/>
          <p:cNvSpPr/>
          <p:nvPr/>
        </p:nvSpPr>
        <p:spPr>
          <a:xfrm>
            <a:off x="685800" y="2654046"/>
            <a:ext cx="260604"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 sz="800">
                <a:solidFill>
                  <a:srgbClr val="FFFFFF"/>
                </a:solidFill>
                <a:latin typeface="Arial"/>
                <a:ea typeface="Arial"/>
                <a:cs typeface="Arial"/>
                <a:sym typeface="Arial"/>
              </a:rPr>
              <a:t>2</a:t>
            </a:r>
            <a:endParaRPr sz="800">
              <a:solidFill>
                <a:schemeClr val="dk1"/>
              </a:solidFill>
              <a:latin typeface="Arial"/>
              <a:ea typeface="Arial"/>
              <a:cs typeface="Arial"/>
              <a:sym typeface="Arial"/>
            </a:endParaRPr>
          </a:p>
        </p:txBody>
      </p:sp>
      <p:sp>
        <p:nvSpPr>
          <p:cNvPr id="256" name="Google Shape;256;p13"/>
          <p:cNvSpPr/>
          <p:nvPr/>
        </p:nvSpPr>
        <p:spPr>
          <a:xfrm>
            <a:off x="1062990" y="2578608"/>
            <a:ext cx="195453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900"/>
              <a:buFont typeface="Arial"/>
              <a:buNone/>
            </a:pPr>
            <a:r>
              <a:rPr b="1" lang="en" sz="900">
                <a:solidFill>
                  <a:srgbClr val="1B2B34"/>
                </a:solidFill>
                <a:latin typeface="Arial"/>
                <a:ea typeface="Arial"/>
                <a:cs typeface="Arial"/>
                <a:sym typeface="Arial"/>
              </a:rPr>
              <a:t>Patterns move around</a:t>
            </a:r>
            <a:endParaRPr sz="900">
              <a:solidFill>
                <a:schemeClr val="dk1"/>
              </a:solidFill>
              <a:latin typeface="Arial"/>
              <a:ea typeface="Arial"/>
              <a:cs typeface="Arial"/>
              <a:sym typeface="Arial"/>
            </a:endParaRPr>
          </a:p>
        </p:txBody>
      </p:sp>
      <p:sp>
        <p:nvSpPr>
          <p:cNvPr id="257" name="Google Shape;257;p13"/>
          <p:cNvSpPr/>
          <p:nvPr/>
        </p:nvSpPr>
        <p:spPr>
          <a:xfrm>
            <a:off x="1062990" y="2756916"/>
            <a:ext cx="1954530" cy="2948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3"/>
              </a:buClr>
              <a:buSzPts val="800"/>
              <a:buFont typeface="Arial"/>
              <a:buNone/>
            </a:pPr>
            <a:r>
              <a:rPr lang="en" sz="800">
                <a:solidFill>
                  <a:srgbClr val="5C6B73"/>
                </a:solidFill>
                <a:latin typeface="Arial"/>
                <a:ea typeface="Arial"/>
                <a:cs typeface="Arial"/>
                <a:sym typeface="Arial"/>
              </a:rPr>
              <a:t>The same edge can appear anywhere in the image.</a:t>
            </a:r>
            <a:endParaRPr sz="800">
              <a:solidFill>
                <a:schemeClr val="dk1"/>
              </a:solidFill>
              <a:latin typeface="Arial"/>
              <a:ea typeface="Arial"/>
              <a:cs typeface="Arial"/>
              <a:sym typeface="Arial"/>
            </a:endParaRPr>
          </a:p>
        </p:txBody>
      </p:sp>
      <p:sp>
        <p:nvSpPr>
          <p:cNvPr id="258" name="Google Shape;258;p13"/>
          <p:cNvSpPr/>
          <p:nvPr/>
        </p:nvSpPr>
        <p:spPr>
          <a:xfrm>
            <a:off x="685800" y="3223260"/>
            <a:ext cx="260604" cy="260604"/>
          </a:xfrm>
          <a:prstGeom prst="ellipse">
            <a:avLst/>
          </a:prstGeom>
          <a:solidFill>
            <a:srgbClr val="6FA64B"/>
          </a:solidFill>
          <a:ln cap="flat" cmpd="sng" w="12700">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59" name="Google Shape;259;p13"/>
          <p:cNvSpPr/>
          <p:nvPr/>
        </p:nvSpPr>
        <p:spPr>
          <a:xfrm>
            <a:off x="685800" y="3284982"/>
            <a:ext cx="260604"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 sz="800">
                <a:solidFill>
                  <a:srgbClr val="FFFFFF"/>
                </a:solidFill>
                <a:latin typeface="Arial"/>
                <a:ea typeface="Arial"/>
                <a:cs typeface="Arial"/>
                <a:sym typeface="Arial"/>
              </a:rPr>
              <a:t>3</a:t>
            </a:r>
            <a:endParaRPr sz="800">
              <a:solidFill>
                <a:schemeClr val="dk1"/>
              </a:solidFill>
              <a:latin typeface="Arial"/>
              <a:ea typeface="Arial"/>
              <a:cs typeface="Arial"/>
              <a:sym typeface="Arial"/>
            </a:endParaRPr>
          </a:p>
        </p:txBody>
      </p:sp>
      <p:sp>
        <p:nvSpPr>
          <p:cNvPr id="260" name="Google Shape;260;p13"/>
          <p:cNvSpPr/>
          <p:nvPr/>
        </p:nvSpPr>
        <p:spPr>
          <a:xfrm>
            <a:off x="1062990" y="3209544"/>
            <a:ext cx="195453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900"/>
              <a:buFont typeface="Arial"/>
              <a:buNone/>
            </a:pPr>
            <a:r>
              <a:rPr b="1" lang="en" sz="900">
                <a:solidFill>
                  <a:srgbClr val="1B2B34"/>
                </a:solidFill>
                <a:latin typeface="Arial"/>
                <a:ea typeface="Arial"/>
                <a:cs typeface="Arial"/>
                <a:sym typeface="Arial"/>
              </a:rPr>
              <a:t>Reuse one detector</a:t>
            </a:r>
            <a:endParaRPr sz="900">
              <a:solidFill>
                <a:schemeClr val="dk1"/>
              </a:solidFill>
              <a:latin typeface="Arial"/>
              <a:ea typeface="Arial"/>
              <a:cs typeface="Arial"/>
              <a:sym typeface="Arial"/>
            </a:endParaRPr>
          </a:p>
        </p:txBody>
      </p:sp>
      <p:sp>
        <p:nvSpPr>
          <p:cNvPr id="261" name="Google Shape;261;p13"/>
          <p:cNvSpPr/>
          <p:nvPr/>
        </p:nvSpPr>
        <p:spPr>
          <a:xfrm>
            <a:off x="1062990" y="3387852"/>
            <a:ext cx="1954530" cy="2948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3"/>
              </a:buClr>
              <a:buSzPts val="800"/>
              <a:buFont typeface="Arial"/>
              <a:buNone/>
            </a:pPr>
            <a:r>
              <a:rPr lang="en" sz="800">
                <a:solidFill>
                  <a:srgbClr val="5C6B73"/>
                </a:solidFill>
                <a:latin typeface="Arial"/>
                <a:ea typeface="Arial"/>
                <a:cs typeface="Arial"/>
                <a:sym typeface="Arial"/>
              </a:rPr>
              <a:t>CNNs use the same small filter across many local regions.</a:t>
            </a:r>
            <a:endParaRPr sz="800">
              <a:solidFill>
                <a:schemeClr val="dk1"/>
              </a:solidFill>
              <a:latin typeface="Arial"/>
              <a:ea typeface="Arial"/>
              <a:cs typeface="Arial"/>
              <a:sym typeface="Arial"/>
            </a:endParaRPr>
          </a:p>
        </p:txBody>
      </p:sp>
      <p:sp>
        <p:nvSpPr>
          <p:cNvPr id="262" name="Google Shape;262;p13"/>
          <p:cNvSpPr/>
          <p:nvPr/>
        </p:nvSpPr>
        <p:spPr>
          <a:xfrm>
            <a:off x="672084" y="3950208"/>
            <a:ext cx="2510028" cy="425196"/>
          </a:xfrm>
          <a:prstGeom prst="roundRect">
            <a:avLst>
              <a:gd fmla="val 6452" name="adj"/>
            </a:avLst>
          </a:prstGeom>
          <a:solidFill>
            <a:srgbClr val="EEF6E8"/>
          </a:solidFill>
          <a:ln cap="flat" cmpd="sng" w="12700">
            <a:solidFill>
              <a:srgbClr val="C8DEB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63" name="Google Shape;263;p13"/>
          <p:cNvSpPr/>
          <p:nvPr/>
        </p:nvSpPr>
        <p:spPr>
          <a:xfrm>
            <a:off x="802386" y="4053078"/>
            <a:ext cx="2249424" cy="2057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800"/>
              <a:buFont typeface="Arial"/>
              <a:buNone/>
            </a:pPr>
            <a:r>
              <a:rPr b="1" lang="en" sz="800">
                <a:solidFill>
                  <a:srgbClr val="6FA64B"/>
                </a:solidFill>
                <a:latin typeface="Arial"/>
                <a:ea typeface="Arial"/>
                <a:cs typeface="Arial"/>
                <a:sym typeface="Arial"/>
              </a:rPr>
              <a:t>Deep learning = many layers</a:t>
            </a:r>
            <a:endParaRPr sz="800">
              <a:solidFill>
                <a:schemeClr val="dk1"/>
              </a:solidFill>
              <a:latin typeface="Arial"/>
              <a:ea typeface="Arial"/>
              <a:cs typeface="Arial"/>
              <a:sym typeface="Arial"/>
            </a:endParaRPr>
          </a:p>
          <a:p>
            <a:pPr indent="0" lvl="0" marL="0" marR="0" rtl="0" algn="ctr">
              <a:spcBef>
                <a:spcPts val="0"/>
              </a:spcBef>
              <a:spcAft>
                <a:spcPts val="0"/>
              </a:spcAft>
              <a:buClr>
                <a:srgbClr val="6FA64B"/>
              </a:buClr>
              <a:buSzPts val="800"/>
              <a:buFont typeface="Arial"/>
              <a:buNone/>
            </a:pPr>
            <a:r>
              <a:rPr b="1" lang="en" sz="800">
                <a:solidFill>
                  <a:srgbClr val="6FA64B"/>
                </a:solidFill>
                <a:latin typeface="Arial"/>
                <a:ea typeface="Arial"/>
                <a:cs typeface="Arial"/>
                <a:sym typeface="Arial"/>
              </a:rPr>
              <a:t>CNN = layers designed to exploit local image patterns</a:t>
            </a:r>
            <a:endParaRPr sz="800">
              <a:solidFill>
                <a:schemeClr val="dk1"/>
              </a:solidFill>
              <a:latin typeface="Arial"/>
              <a:ea typeface="Arial"/>
              <a:cs typeface="Arial"/>
              <a:sym typeface="Arial"/>
            </a:endParaRPr>
          </a:p>
        </p:txBody>
      </p:sp>
      <p:sp>
        <p:nvSpPr>
          <p:cNvPr id="264" name="Google Shape;264;p13"/>
          <p:cNvSpPr/>
          <p:nvPr/>
        </p:nvSpPr>
        <p:spPr>
          <a:xfrm>
            <a:off x="3401567" y="1056132"/>
            <a:ext cx="5583280" cy="3662172"/>
          </a:xfrm>
          <a:prstGeom prst="roundRect">
            <a:avLst>
              <a:gd fmla="val 1468" name="adj"/>
            </a:avLst>
          </a:prstGeom>
          <a:solidFill>
            <a:srgbClr val="FFFFFF"/>
          </a:solidFill>
          <a:ln cap="flat" cmpd="sng" w="12700">
            <a:solidFill>
              <a:srgbClr val="D6E2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65" name="Google Shape;265;p13"/>
          <p:cNvSpPr/>
          <p:nvPr/>
        </p:nvSpPr>
        <p:spPr>
          <a:xfrm>
            <a:off x="3806190" y="1179576"/>
            <a:ext cx="294894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1000"/>
              <a:buFont typeface="Arial"/>
              <a:buNone/>
            </a:pPr>
            <a:r>
              <a:rPr b="1" lang="en" sz="1000">
                <a:solidFill>
                  <a:srgbClr val="0E6973"/>
                </a:solidFill>
                <a:latin typeface="Arial"/>
                <a:ea typeface="Arial"/>
                <a:cs typeface="Arial"/>
                <a:sym typeface="Arial"/>
              </a:rPr>
              <a:t>WHY IS IT CALLED 'CONVOLUTIONAL'?</a:t>
            </a:r>
            <a:endParaRPr sz="1000">
              <a:solidFill>
                <a:schemeClr val="dk1"/>
              </a:solidFill>
              <a:latin typeface="Arial"/>
              <a:ea typeface="Arial"/>
              <a:cs typeface="Arial"/>
              <a:sym typeface="Arial"/>
            </a:endParaRPr>
          </a:p>
        </p:txBody>
      </p:sp>
      <p:sp>
        <p:nvSpPr>
          <p:cNvPr id="266" name="Google Shape;266;p13"/>
          <p:cNvSpPr/>
          <p:nvPr/>
        </p:nvSpPr>
        <p:spPr>
          <a:xfrm>
            <a:off x="3806190" y="1405890"/>
            <a:ext cx="243459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1200"/>
              <a:buFont typeface="Arial"/>
              <a:buNone/>
            </a:pPr>
            <a:r>
              <a:rPr b="1" lang="en" sz="1200">
                <a:solidFill>
                  <a:srgbClr val="102A43"/>
                </a:solidFill>
                <a:latin typeface="Arial"/>
                <a:ea typeface="Arial"/>
                <a:cs typeface="Arial"/>
                <a:sym typeface="Arial"/>
              </a:rPr>
              <a:t>The name comes from the operation itself.</a:t>
            </a:r>
            <a:endParaRPr sz="1200">
              <a:solidFill>
                <a:schemeClr val="dk1"/>
              </a:solidFill>
              <a:latin typeface="Arial"/>
              <a:ea typeface="Arial"/>
              <a:cs typeface="Arial"/>
              <a:sym typeface="Arial"/>
            </a:endParaRPr>
          </a:p>
        </p:txBody>
      </p:sp>
      <p:sp>
        <p:nvSpPr>
          <p:cNvPr id="267" name="Google Shape;267;p13"/>
          <p:cNvSpPr/>
          <p:nvPr/>
        </p:nvSpPr>
        <p:spPr>
          <a:xfrm>
            <a:off x="3806190" y="1645920"/>
            <a:ext cx="4491990" cy="5074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3"/>
              </a:buClr>
              <a:buSzPts val="900"/>
              <a:buFont typeface="Arial"/>
              <a:buNone/>
            </a:pPr>
            <a:r>
              <a:rPr lang="en" sz="900">
                <a:solidFill>
                  <a:srgbClr val="5C6B73"/>
                </a:solidFill>
                <a:latin typeface="Arial"/>
                <a:ea typeface="Arial"/>
                <a:cs typeface="Arial"/>
                <a:sym typeface="Arial"/>
              </a:rPr>
              <a:t>Convolution comes from the Latin root convolvere, “to roll together.” In image processing, a small filter is combined with one local region, then reused/rolled across the image. That repeated local operation is why the network is called convolutional.</a:t>
            </a:r>
            <a:endParaRPr sz="900">
              <a:solidFill>
                <a:schemeClr val="dk1"/>
              </a:solidFill>
              <a:latin typeface="Arial"/>
              <a:ea typeface="Arial"/>
              <a:cs typeface="Arial"/>
              <a:sym typeface="Arial"/>
            </a:endParaRPr>
          </a:p>
        </p:txBody>
      </p:sp>
      <p:sp>
        <p:nvSpPr>
          <p:cNvPr id="268" name="Google Shape;268;p13"/>
          <p:cNvSpPr/>
          <p:nvPr/>
        </p:nvSpPr>
        <p:spPr>
          <a:xfrm>
            <a:off x="3806190" y="2276856"/>
            <a:ext cx="26746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900"/>
              <a:buFont typeface="Arial"/>
              <a:buNone/>
            </a:pPr>
            <a:r>
              <a:rPr b="1" lang="en" sz="900">
                <a:solidFill>
                  <a:srgbClr val="102A43"/>
                </a:solidFill>
                <a:latin typeface="Arial"/>
                <a:ea typeface="Arial"/>
                <a:cs typeface="Arial"/>
                <a:sym typeface="Arial"/>
              </a:rPr>
              <a:t>Toy analogy: a sliding reveal toy (scanimation)</a:t>
            </a:r>
            <a:endParaRPr sz="900">
              <a:solidFill>
                <a:schemeClr val="dk1"/>
              </a:solidFill>
              <a:latin typeface="Arial"/>
              <a:ea typeface="Arial"/>
              <a:cs typeface="Arial"/>
              <a:sym typeface="Arial"/>
            </a:endParaRPr>
          </a:p>
        </p:txBody>
      </p:sp>
      <p:pic>
        <p:nvPicPr>
          <p:cNvPr descr="/mnt/data/ghostwriter_images/generated/a_clean_educational_infographic_on_a_light_backgro_1.png" id="269" name="Google Shape;269;p13"/>
          <p:cNvPicPr preferRelativeResize="0"/>
          <p:nvPr/>
        </p:nvPicPr>
        <p:blipFill rotWithShape="1">
          <a:blip r:embed="rId3">
            <a:alphaModFix/>
          </a:blip>
          <a:srcRect b="0" l="0" r="0" t="0"/>
          <a:stretch/>
        </p:blipFill>
        <p:spPr>
          <a:xfrm>
            <a:off x="3826764" y="2468880"/>
            <a:ext cx="2894076" cy="1625346"/>
          </a:xfrm>
          <a:prstGeom prst="rect">
            <a:avLst/>
          </a:prstGeom>
          <a:noFill/>
          <a:ln>
            <a:noFill/>
          </a:ln>
        </p:spPr>
      </p:pic>
      <p:sp>
        <p:nvSpPr>
          <p:cNvPr id="270" name="Google Shape;270;p13"/>
          <p:cNvSpPr/>
          <p:nvPr/>
        </p:nvSpPr>
        <p:spPr>
          <a:xfrm>
            <a:off x="3826764" y="4128516"/>
            <a:ext cx="2866644"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700"/>
              <a:buFont typeface="Arial"/>
              <a:buNone/>
            </a:pPr>
            <a:r>
              <a:rPr lang="en" sz="700">
                <a:solidFill>
                  <a:srgbClr val="1B2B34"/>
                </a:solidFill>
                <a:latin typeface="Arial"/>
                <a:ea typeface="Arial"/>
                <a:cs typeface="Arial"/>
                <a:sym typeface="Arial"/>
              </a:rPr>
              <a:t>The toy gives the intuition of a moving local window. A CNN filter also moves across the image, but instead of revealing a picture, it calculates a pattern response.</a:t>
            </a:r>
            <a:endParaRPr sz="700">
              <a:solidFill>
                <a:schemeClr val="dk1"/>
              </a:solidFill>
              <a:latin typeface="Arial"/>
              <a:ea typeface="Arial"/>
              <a:cs typeface="Arial"/>
              <a:sym typeface="Arial"/>
            </a:endParaRPr>
          </a:p>
        </p:txBody>
      </p:sp>
      <p:sp>
        <p:nvSpPr>
          <p:cNvPr id="271" name="Google Shape;271;p13"/>
          <p:cNvSpPr/>
          <p:nvPr/>
        </p:nvSpPr>
        <p:spPr>
          <a:xfrm>
            <a:off x="6995160" y="2318004"/>
            <a:ext cx="1337310" cy="137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900"/>
              <a:buFont typeface="Arial"/>
              <a:buNone/>
            </a:pPr>
            <a:r>
              <a:rPr b="1" lang="en" sz="900">
                <a:solidFill>
                  <a:srgbClr val="102A43"/>
                </a:solidFill>
                <a:latin typeface="Arial"/>
                <a:ea typeface="Arial"/>
                <a:cs typeface="Arial"/>
                <a:sym typeface="Arial"/>
              </a:rPr>
              <a:t>Edge-detection example</a:t>
            </a:r>
            <a:endParaRPr sz="900">
              <a:solidFill>
                <a:schemeClr val="dk1"/>
              </a:solidFill>
              <a:latin typeface="Arial"/>
              <a:ea typeface="Arial"/>
              <a:cs typeface="Arial"/>
              <a:sym typeface="Arial"/>
            </a:endParaRPr>
          </a:p>
        </p:txBody>
      </p:sp>
      <p:sp>
        <p:nvSpPr>
          <p:cNvPr id="272" name="Google Shape;272;p13"/>
          <p:cNvSpPr/>
          <p:nvPr/>
        </p:nvSpPr>
        <p:spPr>
          <a:xfrm>
            <a:off x="6981444" y="2551176"/>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73" name="Google Shape;273;p13"/>
          <p:cNvSpPr/>
          <p:nvPr/>
        </p:nvSpPr>
        <p:spPr>
          <a:xfrm>
            <a:off x="7022592" y="2585466"/>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500"/>
              <a:buFont typeface="Arial"/>
              <a:buNone/>
            </a:pPr>
            <a:r>
              <a:rPr b="1" lang="en" sz="500">
                <a:solidFill>
                  <a:srgbClr val="5C6B73"/>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274" name="Google Shape;274;p13"/>
          <p:cNvSpPr/>
          <p:nvPr/>
        </p:nvSpPr>
        <p:spPr>
          <a:xfrm>
            <a:off x="7132320" y="2551176"/>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75" name="Google Shape;275;p13"/>
          <p:cNvSpPr/>
          <p:nvPr/>
        </p:nvSpPr>
        <p:spPr>
          <a:xfrm>
            <a:off x="7173468" y="2585466"/>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500"/>
              <a:buFont typeface="Arial"/>
              <a:buNone/>
            </a:pPr>
            <a:r>
              <a:rPr b="1" lang="en" sz="500">
                <a:solidFill>
                  <a:srgbClr val="5C6B73"/>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276" name="Google Shape;276;p13"/>
          <p:cNvSpPr/>
          <p:nvPr/>
        </p:nvSpPr>
        <p:spPr>
          <a:xfrm>
            <a:off x="7283196" y="2551176"/>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77" name="Google Shape;277;p13"/>
          <p:cNvSpPr/>
          <p:nvPr/>
        </p:nvSpPr>
        <p:spPr>
          <a:xfrm>
            <a:off x="7324344" y="2585466"/>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500"/>
              <a:buFont typeface="Arial"/>
              <a:buNone/>
            </a:pPr>
            <a:r>
              <a:rPr b="1" lang="en" sz="500">
                <a:solidFill>
                  <a:srgbClr val="5C6B73"/>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278" name="Google Shape;278;p13"/>
          <p:cNvSpPr/>
          <p:nvPr/>
        </p:nvSpPr>
        <p:spPr>
          <a:xfrm>
            <a:off x="7434072" y="2551176"/>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79" name="Google Shape;279;p13"/>
          <p:cNvSpPr/>
          <p:nvPr/>
        </p:nvSpPr>
        <p:spPr>
          <a:xfrm>
            <a:off x="7475220" y="2585466"/>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500"/>
              <a:buFont typeface="Arial"/>
              <a:buNone/>
            </a:pPr>
            <a:r>
              <a:rPr b="1" lang="en" sz="500">
                <a:solidFill>
                  <a:srgbClr val="5C6B73"/>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280" name="Google Shape;280;p13"/>
          <p:cNvSpPr/>
          <p:nvPr/>
        </p:nvSpPr>
        <p:spPr>
          <a:xfrm>
            <a:off x="7584948" y="2551176"/>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81" name="Google Shape;281;p13"/>
          <p:cNvSpPr/>
          <p:nvPr/>
        </p:nvSpPr>
        <p:spPr>
          <a:xfrm>
            <a:off x="7626096" y="2585466"/>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500"/>
              <a:buFont typeface="Arial"/>
              <a:buNone/>
            </a:pPr>
            <a:r>
              <a:rPr b="1" lang="en" sz="500">
                <a:solidFill>
                  <a:srgbClr val="5C6B73"/>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282" name="Google Shape;282;p13"/>
          <p:cNvSpPr/>
          <p:nvPr/>
        </p:nvSpPr>
        <p:spPr>
          <a:xfrm>
            <a:off x="6981444" y="2702052"/>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83" name="Google Shape;283;p13"/>
          <p:cNvSpPr/>
          <p:nvPr/>
        </p:nvSpPr>
        <p:spPr>
          <a:xfrm>
            <a:off x="7022592" y="2736342"/>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500"/>
              <a:buFont typeface="Arial"/>
              <a:buNone/>
            </a:pPr>
            <a:r>
              <a:rPr b="1" lang="en" sz="500">
                <a:solidFill>
                  <a:srgbClr val="5C6B73"/>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284" name="Google Shape;284;p13"/>
          <p:cNvSpPr/>
          <p:nvPr/>
        </p:nvSpPr>
        <p:spPr>
          <a:xfrm>
            <a:off x="7132320" y="2702052"/>
            <a:ext cx="150876" cy="150876"/>
          </a:xfrm>
          <a:prstGeom prst="rect">
            <a:avLst/>
          </a:prstGeom>
          <a:solidFill>
            <a:srgbClr val="F4F6F8"/>
          </a:solidFill>
          <a:ln cap="flat" cmpd="sng" w="11425">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85" name="Google Shape;285;p13"/>
          <p:cNvSpPr/>
          <p:nvPr/>
        </p:nvSpPr>
        <p:spPr>
          <a:xfrm>
            <a:off x="7173468" y="2736342"/>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500"/>
              <a:buFont typeface="Arial"/>
              <a:buNone/>
            </a:pPr>
            <a:r>
              <a:rPr b="1" lang="en" sz="500">
                <a:solidFill>
                  <a:srgbClr val="5C6B73"/>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286" name="Google Shape;286;p13"/>
          <p:cNvSpPr/>
          <p:nvPr/>
        </p:nvSpPr>
        <p:spPr>
          <a:xfrm>
            <a:off x="7283196" y="2702052"/>
            <a:ext cx="150876" cy="150876"/>
          </a:xfrm>
          <a:prstGeom prst="rect">
            <a:avLst/>
          </a:prstGeom>
          <a:solidFill>
            <a:srgbClr val="F4F6F8"/>
          </a:solidFill>
          <a:ln cap="flat" cmpd="sng" w="11425">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87" name="Google Shape;287;p13"/>
          <p:cNvSpPr/>
          <p:nvPr/>
        </p:nvSpPr>
        <p:spPr>
          <a:xfrm>
            <a:off x="7324344" y="2736342"/>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500"/>
              <a:buFont typeface="Arial"/>
              <a:buNone/>
            </a:pPr>
            <a:r>
              <a:rPr b="1" lang="en" sz="500">
                <a:solidFill>
                  <a:srgbClr val="5C6B73"/>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288" name="Google Shape;288;p13"/>
          <p:cNvSpPr/>
          <p:nvPr/>
        </p:nvSpPr>
        <p:spPr>
          <a:xfrm>
            <a:off x="7434072" y="2702052"/>
            <a:ext cx="150876" cy="150876"/>
          </a:xfrm>
          <a:prstGeom prst="rect">
            <a:avLst/>
          </a:prstGeom>
          <a:solidFill>
            <a:srgbClr val="F4F6F8"/>
          </a:solidFill>
          <a:ln cap="flat" cmpd="sng" w="11425">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89" name="Google Shape;289;p13"/>
          <p:cNvSpPr/>
          <p:nvPr/>
        </p:nvSpPr>
        <p:spPr>
          <a:xfrm>
            <a:off x="7475220" y="2736342"/>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500"/>
              <a:buFont typeface="Arial"/>
              <a:buNone/>
            </a:pPr>
            <a:r>
              <a:rPr b="1" lang="en" sz="500">
                <a:solidFill>
                  <a:srgbClr val="5C6B73"/>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290" name="Google Shape;290;p13"/>
          <p:cNvSpPr/>
          <p:nvPr/>
        </p:nvSpPr>
        <p:spPr>
          <a:xfrm>
            <a:off x="7584948" y="2702052"/>
            <a:ext cx="150876" cy="150876"/>
          </a:xfrm>
          <a:prstGeom prst="rect">
            <a:avLst/>
          </a:prstGeom>
          <a:solidFill>
            <a:srgbClr val="F4F6F8"/>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91" name="Google Shape;291;p13"/>
          <p:cNvSpPr/>
          <p:nvPr/>
        </p:nvSpPr>
        <p:spPr>
          <a:xfrm>
            <a:off x="7626096" y="2736342"/>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500"/>
              <a:buFont typeface="Arial"/>
              <a:buNone/>
            </a:pPr>
            <a:r>
              <a:rPr b="1" lang="en" sz="500">
                <a:solidFill>
                  <a:srgbClr val="5C6B73"/>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292" name="Google Shape;292;p13"/>
          <p:cNvSpPr/>
          <p:nvPr/>
        </p:nvSpPr>
        <p:spPr>
          <a:xfrm>
            <a:off x="6981444" y="2852928"/>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93" name="Google Shape;293;p13"/>
          <p:cNvSpPr/>
          <p:nvPr/>
        </p:nvSpPr>
        <p:spPr>
          <a:xfrm>
            <a:off x="7022592" y="2887218"/>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294" name="Google Shape;294;p13"/>
          <p:cNvSpPr/>
          <p:nvPr/>
        </p:nvSpPr>
        <p:spPr>
          <a:xfrm>
            <a:off x="7132320" y="2852928"/>
            <a:ext cx="150876" cy="150876"/>
          </a:xfrm>
          <a:prstGeom prst="rect">
            <a:avLst/>
          </a:prstGeom>
          <a:solidFill>
            <a:srgbClr val="A8D5DE"/>
          </a:solidFill>
          <a:ln cap="flat" cmpd="sng" w="11425">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95" name="Google Shape;295;p13"/>
          <p:cNvSpPr/>
          <p:nvPr/>
        </p:nvSpPr>
        <p:spPr>
          <a:xfrm>
            <a:off x="7173468" y="2887218"/>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296" name="Google Shape;296;p13"/>
          <p:cNvSpPr/>
          <p:nvPr/>
        </p:nvSpPr>
        <p:spPr>
          <a:xfrm>
            <a:off x="7283196" y="2852928"/>
            <a:ext cx="150876" cy="150876"/>
          </a:xfrm>
          <a:prstGeom prst="rect">
            <a:avLst/>
          </a:prstGeom>
          <a:solidFill>
            <a:srgbClr val="A8D5DE"/>
          </a:solidFill>
          <a:ln cap="flat" cmpd="sng" w="11425">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97" name="Google Shape;297;p13"/>
          <p:cNvSpPr/>
          <p:nvPr/>
        </p:nvSpPr>
        <p:spPr>
          <a:xfrm>
            <a:off x="7324344" y="2887218"/>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298" name="Google Shape;298;p13"/>
          <p:cNvSpPr/>
          <p:nvPr/>
        </p:nvSpPr>
        <p:spPr>
          <a:xfrm>
            <a:off x="7434072" y="2852928"/>
            <a:ext cx="150876" cy="150876"/>
          </a:xfrm>
          <a:prstGeom prst="rect">
            <a:avLst/>
          </a:prstGeom>
          <a:solidFill>
            <a:srgbClr val="A8D5DE"/>
          </a:solidFill>
          <a:ln cap="flat" cmpd="sng" w="11425">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99" name="Google Shape;299;p13"/>
          <p:cNvSpPr/>
          <p:nvPr/>
        </p:nvSpPr>
        <p:spPr>
          <a:xfrm>
            <a:off x="7475220" y="2887218"/>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00" name="Google Shape;300;p13"/>
          <p:cNvSpPr/>
          <p:nvPr/>
        </p:nvSpPr>
        <p:spPr>
          <a:xfrm>
            <a:off x="7584948" y="2852928"/>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01" name="Google Shape;301;p13"/>
          <p:cNvSpPr/>
          <p:nvPr/>
        </p:nvSpPr>
        <p:spPr>
          <a:xfrm>
            <a:off x="7626096" y="2887218"/>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02" name="Google Shape;302;p13"/>
          <p:cNvSpPr/>
          <p:nvPr/>
        </p:nvSpPr>
        <p:spPr>
          <a:xfrm>
            <a:off x="6981444" y="3003804"/>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03" name="Google Shape;303;p13"/>
          <p:cNvSpPr/>
          <p:nvPr/>
        </p:nvSpPr>
        <p:spPr>
          <a:xfrm>
            <a:off x="7022592" y="3038094"/>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04" name="Google Shape;304;p13"/>
          <p:cNvSpPr/>
          <p:nvPr/>
        </p:nvSpPr>
        <p:spPr>
          <a:xfrm>
            <a:off x="7132320" y="3003804"/>
            <a:ext cx="150876" cy="150876"/>
          </a:xfrm>
          <a:prstGeom prst="rect">
            <a:avLst/>
          </a:prstGeom>
          <a:solidFill>
            <a:srgbClr val="A8D5DE"/>
          </a:solidFill>
          <a:ln cap="flat" cmpd="sng" w="11425">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05" name="Google Shape;305;p13"/>
          <p:cNvSpPr/>
          <p:nvPr/>
        </p:nvSpPr>
        <p:spPr>
          <a:xfrm>
            <a:off x="7173468" y="3038094"/>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06" name="Google Shape;306;p13"/>
          <p:cNvSpPr/>
          <p:nvPr/>
        </p:nvSpPr>
        <p:spPr>
          <a:xfrm>
            <a:off x="7283196" y="3003804"/>
            <a:ext cx="150876" cy="150876"/>
          </a:xfrm>
          <a:prstGeom prst="rect">
            <a:avLst/>
          </a:prstGeom>
          <a:solidFill>
            <a:srgbClr val="A8D5DE"/>
          </a:solidFill>
          <a:ln cap="flat" cmpd="sng" w="11425">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07" name="Google Shape;307;p13"/>
          <p:cNvSpPr/>
          <p:nvPr/>
        </p:nvSpPr>
        <p:spPr>
          <a:xfrm>
            <a:off x="7324344" y="3038094"/>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08" name="Google Shape;308;p13"/>
          <p:cNvSpPr/>
          <p:nvPr/>
        </p:nvSpPr>
        <p:spPr>
          <a:xfrm>
            <a:off x="7434072" y="3003804"/>
            <a:ext cx="150876" cy="150876"/>
          </a:xfrm>
          <a:prstGeom prst="rect">
            <a:avLst/>
          </a:prstGeom>
          <a:solidFill>
            <a:srgbClr val="A8D5DE"/>
          </a:solidFill>
          <a:ln cap="flat" cmpd="sng" w="11425">
            <a:solidFill>
              <a:srgbClr val="0E697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09" name="Google Shape;309;p13"/>
          <p:cNvSpPr/>
          <p:nvPr/>
        </p:nvSpPr>
        <p:spPr>
          <a:xfrm>
            <a:off x="7475220" y="3038094"/>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10" name="Google Shape;310;p13"/>
          <p:cNvSpPr/>
          <p:nvPr/>
        </p:nvSpPr>
        <p:spPr>
          <a:xfrm>
            <a:off x="7584948" y="3003804"/>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11" name="Google Shape;311;p13"/>
          <p:cNvSpPr/>
          <p:nvPr/>
        </p:nvSpPr>
        <p:spPr>
          <a:xfrm>
            <a:off x="7626096" y="3038094"/>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12" name="Google Shape;312;p13"/>
          <p:cNvSpPr/>
          <p:nvPr/>
        </p:nvSpPr>
        <p:spPr>
          <a:xfrm>
            <a:off x="6981444" y="3154680"/>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13" name="Google Shape;313;p13"/>
          <p:cNvSpPr/>
          <p:nvPr/>
        </p:nvSpPr>
        <p:spPr>
          <a:xfrm>
            <a:off x="7022592" y="3188970"/>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14" name="Google Shape;314;p13"/>
          <p:cNvSpPr/>
          <p:nvPr/>
        </p:nvSpPr>
        <p:spPr>
          <a:xfrm>
            <a:off x="7132320" y="3154680"/>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15" name="Google Shape;315;p13"/>
          <p:cNvSpPr/>
          <p:nvPr/>
        </p:nvSpPr>
        <p:spPr>
          <a:xfrm>
            <a:off x="7173468" y="3188970"/>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16" name="Google Shape;316;p13"/>
          <p:cNvSpPr/>
          <p:nvPr/>
        </p:nvSpPr>
        <p:spPr>
          <a:xfrm>
            <a:off x="7283196" y="3154680"/>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17" name="Google Shape;317;p13"/>
          <p:cNvSpPr/>
          <p:nvPr/>
        </p:nvSpPr>
        <p:spPr>
          <a:xfrm>
            <a:off x="7324344" y="3188970"/>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18" name="Google Shape;318;p13"/>
          <p:cNvSpPr/>
          <p:nvPr/>
        </p:nvSpPr>
        <p:spPr>
          <a:xfrm>
            <a:off x="7434072" y="3154680"/>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19" name="Google Shape;319;p13"/>
          <p:cNvSpPr/>
          <p:nvPr/>
        </p:nvSpPr>
        <p:spPr>
          <a:xfrm>
            <a:off x="7475220" y="3188970"/>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20" name="Google Shape;320;p13"/>
          <p:cNvSpPr/>
          <p:nvPr/>
        </p:nvSpPr>
        <p:spPr>
          <a:xfrm>
            <a:off x="7584948" y="3154680"/>
            <a:ext cx="150876" cy="150876"/>
          </a:xfrm>
          <a:prstGeom prst="rect">
            <a:avLst/>
          </a:prstGeom>
          <a:solidFill>
            <a:srgbClr val="A8D5DE"/>
          </a:solidFill>
          <a:ln cap="flat" cmpd="sng" w="9525">
            <a:solidFill>
              <a:srgbClr val="C9D2D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21" name="Google Shape;321;p13"/>
          <p:cNvSpPr/>
          <p:nvPr/>
        </p:nvSpPr>
        <p:spPr>
          <a:xfrm>
            <a:off x="7626096" y="3188970"/>
            <a:ext cx="75438" cy="7543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43"/>
              </a:buClr>
              <a:buSzPts val="500"/>
              <a:buFont typeface="Arial"/>
              <a:buNone/>
            </a:pPr>
            <a:r>
              <a:rPr b="1" lang="en" sz="500">
                <a:solidFill>
                  <a:srgbClr val="102A43"/>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22" name="Google Shape;322;p13"/>
          <p:cNvSpPr/>
          <p:nvPr/>
        </p:nvSpPr>
        <p:spPr>
          <a:xfrm>
            <a:off x="6981444" y="3374136"/>
            <a:ext cx="740664"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600"/>
              <a:buFont typeface="Arial"/>
              <a:buNone/>
            </a:pPr>
            <a:r>
              <a:rPr lang="en" sz="600">
                <a:solidFill>
                  <a:srgbClr val="5C6B73"/>
                </a:solidFill>
                <a:latin typeface="Arial"/>
                <a:ea typeface="Arial"/>
                <a:cs typeface="Arial"/>
                <a:sym typeface="Arial"/>
              </a:rPr>
              <a:t>image region</a:t>
            </a:r>
            <a:endParaRPr sz="600">
              <a:solidFill>
                <a:schemeClr val="dk1"/>
              </a:solidFill>
              <a:latin typeface="Arial"/>
              <a:ea typeface="Arial"/>
              <a:cs typeface="Arial"/>
              <a:sym typeface="Arial"/>
            </a:endParaRPr>
          </a:p>
        </p:txBody>
      </p:sp>
      <p:cxnSp>
        <p:nvCxnSpPr>
          <p:cNvPr id="323" name="Google Shape;323;p13"/>
          <p:cNvCxnSpPr/>
          <p:nvPr/>
        </p:nvCxnSpPr>
        <p:spPr>
          <a:xfrm>
            <a:off x="7763256" y="2935224"/>
            <a:ext cx="192024" cy="0"/>
          </a:xfrm>
          <a:prstGeom prst="straightConnector1">
            <a:avLst/>
          </a:prstGeom>
          <a:noFill/>
          <a:ln cap="flat" cmpd="sng" w="12700">
            <a:solidFill>
              <a:srgbClr val="5C6B73"/>
            </a:solidFill>
            <a:prstDash val="solid"/>
            <a:round/>
            <a:headEnd len="sm" w="sm" type="none"/>
            <a:tailEnd len="med" w="med" type="triangle"/>
          </a:ln>
        </p:spPr>
      </p:cxnSp>
      <p:sp>
        <p:nvSpPr>
          <p:cNvPr id="324" name="Google Shape;324;p13"/>
          <p:cNvSpPr/>
          <p:nvPr/>
        </p:nvSpPr>
        <p:spPr>
          <a:xfrm>
            <a:off x="8010144" y="2702052"/>
            <a:ext cx="150876" cy="150876"/>
          </a:xfrm>
          <a:prstGeom prst="rect">
            <a:avLst/>
          </a:prstGeom>
          <a:solidFill>
            <a:srgbClr val="FDECEC"/>
          </a:solidFill>
          <a:ln cap="flat" cmpd="sng" w="9525">
            <a:solidFill>
              <a:srgbClr val="CC6B6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25" name="Google Shape;325;p13"/>
          <p:cNvSpPr/>
          <p:nvPr/>
        </p:nvSpPr>
        <p:spPr>
          <a:xfrm>
            <a:off x="8044434" y="2736342"/>
            <a:ext cx="82296"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C6B6B"/>
              </a:buClr>
              <a:buSzPts val="500"/>
              <a:buFont typeface="Arial"/>
              <a:buNone/>
            </a:pPr>
            <a:r>
              <a:rPr b="1" lang="en" sz="500">
                <a:solidFill>
                  <a:srgbClr val="CC6B6B"/>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26" name="Google Shape;326;p13"/>
          <p:cNvSpPr/>
          <p:nvPr/>
        </p:nvSpPr>
        <p:spPr>
          <a:xfrm>
            <a:off x="8161020" y="2702052"/>
            <a:ext cx="150876" cy="150876"/>
          </a:xfrm>
          <a:prstGeom prst="rect">
            <a:avLst/>
          </a:prstGeom>
          <a:solidFill>
            <a:srgbClr val="FDECEC"/>
          </a:solidFill>
          <a:ln cap="flat" cmpd="sng" w="9525">
            <a:solidFill>
              <a:srgbClr val="CC6B6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27" name="Google Shape;327;p13"/>
          <p:cNvSpPr/>
          <p:nvPr/>
        </p:nvSpPr>
        <p:spPr>
          <a:xfrm>
            <a:off x="8195310" y="2736342"/>
            <a:ext cx="82296"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C6B6B"/>
              </a:buClr>
              <a:buSzPts val="500"/>
              <a:buFont typeface="Arial"/>
              <a:buNone/>
            </a:pPr>
            <a:r>
              <a:rPr b="1" lang="en" sz="500">
                <a:solidFill>
                  <a:srgbClr val="CC6B6B"/>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28" name="Google Shape;328;p13"/>
          <p:cNvSpPr/>
          <p:nvPr/>
        </p:nvSpPr>
        <p:spPr>
          <a:xfrm>
            <a:off x="8311896" y="2702052"/>
            <a:ext cx="150876" cy="150876"/>
          </a:xfrm>
          <a:prstGeom prst="rect">
            <a:avLst/>
          </a:prstGeom>
          <a:solidFill>
            <a:srgbClr val="FDECEC"/>
          </a:solidFill>
          <a:ln cap="flat" cmpd="sng" w="9525">
            <a:solidFill>
              <a:srgbClr val="CC6B6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29" name="Google Shape;329;p13"/>
          <p:cNvSpPr/>
          <p:nvPr/>
        </p:nvSpPr>
        <p:spPr>
          <a:xfrm>
            <a:off x="8346186" y="2736342"/>
            <a:ext cx="82296"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C6B6B"/>
              </a:buClr>
              <a:buSzPts val="500"/>
              <a:buFont typeface="Arial"/>
              <a:buNone/>
            </a:pPr>
            <a:r>
              <a:rPr b="1" lang="en" sz="500">
                <a:solidFill>
                  <a:srgbClr val="CC6B6B"/>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30" name="Google Shape;330;p13"/>
          <p:cNvSpPr/>
          <p:nvPr/>
        </p:nvSpPr>
        <p:spPr>
          <a:xfrm>
            <a:off x="8010144" y="2852928"/>
            <a:ext cx="150876" cy="150876"/>
          </a:xfrm>
          <a:prstGeom prst="rect">
            <a:avLst/>
          </a:prstGeom>
          <a:solidFill>
            <a:srgbClr val="FFF9E8"/>
          </a:solidFill>
          <a:ln cap="flat" cmpd="sng" w="9525">
            <a:solidFill>
              <a:srgbClr val="D4A72C"/>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31" name="Google Shape;331;p13"/>
          <p:cNvSpPr/>
          <p:nvPr/>
        </p:nvSpPr>
        <p:spPr>
          <a:xfrm>
            <a:off x="8044434" y="2887218"/>
            <a:ext cx="82296"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72C"/>
              </a:buClr>
              <a:buSzPts val="500"/>
              <a:buFont typeface="Arial"/>
              <a:buNone/>
            </a:pPr>
            <a:r>
              <a:rPr b="1" lang="en" sz="500">
                <a:solidFill>
                  <a:srgbClr val="D4A72C"/>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332" name="Google Shape;332;p13"/>
          <p:cNvSpPr/>
          <p:nvPr/>
        </p:nvSpPr>
        <p:spPr>
          <a:xfrm>
            <a:off x="8161020" y="2852928"/>
            <a:ext cx="150876" cy="150876"/>
          </a:xfrm>
          <a:prstGeom prst="rect">
            <a:avLst/>
          </a:prstGeom>
          <a:solidFill>
            <a:srgbClr val="FFF9E8"/>
          </a:solidFill>
          <a:ln cap="flat" cmpd="sng" w="9525">
            <a:solidFill>
              <a:srgbClr val="D4A72C"/>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33" name="Google Shape;333;p13"/>
          <p:cNvSpPr/>
          <p:nvPr/>
        </p:nvSpPr>
        <p:spPr>
          <a:xfrm>
            <a:off x="8195310" y="2887218"/>
            <a:ext cx="82296"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72C"/>
              </a:buClr>
              <a:buSzPts val="500"/>
              <a:buFont typeface="Arial"/>
              <a:buNone/>
            </a:pPr>
            <a:r>
              <a:rPr b="1" lang="en" sz="500">
                <a:solidFill>
                  <a:srgbClr val="D4A72C"/>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334" name="Google Shape;334;p13"/>
          <p:cNvSpPr/>
          <p:nvPr/>
        </p:nvSpPr>
        <p:spPr>
          <a:xfrm>
            <a:off x="8311896" y="2852928"/>
            <a:ext cx="150876" cy="150876"/>
          </a:xfrm>
          <a:prstGeom prst="rect">
            <a:avLst/>
          </a:prstGeom>
          <a:solidFill>
            <a:srgbClr val="FFF9E8"/>
          </a:solidFill>
          <a:ln cap="flat" cmpd="sng" w="9525">
            <a:solidFill>
              <a:srgbClr val="D4A72C"/>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35" name="Google Shape;335;p13"/>
          <p:cNvSpPr/>
          <p:nvPr/>
        </p:nvSpPr>
        <p:spPr>
          <a:xfrm>
            <a:off x="8346186" y="2887218"/>
            <a:ext cx="82296"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72C"/>
              </a:buClr>
              <a:buSzPts val="500"/>
              <a:buFont typeface="Arial"/>
              <a:buNone/>
            </a:pPr>
            <a:r>
              <a:rPr b="1" lang="en" sz="500">
                <a:solidFill>
                  <a:srgbClr val="D4A72C"/>
                </a:solidFill>
                <a:latin typeface="Arial"/>
                <a:ea typeface="Arial"/>
                <a:cs typeface="Arial"/>
                <a:sym typeface="Arial"/>
              </a:rPr>
              <a:t>0</a:t>
            </a:r>
            <a:endParaRPr sz="500">
              <a:solidFill>
                <a:schemeClr val="dk1"/>
              </a:solidFill>
              <a:latin typeface="Arial"/>
              <a:ea typeface="Arial"/>
              <a:cs typeface="Arial"/>
              <a:sym typeface="Arial"/>
            </a:endParaRPr>
          </a:p>
        </p:txBody>
      </p:sp>
      <p:sp>
        <p:nvSpPr>
          <p:cNvPr id="336" name="Google Shape;336;p13"/>
          <p:cNvSpPr/>
          <p:nvPr/>
        </p:nvSpPr>
        <p:spPr>
          <a:xfrm>
            <a:off x="8010144" y="3003804"/>
            <a:ext cx="150876" cy="150876"/>
          </a:xfrm>
          <a:prstGeom prst="rect">
            <a:avLst/>
          </a:prstGeom>
          <a:solidFill>
            <a:srgbClr val="EEF6E8"/>
          </a:solidFill>
          <a:ln cap="flat" cmpd="sng" w="9525">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37" name="Google Shape;337;p13"/>
          <p:cNvSpPr/>
          <p:nvPr/>
        </p:nvSpPr>
        <p:spPr>
          <a:xfrm>
            <a:off x="8044434" y="3038094"/>
            <a:ext cx="82296"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500"/>
              <a:buFont typeface="Arial"/>
              <a:buNone/>
            </a:pPr>
            <a:r>
              <a:rPr b="1" lang="en" sz="500">
                <a:solidFill>
                  <a:srgbClr val="6FA64B"/>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38" name="Google Shape;338;p13"/>
          <p:cNvSpPr/>
          <p:nvPr/>
        </p:nvSpPr>
        <p:spPr>
          <a:xfrm>
            <a:off x="8161020" y="3003804"/>
            <a:ext cx="150876" cy="150876"/>
          </a:xfrm>
          <a:prstGeom prst="rect">
            <a:avLst/>
          </a:prstGeom>
          <a:solidFill>
            <a:srgbClr val="EEF6E8"/>
          </a:solidFill>
          <a:ln cap="flat" cmpd="sng" w="9525">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39" name="Google Shape;339;p13"/>
          <p:cNvSpPr/>
          <p:nvPr/>
        </p:nvSpPr>
        <p:spPr>
          <a:xfrm>
            <a:off x="8195310" y="3038094"/>
            <a:ext cx="82296"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500"/>
              <a:buFont typeface="Arial"/>
              <a:buNone/>
            </a:pPr>
            <a:r>
              <a:rPr b="1" lang="en" sz="500">
                <a:solidFill>
                  <a:srgbClr val="6FA64B"/>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40" name="Google Shape;340;p13"/>
          <p:cNvSpPr/>
          <p:nvPr/>
        </p:nvSpPr>
        <p:spPr>
          <a:xfrm>
            <a:off x="8311896" y="3003804"/>
            <a:ext cx="150876" cy="150876"/>
          </a:xfrm>
          <a:prstGeom prst="rect">
            <a:avLst/>
          </a:prstGeom>
          <a:solidFill>
            <a:srgbClr val="EEF6E8"/>
          </a:solidFill>
          <a:ln cap="flat" cmpd="sng" w="9525">
            <a:solidFill>
              <a:srgbClr val="6FA64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41" name="Google Shape;341;p13"/>
          <p:cNvSpPr/>
          <p:nvPr/>
        </p:nvSpPr>
        <p:spPr>
          <a:xfrm>
            <a:off x="8346186" y="3038094"/>
            <a:ext cx="82296" cy="822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500"/>
              <a:buFont typeface="Arial"/>
              <a:buNone/>
            </a:pPr>
            <a:r>
              <a:rPr b="1" lang="en" sz="500">
                <a:solidFill>
                  <a:srgbClr val="6FA64B"/>
                </a:solidFill>
                <a:latin typeface="Arial"/>
                <a:ea typeface="Arial"/>
                <a:cs typeface="Arial"/>
                <a:sym typeface="Arial"/>
              </a:rPr>
              <a:t>1</a:t>
            </a:r>
            <a:endParaRPr sz="500">
              <a:solidFill>
                <a:schemeClr val="dk1"/>
              </a:solidFill>
              <a:latin typeface="Arial"/>
              <a:ea typeface="Arial"/>
              <a:cs typeface="Arial"/>
              <a:sym typeface="Arial"/>
            </a:endParaRPr>
          </a:p>
        </p:txBody>
      </p:sp>
      <p:sp>
        <p:nvSpPr>
          <p:cNvPr id="342" name="Google Shape;342;p13"/>
          <p:cNvSpPr/>
          <p:nvPr/>
        </p:nvSpPr>
        <p:spPr>
          <a:xfrm>
            <a:off x="7982712" y="3374136"/>
            <a:ext cx="603504"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3"/>
              </a:buClr>
              <a:buSzPts val="600"/>
              <a:buFont typeface="Arial"/>
              <a:buNone/>
            </a:pPr>
            <a:r>
              <a:rPr lang="en" sz="600">
                <a:solidFill>
                  <a:srgbClr val="5C6B73"/>
                </a:solidFill>
                <a:latin typeface="Arial"/>
                <a:ea typeface="Arial"/>
                <a:cs typeface="Arial"/>
                <a:sym typeface="Arial"/>
              </a:rPr>
              <a:t>edge filter</a:t>
            </a:r>
            <a:endParaRPr sz="600">
              <a:solidFill>
                <a:schemeClr val="dk1"/>
              </a:solidFill>
              <a:latin typeface="Arial"/>
              <a:ea typeface="Arial"/>
              <a:cs typeface="Arial"/>
              <a:sym typeface="Arial"/>
            </a:endParaRPr>
          </a:p>
        </p:txBody>
      </p:sp>
      <p:cxnSp>
        <p:nvCxnSpPr>
          <p:cNvPr id="343" name="Google Shape;343;p13"/>
          <p:cNvCxnSpPr/>
          <p:nvPr/>
        </p:nvCxnSpPr>
        <p:spPr>
          <a:xfrm>
            <a:off x="8517636" y="2935224"/>
            <a:ext cx="116586" cy="0"/>
          </a:xfrm>
          <a:prstGeom prst="straightConnector1">
            <a:avLst/>
          </a:prstGeom>
          <a:noFill/>
          <a:ln cap="flat" cmpd="sng" w="12700">
            <a:solidFill>
              <a:srgbClr val="5C6B73"/>
            </a:solidFill>
            <a:prstDash val="solid"/>
            <a:round/>
            <a:headEnd len="sm" w="sm" type="none"/>
            <a:tailEnd len="med" w="med" type="triangle"/>
          </a:ln>
        </p:spPr>
      </p:cxnSp>
      <p:sp>
        <p:nvSpPr>
          <p:cNvPr id="344" name="Google Shape;344;p13"/>
          <p:cNvSpPr/>
          <p:nvPr/>
        </p:nvSpPr>
        <p:spPr>
          <a:xfrm>
            <a:off x="8620506" y="2729484"/>
            <a:ext cx="260604" cy="562356"/>
          </a:xfrm>
          <a:prstGeom prst="roundRect">
            <a:avLst>
              <a:gd fmla="val 7895" name="adj"/>
            </a:avLst>
          </a:prstGeom>
          <a:solidFill>
            <a:srgbClr val="FFF9E8"/>
          </a:solidFill>
          <a:ln cap="flat" cmpd="sng" w="10150">
            <a:solidFill>
              <a:srgbClr val="E8D49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45" name="Google Shape;345;p13"/>
          <p:cNvSpPr/>
          <p:nvPr/>
        </p:nvSpPr>
        <p:spPr>
          <a:xfrm>
            <a:off x="8599932" y="2846070"/>
            <a:ext cx="30175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72C"/>
              </a:buClr>
              <a:buSzPts val="500"/>
              <a:buFont typeface="Arial"/>
              <a:buNone/>
            </a:pPr>
            <a:r>
              <a:rPr b="1" lang="en" sz="500">
                <a:solidFill>
                  <a:srgbClr val="D4A72C"/>
                </a:solidFill>
                <a:latin typeface="Arial"/>
                <a:ea typeface="Arial"/>
                <a:cs typeface="Arial"/>
                <a:sym typeface="Arial"/>
              </a:rPr>
              <a:t>strong</a:t>
            </a:r>
            <a:endParaRPr sz="500">
              <a:solidFill>
                <a:schemeClr val="dk1"/>
              </a:solidFill>
              <a:latin typeface="Arial"/>
              <a:ea typeface="Arial"/>
              <a:cs typeface="Arial"/>
              <a:sym typeface="Arial"/>
            </a:endParaRPr>
          </a:p>
          <a:p>
            <a:pPr indent="0" lvl="0" marL="0" marR="0" rtl="0" algn="ctr">
              <a:spcBef>
                <a:spcPts val="0"/>
              </a:spcBef>
              <a:spcAft>
                <a:spcPts val="0"/>
              </a:spcAft>
              <a:buClr>
                <a:srgbClr val="D4A72C"/>
              </a:buClr>
              <a:buSzPts val="500"/>
              <a:buFont typeface="Arial"/>
              <a:buNone/>
            </a:pPr>
            <a:r>
              <a:rPr b="1" lang="en" sz="500">
                <a:solidFill>
                  <a:srgbClr val="D4A72C"/>
                </a:solidFill>
                <a:latin typeface="Arial"/>
                <a:ea typeface="Arial"/>
                <a:cs typeface="Arial"/>
                <a:sym typeface="Arial"/>
              </a:rPr>
              <a:t>response</a:t>
            </a:r>
            <a:endParaRPr sz="500">
              <a:solidFill>
                <a:schemeClr val="dk1"/>
              </a:solidFill>
              <a:latin typeface="Arial"/>
              <a:ea typeface="Arial"/>
              <a:cs typeface="Arial"/>
              <a:sym typeface="Arial"/>
            </a:endParaRPr>
          </a:p>
        </p:txBody>
      </p:sp>
      <p:sp>
        <p:nvSpPr>
          <p:cNvPr id="346" name="Google Shape;346;p13"/>
          <p:cNvSpPr/>
          <p:nvPr/>
        </p:nvSpPr>
        <p:spPr>
          <a:xfrm>
            <a:off x="6981444" y="3552444"/>
            <a:ext cx="1920240"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B34"/>
              </a:buClr>
              <a:buSzPts val="700"/>
              <a:buFont typeface="Arial"/>
              <a:buNone/>
            </a:pPr>
            <a:r>
              <a:rPr lang="en" sz="700">
                <a:solidFill>
                  <a:srgbClr val="1B2B34"/>
                </a:solidFill>
                <a:latin typeface="Arial"/>
                <a:ea typeface="Arial"/>
                <a:cs typeface="Arial"/>
                <a:sym typeface="Arial"/>
              </a:rPr>
              <a:t>When the filter lines up with an edge, the response is strong. Then the same filter is reused in the next region.</a:t>
            </a:r>
            <a:endParaRPr sz="700">
              <a:solidFill>
                <a:schemeClr val="dk1"/>
              </a:solidFill>
              <a:latin typeface="Arial"/>
              <a:ea typeface="Arial"/>
              <a:cs typeface="Arial"/>
              <a:sym typeface="Arial"/>
            </a:endParaRPr>
          </a:p>
        </p:txBody>
      </p:sp>
      <p:sp>
        <p:nvSpPr>
          <p:cNvPr id="347" name="Google Shape;347;p13"/>
          <p:cNvSpPr/>
          <p:nvPr/>
        </p:nvSpPr>
        <p:spPr>
          <a:xfrm>
            <a:off x="6981444" y="4005072"/>
            <a:ext cx="1316736" cy="301752"/>
          </a:xfrm>
          <a:prstGeom prst="roundRect">
            <a:avLst>
              <a:gd fmla="val 9091" name="adj"/>
            </a:avLst>
          </a:prstGeom>
          <a:solidFill>
            <a:srgbClr val="F3F7F9"/>
          </a:solidFill>
          <a:ln cap="flat" cmpd="sng" w="12700">
            <a:solidFill>
              <a:srgbClr val="D6E2E8"/>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48" name="Google Shape;348;p13"/>
          <p:cNvSpPr/>
          <p:nvPr/>
        </p:nvSpPr>
        <p:spPr>
          <a:xfrm>
            <a:off x="7084314" y="4094226"/>
            <a:ext cx="1110996"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6973"/>
              </a:buClr>
              <a:buSzPts val="700"/>
              <a:buFont typeface="Arial"/>
              <a:buNone/>
            </a:pPr>
            <a:r>
              <a:rPr b="1" lang="en" sz="700">
                <a:solidFill>
                  <a:srgbClr val="0E6973"/>
                </a:solidFill>
                <a:latin typeface="Arial"/>
                <a:ea typeface="Arial"/>
                <a:cs typeface="Arial"/>
                <a:sym typeface="Arial"/>
              </a:rPr>
              <a:t>One small detector</a:t>
            </a:r>
            <a:endParaRPr sz="700">
              <a:solidFill>
                <a:schemeClr val="dk1"/>
              </a:solidFill>
              <a:latin typeface="Arial"/>
              <a:ea typeface="Arial"/>
              <a:cs typeface="Arial"/>
              <a:sym typeface="Arial"/>
            </a:endParaRPr>
          </a:p>
          <a:p>
            <a:pPr indent="0" lvl="0" marL="0" marR="0" rtl="0" algn="ctr">
              <a:spcBef>
                <a:spcPts val="0"/>
              </a:spcBef>
              <a:spcAft>
                <a:spcPts val="0"/>
              </a:spcAft>
              <a:buClr>
                <a:srgbClr val="0E6973"/>
              </a:buClr>
              <a:buSzPts val="700"/>
              <a:buFont typeface="Arial"/>
              <a:buNone/>
            </a:pPr>
            <a:r>
              <a:rPr b="1" lang="en" sz="700">
                <a:solidFill>
                  <a:srgbClr val="0E6973"/>
                </a:solidFill>
                <a:latin typeface="Arial"/>
                <a:ea typeface="Arial"/>
                <a:cs typeface="Arial"/>
                <a:sym typeface="Arial"/>
              </a:rPr>
              <a:t>reused many times</a:t>
            </a:r>
            <a:endParaRPr sz="700">
              <a:solidFill>
                <a:schemeClr val="dk1"/>
              </a:solidFill>
              <a:latin typeface="Arial"/>
              <a:ea typeface="Arial"/>
              <a:cs typeface="Arial"/>
              <a:sym typeface="Arial"/>
            </a:endParaRPr>
          </a:p>
        </p:txBody>
      </p:sp>
      <p:sp>
        <p:nvSpPr>
          <p:cNvPr id="349" name="Google Shape;349;p13"/>
          <p:cNvSpPr/>
          <p:nvPr/>
        </p:nvSpPr>
        <p:spPr>
          <a:xfrm>
            <a:off x="7399782" y="4348548"/>
            <a:ext cx="630936" cy="301752"/>
          </a:xfrm>
          <a:prstGeom prst="roundRect">
            <a:avLst>
              <a:gd fmla="val 9091" name="adj"/>
            </a:avLst>
          </a:prstGeom>
          <a:solidFill>
            <a:srgbClr val="EEF6E8"/>
          </a:solidFill>
          <a:ln cap="flat" cmpd="sng" w="12700">
            <a:solidFill>
              <a:srgbClr val="C8DEB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50" name="Google Shape;350;p13"/>
          <p:cNvSpPr/>
          <p:nvPr/>
        </p:nvSpPr>
        <p:spPr>
          <a:xfrm>
            <a:off x="7413498" y="4416552"/>
            <a:ext cx="534924" cy="1234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64B"/>
              </a:buClr>
              <a:buSzPts val="600"/>
              <a:buFont typeface="Arial"/>
              <a:buNone/>
            </a:pPr>
            <a:r>
              <a:rPr b="1" lang="en" sz="600">
                <a:solidFill>
                  <a:srgbClr val="6FA64B"/>
                </a:solidFill>
                <a:latin typeface="Arial"/>
                <a:ea typeface="Arial"/>
                <a:cs typeface="Arial"/>
                <a:sym typeface="Arial"/>
              </a:rPr>
              <a:t>1980</a:t>
            </a:r>
            <a:endParaRPr sz="600">
              <a:solidFill>
                <a:schemeClr val="dk1"/>
              </a:solidFill>
              <a:latin typeface="Arial"/>
              <a:ea typeface="Arial"/>
              <a:cs typeface="Arial"/>
              <a:sym typeface="Arial"/>
            </a:endParaRPr>
          </a:p>
          <a:p>
            <a:pPr indent="0" lvl="0" marL="0" marR="0" rtl="0" algn="ctr">
              <a:spcBef>
                <a:spcPts val="0"/>
              </a:spcBef>
              <a:spcAft>
                <a:spcPts val="0"/>
              </a:spcAft>
              <a:buClr>
                <a:srgbClr val="6FA64B"/>
              </a:buClr>
              <a:buSzPts val="600"/>
              <a:buFont typeface="Arial"/>
              <a:buNone/>
            </a:pPr>
            <a:r>
              <a:rPr b="1" lang="en" sz="600">
                <a:solidFill>
                  <a:srgbClr val="6FA64B"/>
                </a:solidFill>
                <a:latin typeface="Arial"/>
                <a:ea typeface="Arial"/>
                <a:cs typeface="Arial"/>
                <a:sym typeface="Arial"/>
              </a:rPr>
              <a:t>Fukushima</a:t>
            </a:r>
            <a:endParaRPr sz="600">
              <a:solidFill>
                <a:schemeClr val="dk1"/>
              </a:solidFill>
              <a:latin typeface="Arial"/>
              <a:ea typeface="Arial"/>
              <a:cs typeface="Arial"/>
              <a:sym typeface="Arial"/>
            </a:endParaRPr>
          </a:p>
        </p:txBody>
      </p:sp>
      <p:sp>
        <p:nvSpPr>
          <p:cNvPr id="351" name="Google Shape;351;p13"/>
          <p:cNvSpPr/>
          <p:nvPr/>
        </p:nvSpPr>
        <p:spPr>
          <a:xfrm>
            <a:off x="452628" y="4821174"/>
            <a:ext cx="774954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790"/>
              </a:buClr>
              <a:buSzPts val="600"/>
              <a:buFont typeface="Arial"/>
              <a:buNone/>
            </a:pPr>
            <a:r>
              <a:rPr lang="en" sz="600">
                <a:solidFill>
                  <a:srgbClr val="7A8790"/>
                </a:solidFill>
                <a:latin typeface="Arial"/>
                <a:ea typeface="Arial"/>
                <a:cs typeface="Arial"/>
                <a:sym typeface="Arial"/>
              </a:rPr>
              <a:t>Landmark: Fukushima’s Neocognitron (1980) was a major precursor to modern CNNs.</a:t>
            </a:r>
            <a:endParaRPr sz="600">
              <a:solidFill>
                <a:schemeClr val="dk1"/>
              </a:solidFill>
              <a:latin typeface="Arial"/>
              <a:ea typeface="Arial"/>
              <a:cs typeface="Arial"/>
              <a:sym typeface="Arial"/>
            </a:endParaRPr>
          </a:p>
        </p:txBody>
      </p:sp>
      <p:sp>
        <p:nvSpPr>
          <p:cNvPr id="352" name="Google Shape;352;p13"/>
          <p:cNvSpPr txBox="1"/>
          <p:nvPr>
            <p:ph idx="4294967295" type="sldNum"/>
          </p:nvPr>
        </p:nvSpPr>
        <p:spPr>
          <a:xfrm>
            <a:off x="8606790" y="4841748"/>
            <a:ext cx="274320" cy="123444"/>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 sz="700">
                <a:solidFill>
                  <a:srgbClr val="5C6B73"/>
                </a:solidFill>
                <a:latin typeface="Arial"/>
                <a:ea typeface="Arial"/>
                <a:cs typeface="Arial"/>
                <a:sym typeface="Arial"/>
              </a:rPr>
              <a:t>‹#›</a:t>
            </a:fld>
            <a:endParaRPr sz="700">
              <a:solidFill>
                <a:srgbClr val="5C6B7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4"/>
          <p:cNvSpPr/>
          <p:nvPr/>
        </p:nvSpPr>
        <p:spPr>
          <a:xfrm>
            <a:off x="445770" y="466344"/>
            <a:ext cx="8092500" cy="4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102A43"/>
                </a:solidFill>
                <a:latin typeface="Play"/>
                <a:ea typeface="Play"/>
                <a:cs typeface="Play"/>
                <a:sym typeface="Play"/>
              </a:rPr>
              <a:t>CNN Chameleon: How a CNN Sees an Image</a:t>
            </a:r>
            <a:endParaRPr b="1" sz="2400">
              <a:solidFill>
                <a:srgbClr val="102A43"/>
              </a:solidFill>
              <a:latin typeface="Play"/>
              <a:ea typeface="Play"/>
              <a:cs typeface="Play"/>
              <a:sym typeface="Play"/>
            </a:endParaRPr>
          </a:p>
        </p:txBody>
      </p:sp>
      <p:sp>
        <p:nvSpPr>
          <p:cNvPr id="358" name="Google Shape;358;p14"/>
          <p:cNvSpPr/>
          <p:nvPr/>
        </p:nvSpPr>
        <p:spPr>
          <a:xfrm>
            <a:off x="476250" y="1047750"/>
            <a:ext cx="4000500" cy="3714900"/>
          </a:xfrm>
          <a:prstGeom prst="roundRect">
            <a:avLst>
              <a:gd fmla="val 1538" name="adj"/>
            </a:avLst>
          </a:prstGeom>
          <a:solidFill>
            <a:srgbClr val="FFFFFF"/>
          </a:solidFill>
          <a:ln cap="flat" cmpd="sng" w="12700">
            <a:solidFill>
              <a:srgbClr val="D6E2E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9" name="Google Shape;359;p14"/>
          <p:cNvSpPr/>
          <p:nvPr/>
        </p:nvSpPr>
        <p:spPr>
          <a:xfrm>
            <a:off x="714375" y="1238250"/>
            <a:ext cx="35244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02A43"/>
                </a:solidFill>
                <a:latin typeface="Play"/>
                <a:ea typeface="Play"/>
                <a:cs typeface="Play"/>
                <a:sym typeface="Play"/>
              </a:rPr>
              <a:t>Main Components of CNN</a:t>
            </a:r>
            <a:endParaRPr b="1" sz="1400">
              <a:solidFill>
                <a:srgbClr val="102A43"/>
              </a:solidFill>
              <a:latin typeface="Play"/>
              <a:ea typeface="Play"/>
              <a:cs typeface="Play"/>
              <a:sym typeface="Play"/>
            </a:endParaRPr>
          </a:p>
          <a:p>
            <a:pPr indent="-298450" lvl="0" marL="457200" rtl="0" algn="l">
              <a:spcBef>
                <a:spcPts val="1125"/>
              </a:spcBef>
              <a:spcAft>
                <a:spcPts val="0"/>
              </a:spcAft>
              <a:buClr>
                <a:srgbClr val="102A43"/>
              </a:buClr>
              <a:buSzPts val="1100"/>
              <a:buFont typeface="Arial"/>
              <a:buAutoNum type="arabicPeriod"/>
            </a:pPr>
            <a:r>
              <a:rPr b="1" lang="en" sz="1100">
                <a:solidFill>
                  <a:srgbClr val="0E6973"/>
                </a:solidFill>
                <a:latin typeface="Arial"/>
                <a:ea typeface="Arial"/>
                <a:cs typeface="Arial"/>
                <a:sym typeface="Arial"/>
              </a:rPr>
              <a:t>Input Image</a:t>
            </a:r>
            <a:br>
              <a:rPr b="0" lang="en" sz="1100">
                <a:solidFill>
                  <a:srgbClr val="102A43"/>
                </a:solidFill>
                <a:latin typeface="Arial"/>
                <a:ea typeface="Arial"/>
                <a:cs typeface="Arial"/>
                <a:sym typeface="Arial"/>
              </a:rPr>
            </a:br>
            <a:r>
              <a:rPr b="0" lang="en" sz="1000">
                <a:solidFill>
                  <a:srgbClr val="5C6B73"/>
                </a:solidFill>
                <a:latin typeface="Arial"/>
                <a:ea typeface="Arial"/>
                <a:cs typeface="Arial"/>
                <a:sym typeface="Arial"/>
              </a:rPr>
              <a:t>The image given to a convolutional neural network.</a:t>
            </a:r>
            <a:endParaRPr b="0" sz="1100">
              <a:solidFill>
                <a:srgbClr val="102A43"/>
              </a:solidFill>
              <a:latin typeface="Arial"/>
              <a:ea typeface="Arial"/>
              <a:cs typeface="Arial"/>
              <a:sym typeface="Arial"/>
            </a:endParaRPr>
          </a:p>
          <a:p>
            <a:pPr indent="-298450" lvl="0" marL="457200" rtl="0" algn="l">
              <a:spcBef>
                <a:spcPts val="900"/>
              </a:spcBef>
              <a:spcAft>
                <a:spcPts val="0"/>
              </a:spcAft>
              <a:buClr>
                <a:srgbClr val="102A43"/>
              </a:buClr>
              <a:buSzPts val="1100"/>
              <a:buFont typeface="Arial"/>
              <a:buAutoNum type="arabicPeriod"/>
            </a:pPr>
            <a:r>
              <a:rPr b="1" lang="en" sz="1100">
                <a:solidFill>
                  <a:srgbClr val="0E6973"/>
                </a:solidFill>
                <a:latin typeface="Arial"/>
                <a:ea typeface="Arial"/>
                <a:cs typeface="Arial"/>
                <a:sym typeface="Arial"/>
              </a:rPr>
              <a:t>Filters/Kernels</a:t>
            </a:r>
            <a:br>
              <a:rPr b="0" lang="en" sz="1100">
                <a:solidFill>
                  <a:srgbClr val="102A43"/>
                </a:solidFill>
                <a:latin typeface="Arial"/>
                <a:ea typeface="Arial"/>
                <a:cs typeface="Arial"/>
                <a:sym typeface="Arial"/>
              </a:rPr>
            </a:br>
            <a:r>
              <a:rPr b="0" lang="en" sz="1000">
                <a:solidFill>
                  <a:srgbClr val="5C6B73"/>
                </a:solidFill>
                <a:latin typeface="Arial"/>
                <a:ea typeface="Arial"/>
                <a:cs typeface="Arial"/>
                <a:sym typeface="Arial"/>
              </a:rPr>
              <a:t>Small matrices that scan across the image to detect visual patterns.</a:t>
            </a:r>
            <a:endParaRPr b="0" sz="1100">
              <a:solidFill>
                <a:srgbClr val="102A43"/>
              </a:solidFill>
              <a:latin typeface="Arial"/>
              <a:ea typeface="Arial"/>
              <a:cs typeface="Arial"/>
              <a:sym typeface="Arial"/>
            </a:endParaRPr>
          </a:p>
          <a:p>
            <a:pPr indent="-298450" lvl="0" marL="457200" rtl="0" algn="l">
              <a:spcBef>
                <a:spcPts val="900"/>
              </a:spcBef>
              <a:spcAft>
                <a:spcPts val="0"/>
              </a:spcAft>
              <a:buClr>
                <a:srgbClr val="102A43"/>
              </a:buClr>
              <a:buSzPts val="1100"/>
              <a:buFont typeface="Arial"/>
              <a:buAutoNum type="arabicPeriod"/>
            </a:pPr>
            <a:r>
              <a:rPr b="1" lang="en" sz="1100">
                <a:solidFill>
                  <a:srgbClr val="0E6973"/>
                </a:solidFill>
                <a:latin typeface="Arial"/>
                <a:ea typeface="Arial"/>
                <a:cs typeface="Arial"/>
                <a:sym typeface="Arial"/>
              </a:rPr>
              <a:t>Feature Maps</a:t>
            </a:r>
            <a:br>
              <a:rPr b="0" lang="en" sz="1100">
                <a:solidFill>
                  <a:srgbClr val="102A43"/>
                </a:solidFill>
                <a:latin typeface="Arial"/>
                <a:ea typeface="Arial"/>
                <a:cs typeface="Arial"/>
                <a:sym typeface="Arial"/>
              </a:rPr>
            </a:br>
            <a:r>
              <a:rPr b="0" lang="en" sz="1000">
                <a:solidFill>
                  <a:srgbClr val="5C6B73"/>
                </a:solidFill>
                <a:latin typeface="Arial"/>
                <a:ea typeface="Arial"/>
                <a:cs typeface="Arial"/>
                <a:sym typeface="Arial"/>
              </a:rPr>
              <a:t>Visual maps showing exactly where specific patterns were detected.</a:t>
            </a:r>
            <a:endParaRPr b="0" sz="1100">
              <a:solidFill>
                <a:srgbClr val="102A43"/>
              </a:solidFill>
              <a:latin typeface="Arial"/>
              <a:ea typeface="Arial"/>
              <a:cs typeface="Arial"/>
              <a:sym typeface="Arial"/>
            </a:endParaRPr>
          </a:p>
          <a:p>
            <a:pPr indent="-298450" lvl="0" marL="457200" rtl="0" algn="l">
              <a:spcBef>
                <a:spcPts val="900"/>
              </a:spcBef>
              <a:spcAft>
                <a:spcPts val="0"/>
              </a:spcAft>
              <a:buClr>
                <a:srgbClr val="102A43"/>
              </a:buClr>
              <a:buSzPts val="1100"/>
              <a:buFont typeface="Arial"/>
              <a:buAutoNum type="arabicPeriod"/>
            </a:pPr>
            <a:r>
              <a:rPr b="1" lang="en" sz="1100">
                <a:solidFill>
                  <a:srgbClr val="0E6973"/>
                </a:solidFill>
                <a:latin typeface="Arial"/>
                <a:ea typeface="Arial"/>
                <a:cs typeface="Arial"/>
                <a:sym typeface="Arial"/>
              </a:rPr>
              <a:t>Hidden Layers</a:t>
            </a:r>
            <a:br>
              <a:rPr b="0" lang="en" sz="1100">
                <a:solidFill>
                  <a:srgbClr val="102A43"/>
                </a:solidFill>
                <a:latin typeface="Arial"/>
                <a:ea typeface="Arial"/>
                <a:cs typeface="Arial"/>
                <a:sym typeface="Arial"/>
              </a:rPr>
            </a:br>
            <a:r>
              <a:rPr b="0" lang="en" sz="1000">
                <a:solidFill>
                  <a:srgbClr val="5C6B73"/>
                </a:solidFill>
                <a:latin typeface="Arial"/>
                <a:ea typeface="Arial"/>
                <a:cs typeface="Arial"/>
                <a:sym typeface="Arial"/>
              </a:rPr>
              <a:t>Process features hierarchically to gradually learn complex patterns.</a:t>
            </a:r>
            <a:endParaRPr b="0" sz="1100">
              <a:solidFill>
                <a:srgbClr val="102A43"/>
              </a:solidFill>
              <a:latin typeface="Arial"/>
              <a:ea typeface="Arial"/>
              <a:cs typeface="Arial"/>
              <a:sym typeface="Arial"/>
            </a:endParaRPr>
          </a:p>
          <a:p>
            <a:pPr indent="-298450" lvl="0" marL="457200" rtl="0" algn="l">
              <a:spcBef>
                <a:spcPts val="900"/>
              </a:spcBef>
              <a:spcAft>
                <a:spcPts val="0"/>
              </a:spcAft>
              <a:buClr>
                <a:srgbClr val="102A43"/>
              </a:buClr>
              <a:buSzPts val="1100"/>
              <a:buFont typeface="Arial"/>
              <a:buAutoNum type="arabicPeriod"/>
            </a:pPr>
            <a:r>
              <a:rPr b="1" lang="en" sz="1100">
                <a:solidFill>
                  <a:srgbClr val="0E6973"/>
                </a:solidFill>
                <a:latin typeface="Arial"/>
                <a:ea typeface="Arial"/>
                <a:cs typeface="Arial"/>
                <a:sym typeface="Arial"/>
              </a:rPr>
              <a:t>Output</a:t>
            </a:r>
            <a:br>
              <a:rPr b="0" lang="en" sz="1100">
                <a:solidFill>
                  <a:srgbClr val="102A43"/>
                </a:solidFill>
                <a:latin typeface="Arial"/>
                <a:ea typeface="Arial"/>
                <a:cs typeface="Arial"/>
                <a:sym typeface="Arial"/>
              </a:rPr>
            </a:br>
            <a:r>
              <a:rPr b="0" lang="en" sz="1000">
                <a:solidFill>
                  <a:srgbClr val="5C6B73"/>
                </a:solidFill>
                <a:latin typeface="Arial"/>
                <a:ea typeface="Arial"/>
                <a:cs typeface="Arial"/>
                <a:sym typeface="Arial"/>
              </a:rPr>
              <a:t>Uses final learned features to generate a prediction or classification.</a:t>
            </a:r>
            <a:endParaRPr b="0" sz="1100">
              <a:solidFill>
                <a:srgbClr val="102A43"/>
              </a:solidFill>
              <a:latin typeface="Arial"/>
              <a:ea typeface="Arial"/>
              <a:cs typeface="Arial"/>
              <a:sym typeface="Arial"/>
            </a:endParaRPr>
          </a:p>
        </p:txBody>
      </p:sp>
      <p:sp>
        <p:nvSpPr>
          <p:cNvPr id="360" name="Google Shape;360;p14"/>
          <p:cNvSpPr/>
          <p:nvPr/>
        </p:nvSpPr>
        <p:spPr>
          <a:xfrm>
            <a:off x="4762500" y="1095375"/>
            <a:ext cx="39054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02A43"/>
                </a:solidFill>
                <a:latin typeface="Play"/>
                <a:ea typeface="Play"/>
                <a:cs typeface="Play"/>
                <a:sym typeface="Play"/>
              </a:rPr>
              <a:t>Understanding Convolution</a:t>
            </a:r>
            <a:endParaRPr b="1" sz="1200">
              <a:solidFill>
                <a:srgbClr val="102A43"/>
              </a:solidFill>
              <a:latin typeface="Play"/>
              <a:ea typeface="Play"/>
              <a:cs typeface="Play"/>
              <a:sym typeface="Play"/>
            </a:endParaRPr>
          </a:p>
          <a:p>
            <a:pPr indent="0" lvl="0" marL="0" rtl="0" algn="l">
              <a:spcBef>
                <a:spcPts val="900"/>
              </a:spcBef>
              <a:spcAft>
                <a:spcPts val="0"/>
              </a:spcAft>
              <a:buNone/>
            </a:pPr>
            <a:r>
              <a:rPr b="0" lang="en" sz="1100">
                <a:solidFill>
                  <a:srgbClr val="5C6B73"/>
                </a:solidFill>
                <a:latin typeface="Arial"/>
                <a:ea typeface="Arial"/>
                <a:cs typeface="Arial"/>
                <a:sym typeface="Arial"/>
              </a:rPr>
              <a:t>A convolutional neural network is a type of neural network designed especially for working with images and visual information.</a:t>
            </a:r>
            <a:endParaRPr b="0" sz="1100">
              <a:solidFill>
                <a:srgbClr val="5C6B73"/>
              </a:solidFill>
              <a:latin typeface="Arial"/>
              <a:ea typeface="Arial"/>
              <a:cs typeface="Arial"/>
              <a:sym typeface="Arial"/>
            </a:endParaRPr>
          </a:p>
          <a:p>
            <a:pPr indent="0" lvl="0" marL="0" rtl="0" algn="l">
              <a:spcBef>
                <a:spcPts val="750"/>
              </a:spcBef>
              <a:spcAft>
                <a:spcPts val="0"/>
              </a:spcAft>
              <a:buNone/>
            </a:pPr>
            <a:r>
              <a:rPr b="0" lang="en" sz="1100">
                <a:solidFill>
                  <a:srgbClr val="5C6B73"/>
                </a:solidFill>
                <a:latin typeface="Arial"/>
                <a:ea typeface="Arial"/>
                <a:cs typeface="Arial"/>
                <a:sym typeface="Arial"/>
              </a:rPr>
              <a:t>Instead of looking at the entire picture at once, a CNN examines small regions of the image and learns the important patterns locally.</a:t>
            </a:r>
            <a:endParaRPr b="0" sz="1100">
              <a:solidFill>
                <a:srgbClr val="5C6B73"/>
              </a:solidFill>
              <a:latin typeface="Arial"/>
              <a:ea typeface="Arial"/>
              <a:cs typeface="Arial"/>
              <a:sym typeface="Arial"/>
            </a:endParaRPr>
          </a:p>
        </p:txBody>
      </p:sp>
      <p:pic>
        <p:nvPicPr>
          <p:cNvPr id="361" name="Google Shape;361;p14"/>
          <p:cNvPicPr preferRelativeResize="0"/>
          <p:nvPr/>
        </p:nvPicPr>
        <p:blipFill rotWithShape="1">
          <a:blip r:embed="rId3">
            <a:alphaModFix/>
          </a:blip>
          <a:srcRect b="0" l="100" r="90" t="0"/>
          <a:stretch/>
        </p:blipFill>
        <p:spPr>
          <a:xfrm>
            <a:off x="4762500" y="2714625"/>
            <a:ext cx="3905400" cy="1305000"/>
          </a:xfrm>
          <a:prstGeom prst="rect">
            <a:avLst/>
          </a:prstGeom>
          <a:noFill/>
          <a:ln>
            <a:noFill/>
          </a:ln>
        </p:spPr>
      </p:pic>
      <p:sp>
        <p:nvSpPr>
          <p:cNvPr id="362" name="Google Shape;362;p14"/>
          <p:cNvSpPr/>
          <p:nvPr/>
        </p:nvSpPr>
        <p:spPr>
          <a:xfrm>
            <a:off x="445770" y="219456"/>
            <a:ext cx="30861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0E6973"/>
                </a:solidFill>
                <a:latin typeface="Arial"/>
                <a:ea typeface="Arial"/>
                <a:cs typeface="Arial"/>
                <a:sym typeface="Arial"/>
              </a:rPr>
              <a:t>King Owusu • What is CNN</a:t>
            </a:r>
            <a:endParaRPr b="1" sz="800">
              <a:solidFill>
                <a:srgbClr val="0E6973"/>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5"/>
          <p:cNvSpPr/>
          <p:nvPr/>
        </p:nvSpPr>
        <p:spPr>
          <a:xfrm>
            <a:off x="445770" y="466344"/>
            <a:ext cx="8092500" cy="39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43"/>
              </a:buClr>
              <a:buSzPts val="2100"/>
              <a:buFont typeface="Play"/>
              <a:buNone/>
            </a:pPr>
            <a:r>
              <a:rPr b="1" lang="en" sz="2100">
                <a:solidFill>
                  <a:srgbClr val="102A43"/>
                </a:solidFill>
                <a:latin typeface="Play"/>
                <a:ea typeface="Play"/>
                <a:cs typeface="Play"/>
                <a:sym typeface="Play"/>
              </a:rPr>
              <a:t>From Simple to Complex Features</a:t>
            </a:r>
            <a:endParaRPr sz="2100">
              <a:solidFill>
                <a:schemeClr val="dk1"/>
              </a:solidFill>
              <a:latin typeface="Arial"/>
              <a:ea typeface="Arial"/>
              <a:cs typeface="Arial"/>
              <a:sym typeface="Arial"/>
            </a:endParaRPr>
          </a:p>
        </p:txBody>
      </p:sp>
      <p:grpSp>
        <p:nvGrpSpPr>
          <p:cNvPr id="368" name="Google Shape;368;p15"/>
          <p:cNvGrpSpPr/>
          <p:nvPr/>
        </p:nvGrpSpPr>
        <p:grpSpPr>
          <a:xfrm>
            <a:off x="445770" y="1000125"/>
            <a:ext cx="8252385" cy="1381200"/>
            <a:chOff x="445770" y="1000125"/>
            <a:chExt cx="8252385" cy="1381200"/>
          </a:xfrm>
        </p:grpSpPr>
        <p:sp>
          <p:nvSpPr>
            <p:cNvPr id="369" name="Google Shape;369;p15"/>
            <p:cNvSpPr/>
            <p:nvPr/>
          </p:nvSpPr>
          <p:spPr>
            <a:xfrm>
              <a:off x="445770" y="1000125"/>
              <a:ext cx="3952800" cy="1381200"/>
            </a:xfrm>
            <a:prstGeom prst="roundRect">
              <a:avLst>
                <a:gd fmla="val 4137" name="adj"/>
              </a:avLst>
            </a:prstGeom>
            <a:solidFill>
              <a:srgbClr val="FFFFFF"/>
            </a:solidFill>
            <a:ln cap="flat" cmpd="sng" w="12675">
              <a:solidFill>
                <a:srgbClr val="D6E2E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15"/>
            <p:cNvSpPr txBox="1"/>
            <p:nvPr/>
          </p:nvSpPr>
          <p:spPr>
            <a:xfrm>
              <a:off x="445770" y="1000125"/>
              <a:ext cx="3952800" cy="13812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 sz="1020">
                  <a:solidFill>
                    <a:srgbClr val="0E6973"/>
                  </a:solidFill>
                  <a:latin typeface="Play"/>
                  <a:ea typeface="Play"/>
                  <a:cs typeface="Play"/>
                  <a:sym typeface="Play"/>
                </a:rPr>
                <a:t>Hierarchical Feature Learning</a:t>
              </a:r>
              <a:endParaRPr b="1" sz="1020">
                <a:solidFill>
                  <a:srgbClr val="0E6973"/>
                </a:solidFill>
                <a:latin typeface="Play"/>
                <a:ea typeface="Play"/>
                <a:cs typeface="Play"/>
                <a:sym typeface="Play"/>
              </a:endParaRPr>
            </a:p>
            <a:p>
              <a:pPr indent="0" lvl="0" marL="0" rtl="0" algn="l">
                <a:spcBef>
                  <a:spcPts val="600"/>
                </a:spcBef>
                <a:spcAft>
                  <a:spcPts val="0"/>
                </a:spcAft>
                <a:buNone/>
              </a:pPr>
              <a:r>
                <a:rPr b="1" lang="en" sz="935">
                  <a:solidFill>
                    <a:srgbClr val="0E6973"/>
                  </a:solidFill>
                  <a:latin typeface="Arial"/>
                  <a:ea typeface="Arial"/>
                  <a:cs typeface="Arial"/>
                  <a:sym typeface="Arial"/>
                </a:rPr>
                <a:t>Early Layers:</a:t>
              </a:r>
              <a:r>
                <a:rPr lang="en" sz="935">
                  <a:solidFill>
                    <a:srgbClr val="5C6B73"/>
                  </a:solidFill>
                  <a:latin typeface="Arial"/>
                  <a:ea typeface="Arial"/>
                  <a:cs typeface="Arial"/>
                  <a:sym typeface="Arial"/>
                </a:rPr>
                <a:t> Detect simple features like edges, lines, and colors.</a:t>
              </a:r>
              <a:endParaRPr sz="935">
                <a:solidFill>
                  <a:srgbClr val="5C6B73"/>
                </a:solidFill>
                <a:latin typeface="Arial"/>
                <a:ea typeface="Arial"/>
                <a:cs typeface="Arial"/>
                <a:sym typeface="Arial"/>
              </a:endParaRPr>
            </a:p>
            <a:p>
              <a:pPr indent="0" lvl="0" marL="0" rtl="0" algn="l">
                <a:spcBef>
                  <a:spcPts val="450"/>
                </a:spcBef>
                <a:spcAft>
                  <a:spcPts val="0"/>
                </a:spcAft>
                <a:buNone/>
              </a:pPr>
              <a:r>
                <a:rPr b="1" lang="en" sz="935">
                  <a:solidFill>
                    <a:srgbClr val="0E6973"/>
                  </a:solidFill>
                  <a:latin typeface="Arial"/>
                  <a:ea typeface="Arial"/>
                  <a:cs typeface="Arial"/>
                  <a:sym typeface="Arial"/>
                </a:rPr>
                <a:t>Middle Layers:</a:t>
              </a:r>
              <a:r>
                <a:rPr lang="en" sz="935">
                  <a:solidFill>
                    <a:srgbClr val="5C6B73"/>
                  </a:solidFill>
                  <a:latin typeface="Arial"/>
                  <a:ea typeface="Arial"/>
                  <a:cs typeface="Arial"/>
                  <a:sym typeface="Arial"/>
                </a:rPr>
                <a:t> Combine simple shapes to recognize curves and textures.</a:t>
              </a:r>
              <a:endParaRPr sz="935">
                <a:solidFill>
                  <a:srgbClr val="5C6B73"/>
                </a:solidFill>
                <a:latin typeface="Arial"/>
                <a:ea typeface="Arial"/>
                <a:cs typeface="Arial"/>
                <a:sym typeface="Arial"/>
              </a:endParaRPr>
            </a:p>
            <a:p>
              <a:pPr indent="0" lvl="0" marL="0" rtl="0" algn="l">
                <a:spcBef>
                  <a:spcPts val="450"/>
                </a:spcBef>
                <a:spcAft>
                  <a:spcPts val="0"/>
                </a:spcAft>
                <a:buNone/>
              </a:pPr>
              <a:r>
                <a:rPr b="1" lang="en" sz="935">
                  <a:solidFill>
                    <a:srgbClr val="0E6973"/>
                  </a:solidFill>
                  <a:latin typeface="Arial"/>
                  <a:ea typeface="Arial"/>
                  <a:cs typeface="Arial"/>
                  <a:sym typeface="Arial"/>
                </a:rPr>
                <a:t>Deeper Layers:</a:t>
              </a:r>
              <a:r>
                <a:rPr lang="en" sz="935">
                  <a:solidFill>
                    <a:srgbClr val="5C6B73"/>
                  </a:solidFill>
                  <a:latin typeface="Arial"/>
                  <a:ea typeface="Arial"/>
                  <a:cs typeface="Arial"/>
                  <a:sym typeface="Arial"/>
                </a:rPr>
                <a:t> Assemble parts into complex objects and patterns.</a:t>
              </a:r>
              <a:endParaRPr sz="935">
                <a:solidFill>
                  <a:srgbClr val="5C6B73"/>
                </a:solidFill>
                <a:latin typeface="Arial"/>
                <a:ea typeface="Arial"/>
                <a:cs typeface="Arial"/>
                <a:sym typeface="Arial"/>
              </a:endParaRPr>
            </a:p>
          </p:txBody>
        </p:sp>
        <p:sp>
          <p:nvSpPr>
            <p:cNvPr id="371" name="Google Shape;371;p15"/>
            <p:cNvSpPr/>
            <p:nvPr/>
          </p:nvSpPr>
          <p:spPr>
            <a:xfrm>
              <a:off x="4745355" y="1000125"/>
              <a:ext cx="3952800" cy="1381200"/>
            </a:xfrm>
            <a:prstGeom prst="roundRect">
              <a:avLst>
                <a:gd fmla="val 4137" name="adj"/>
              </a:avLst>
            </a:prstGeom>
            <a:solidFill>
              <a:srgbClr val="FFFFFF"/>
            </a:solidFill>
            <a:ln cap="flat" cmpd="sng" w="12675">
              <a:solidFill>
                <a:srgbClr val="D6E2E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15"/>
            <p:cNvSpPr txBox="1"/>
            <p:nvPr/>
          </p:nvSpPr>
          <p:spPr>
            <a:xfrm>
              <a:off x="4745355" y="1000125"/>
              <a:ext cx="3952800" cy="13812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 sz="1020">
                  <a:solidFill>
                    <a:srgbClr val="6FA64B"/>
                  </a:solidFill>
                  <a:latin typeface="Play"/>
                  <a:ea typeface="Play"/>
                  <a:cs typeface="Play"/>
                  <a:sym typeface="Play"/>
                </a:rPr>
                <a:t>How the Filter Works</a:t>
              </a:r>
              <a:endParaRPr b="1" sz="1020">
                <a:solidFill>
                  <a:srgbClr val="6FA64B"/>
                </a:solidFill>
                <a:latin typeface="Play"/>
                <a:ea typeface="Play"/>
                <a:cs typeface="Play"/>
                <a:sym typeface="Play"/>
              </a:endParaRPr>
            </a:p>
            <a:p>
              <a:pPr indent="0" lvl="0" marL="0" rtl="0" algn="l">
                <a:spcBef>
                  <a:spcPts val="600"/>
                </a:spcBef>
                <a:spcAft>
                  <a:spcPts val="0"/>
                </a:spcAft>
                <a:buNone/>
              </a:pPr>
              <a:r>
                <a:rPr b="1" i="1" lang="en" sz="935">
                  <a:solidFill>
                    <a:srgbClr val="5C6B73"/>
                  </a:solidFill>
                  <a:latin typeface="Arial"/>
                  <a:ea typeface="Arial"/>
                  <a:cs typeface="Arial"/>
                  <a:sym typeface="Arial"/>
                </a:rPr>
                <a:t>The Chameleon Analogy</a:t>
              </a:r>
              <a:endParaRPr b="1" i="1" sz="935">
                <a:solidFill>
                  <a:srgbClr val="5C6B73"/>
                </a:solidFill>
                <a:latin typeface="Arial"/>
                <a:ea typeface="Arial"/>
                <a:cs typeface="Arial"/>
                <a:sym typeface="Arial"/>
              </a:endParaRPr>
            </a:p>
            <a:p>
              <a:pPr indent="0" lvl="0" marL="0" rtl="0" algn="l">
                <a:spcBef>
                  <a:spcPts val="600"/>
                </a:spcBef>
                <a:spcAft>
                  <a:spcPts val="0"/>
                </a:spcAft>
                <a:buNone/>
              </a:pPr>
              <a:r>
                <a:rPr lang="en" sz="935">
                  <a:solidFill>
                    <a:srgbClr val="5C6B73"/>
                  </a:solidFill>
                  <a:latin typeface="Arial"/>
                  <a:ea typeface="Arial"/>
                  <a:cs typeface="Arial"/>
                  <a:sym typeface="Arial"/>
                </a:rPr>
                <a:t>Imagine a small filter scanning across an image. At each spot, it looks for specific patterns to build a feature map. This local scanning allows the CNN to learn key features efficiently without needing to analyze the entire image at once.</a:t>
              </a:r>
              <a:endParaRPr sz="935">
                <a:solidFill>
                  <a:srgbClr val="5C6B73"/>
                </a:solidFill>
                <a:latin typeface="Arial"/>
                <a:ea typeface="Arial"/>
                <a:cs typeface="Arial"/>
                <a:sym typeface="Arial"/>
              </a:endParaRPr>
            </a:p>
          </p:txBody>
        </p:sp>
      </p:grpSp>
      <p:sp>
        <p:nvSpPr>
          <p:cNvPr id="373" name="Google Shape;373;p15"/>
          <p:cNvSpPr/>
          <p:nvPr/>
        </p:nvSpPr>
        <p:spPr>
          <a:xfrm>
            <a:off x="518770" y="274356"/>
            <a:ext cx="30861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973"/>
              </a:buClr>
              <a:buSzPts val="800"/>
              <a:buFont typeface="Arial"/>
              <a:buNone/>
            </a:pPr>
            <a:r>
              <a:rPr b="1" lang="en" sz="800">
                <a:solidFill>
                  <a:srgbClr val="0E6973"/>
                </a:solidFill>
              </a:rPr>
              <a:t>King Owusu</a:t>
            </a:r>
            <a:r>
              <a:rPr b="1" lang="en" sz="800">
                <a:solidFill>
                  <a:srgbClr val="0E6973"/>
                </a:solidFill>
                <a:latin typeface="Arial"/>
                <a:ea typeface="Arial"/>
                <a:cs typeface="Arial"/>
                <a:sym typeface="Arial"/>
              </a:rPr>
              <a:t> •</a:t>
            </a:r>
            <a:r>
              <a:rPr b="1" lang="en" sz="800">
                <a:solidFill>
                  <a:srgbClr val="0E6973"/>
                </a:solidFill>
              </a:rPr>
              <a:t> How Does CNN Learn Features</a:t>
            </a:r>
            <a:endParaRPr sz="800">
              <a:solidFill>
                <a:schemeClr val="dk1"/>
              </a:solidFill>
              <a:latin typeface="Arial"/>
              <a:ea typeface="Arial"/>
              <a:cs typeface="Arial"/>
              <a:sym typeface="Arial"/>
            </a:endParaRPr>
          </a:p>
        </p:txBody>
      </p:sp>
      <p:pic>
        <p:nvPicPr>
          <p:cNvPr id="374" name="Google Shape;374;p15"/>
          <p:cNvPicPr preferRelativeResize="0"/>
          <p:nvPr/>
        </p:nvPicPr>
        <p:blipFill rotWithShape="1">
          <a:blip r:embed="rId3">
            <a:alphaModFix/>
          </a:blip>
          <a:srcRect b="0" l="0" r="0" t="0"/>
          <a:stretch/>
        </p:blipFill>
        <p:spPr>
          <a:xfrm>
            <a:off x="1048703" y="2495550"/>
            <a:ext cx="7046400" cy="2349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9" name="Shape 379"/>
        <p:cNvGrpSpPr/>
        <p:nvPr/>
      </p:nvGrpSpPr>
      <p:grpSpPr>
        <a:xfrm>
          <a:off x="0" y="0"/>
          <a:ext cx="0" cy="0"/>
          <a:chOff x="0" y="0"/>
          <a:chExt cx="0" cy="0"/>
        </a:xfrm>
      </p:grpSpPr>
      <p:sp>
        <p:nvSpPr>
          <p:cNvPr id="380" name="Google Shape;380;p16"/>
          <p:cNvSpPr/>
          <p:nvPr/>
        </p:nvSpPr>
        <p:spPr>
          <a:xfrm>
            <a:off x="514350" y="242888"/>
            <a:ext cx="6143625" cy="200025"/>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900">
                <a:solidFill>
                  <a:srgbClr val="102B3D"/>
                </a:solidFill>
                <a:latin typeface="Arial"/>
                <a:ea typeface="Arial"/>
                <a:cs typeface="Arial"/>
                <a:sym typeface="Arial"/>
              </a:rPr>
              <a:t>ESTHER ODAIBO • PERSON 3 • CHAMELEON ANALOGY &amp; VISUALS</a:t>
            </a:r>
            <a:endParaRPr sz="1100"/>
          </a:p>
        </p:txBody>
      </p:sp>
      <p:sp>
        <p:nvSpPr>
          <p:cNvPr id="381" name="Google Shape;381;p16"/>
          <p:cNvSpPr/>
          <p:nvPr/>
        </p:nvSpPr>
        <p:spPr>
          <a:xfrm>
            <a:off x="0" y="5014913"/>
            <a:ext cx="9144000" cy="128588"/>
          </a:xfrm>
          <a:prstGeom prst="rect">
            <a:avLst/>
          </a:prstGeom>
          <a:solidFill>
            <a:srgbClr val="102B3D"/>
          </a:solidFill>
          <a:ln cap="flat" cmpd="sng" w="9525">
            <a:solidFill>
              <a:srgbClr val="102B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2" name="Google Shape;382;p16"/>
          <p:cNvSpPr/>
          <p:nvPr/>
        </p:nvSpPr>
        <p:spPr>
          <a:xfrm>
            <a:off x="8501063" y="4750594"/>
            <a:ext cx="250031" cy="17145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r>
              <a:rPr b="0" i="0" lang="en" sz="700">
                <a:solidFill>
                  <a:srgbClr val="5B6870"/>
                </a:solidFill>
                <a:latin typeface="Arial"/>
                <a:ea typeface="Arial"/>
                <a:cs typeface="Arial"/>
                <a:sym typeface="Arial"/>
              </a:rPr>
              <a:t>8</a:t>
            </a:r>
            <a:endParaRPr sz="1100"/>
          </a:p>
        </p:txBody>
      </p:sp>
      <p:sp>
        <p:nvSpPr>
          <p:cNvPr id="383" name="Google Shape;383;p16"/>
          <p:cNvSpPr/>
          <p:nvPr/>
        </p:nvSpPr>
        <p:spPr>
          <a:xfrm>
            <a:off x="514350" y="528638"/>
            <a:ext cx="8001000" cy="500063"/>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2400">
                <a:solidFill>
                  <a:srgbClr val="172734"/>
                </a:solidFill>
                <a:latin typeface="Arial"/>
                <a:ea typeface="Arial"/>
                <a:cs typeface="Arial"/>
                <a:sym typeface="Arial"/>
              </a:rPr>
              <a:t>How the CNN Chameleon “Sees”</a:t>
            </a:r>
            <a:endParaRPr sz="1100"/>
          </a:p>
        </p:txBody>
      </p:sp>
      <p:sp>
        <p:nvSpPr>
          <p:cNvPr id="384" name="Google Shape;384;p16"/>
          <p:cNvSpPr/>
          <p:nvPr/>
        </p:nvSpPr>
        <p:spPr>
          <a:xfrm>
            <a:off x="528638" y="978694"/>
            <a:ext cx="7500938" cy="242888"/>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1100">
                <a:solidFill>
                  <a:srgbClr val="5B6870"/>
                </a:solidFill>
                <a:latin typeface="Arial"/>
                <a:ea typeface="Arial"/>
                <a:cs typeface="Arial"/>
                <a:sym typeface="Arial"/>
              </a:rPr>
              <a:t>The eyes introduce the scanning idea; the network performs the processing.</a:t>
            </a:r>
            <a:endParaRPr sz="1100"/>
          </a:p>
        </p:txBody>
      </p:sp>
      <p:pic>
        <p:nvPicPr>
          <p:cNvPr id="385" name="Google Shape;385;p16"/>
          <p:cNvPicPr preferRelativeResize="0"/>
          <p:nvPr/>
        </p:nvPicPr>
        <p:blipFill rotWithShape="1">
          <a:blip r:embed="rId3">
            <a:alphaModFix/>
          </a:blip>
          <a:srcRect b="0" l="13866" r="13866" t="0"/>
          <a:stretch/>
        </p:blipFill>
        <p:spPr>
          <a:xfrm>
            <a:off x="514350" y="1357313"/>
            <a:ext cx="3228975" cy="2514600"/>
          </a:xfrm>
          <a:prstGeom prst="roundRect">
            <a:avLst>
              <a:gd fmla="val 5114" name="adj"/>
            </a:avLst>
          </a:prstGeom>
          <a:noFill/>
          <a:ln>
            <a:noFill/>
          </a:ln>
        </p:spPr>
      </p:pic>
      <p:sp>
        <p:nvSpPr>
          <p:cNvPr id="386" name="Google Shape;386;p16"/>
          <p:cNvSpPr/>
          <p:nvPr/>
        </p:nvSpPr>
        <p:spPr>
          <a:xfrm>
            <a:off x="657225" y="3393281"/>
            <a:ext cx="2178844" cy="342900"/>
          </a:xfrm>
          <a:prstGeom prst="roundRect">
            <a:avLst>
              <a:gd fmla="val 25000" name="adj"/>
            </a:avLst>
          </a:prstGeom>
          <a:solidFill>
            <a:srgbClr val="102B3D"/>
          </a:solidFill>
          <a:ln cap="flat" cmpd="sng" w="11425">
            <a:solidFill>
              <a:srgbClr val="102B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7" name="Google Shape;387;p16"/>
          <p:cNvSpPr/>
          <p:nvPr/>
        </p:nvSpPr>
        <p:spPr>
          <a:xfrm>
            <a:off x="771525" y="3450431"/>
            <a:ext cx="1964531" cy="21431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a:solidFill>
                  <a:srgbClr val="B7D93D"/>
                </a:solidFill>
                <a:latin typeface="Arial"/>
                <a:ea typeface="Arial"/>
                <a:cs typeface="Arial"/>
                <a:sym typeface="Arial"/>
              </a:rPr>
              <a:t>EYES GATHER VISUAL REGIONS</a:t>
            </a:r>
            <a:endParaRPr sz="1100"/>
          </a:p>
        </p:txBody>
      </p:sp>
      <p:sp>
        <p:nvSpPr>
          <p:cNvPr id="388" name="Google Shape;388;p16"/>
          <p:cNvSpPr/>
          <p:nvPr/>
        </p:nvSpPr>
        <p:spPr>
          <a:xfrm>
            <a:off x="4229100" y="1328738"/>
            <a:ext cx="4300538" cy="485775"/>
          </a:xfrm>
          <a:prstGeom prst="roundRect">
            <a:avLst>
              <a:gd fmla="val 20588" name="adj"/>
            </a:avLst>
          </a:prstGeom>
          <a:solidFill>
            <a:srgbClr val="E5F2F0"/>
          </a:solidFill>
          <a:ln cap="flat" cmpd="sng" w="11425">
            <a:solidFill>
              <a:srgbClr val="0C7C8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9" name="Google Shape;389;p16"/>
          <p:cNvSpPr/>
          <p:nvPr/>
        </p:nvSpPr>
        <p:spPr>
          <a:xfrm>
            <a:off x="4357688" y="1421606"/>
            <a:ext cx="300038" cy="300038"/>
          </a:xfrm>
          <a:prstGeom prst="ellipse">
            <a:avLst/>
          </a:prstGeom>
          <a:solidFill>
            <a:srgbClr val="0C7C83"/>
          </a:solidFill>
          <a:ln cap="flat" cmpd="sng" w="9525">
            <a:solidFill>
              <a:srgbClr val="0C7C8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0" name="Google Shape;390;p16"/>
          <p:cNvSpPr/>
          <p:nvPr/>
        </p:nvSpPr>
        <p:spPr>
          <a:xfrm>
            <a:off x="4357688" y="1421606"/>
            <a:ext cx="300038" cy="30003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100">
                <a:solidFill>
                  <a:srgbClr val="FFFFFF"/>
                </a:solidFill>
                <a:latin typeface="Arial"/>
                <a:ea typeface="Arial"/>
                <a:cs typeface="Arial"/>
                <a:sym typeface="Arial"/>
              </a:rPr>
              <a:t>1</a:t>
            </a:r>
            <a:endParaRPr sz="1100"/>
          </a:p>
        </p:txBody>
      </p:sp>
      <p:sp>
        <p:nvSpPr>
          <p:cNvPr id="391" name="Google Shape;391;p16"/>
          <p:cNvSpPr/>
          <p:nvPr/>
        </p:nvSpPr>
        <p:spPr>
          <a:xfrm>
            <a:off x="4786313" y="1385888"/>
            <a:ext cx="1571625" cy="200025"/>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900">
                <a:solidFill>
                  <a:srgbClr val="102B3D"/>
                </a:solidFill>
                <a:latin typeface="Arial"/>
                <a:ea typeface="Arial"/>
                <a:cs typeface="Arial"/>
                <a:sym typeface="Arial"/>
              </a:rPr>
              <a:t>Image data</a:t>
            </a:r>
            <a:endParaRPr sz="1100"/>
          </a:p>
        </p:txBody>
      </p:sp>
      <p:sp>
        <p:nvSpPr>
          <p:cNvPr id="392" name="Google Shape;392;p16"/>
          <p:cNvSpPr/>
          <p:nvPr/>
        </p:nvSpPr>
        <p:spPr>
          <a:xfrm>
            <a:off x="4786313" y="1571625"/>
            <a:ext cx="3571875" cy="1714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700">
                <a:solidFill>
                  <a:srgbClr val="5B6870"/>
                </a:solidFill>
                <a:latin typeface="Arial"/>
                <a:ea typeface="Arial"/>
                <a:cs typeface="Arial"/>
                <a:sym typeface="Arial"/>
              </a:rPr>
              <a:t>A picture enters as organized pixel values.</a:t>
            </a:r>
            <a:endParaRPr sz="1100"/>
          </a:p>
        </p:txBody>
      </p:sp>
      <p:sp>
        <p:nvSpPr>
          <p:cNvPr id="393" name="Google Shape;393;p16"/>
          <p:cNvSpPr/>
          <p:nvPr/>
        </p:nvSpPr>
        <p:spPr>
          <a:xfrm>
            <a:off x="4229100" y="1893094"/>
            <a:ext cx="4300538" cy="485775"/>
          </a:xfrm>
          <a:prstGeom prst="roundRect">
            <a:avLst>
              <a:gd fmla="val 20588" name="adj"/>
            </a:avLst>
          </a:prstGeom>
          <a:solidFill>
            <a:srgbClr val="EEF4E5"/>
          </a:solidFill>
          <a:ln cap="flat" cmpd="sng" w="114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4" name="Google Shape;394;p16"/>
          <p:cNvSpPr/>
          <p:nvPr/>
        </p:nvSpPr>
        <p:spPr>
          <a:xfrm>
            <a:off x="4357688" y="1985963"/>
            <a:ext cx="300038" cy="300038"/>
          </a:xfrm>
          <a:prstGeom prst="ellipse">
            <a:avLst/>
          </a:prstGeom>
          <a:solidFill>
            <a:srgbClr val="68A83A"/>
          </a:solidFill>
          <a:ln cap="flat" cmpd="sng" w="95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5" name="Google Shape;395;p16"/>
          <p:cNvSpPr/>
          <p:nvPr/>
        </p:nvSpPr>
        <p:spPr>
          <a:xfrm>
            <a:off x="4357688" y="1985963"/>
            <a:ext cx="300038" cy="30003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100">
                <a:solidFill>
                  <a:srgbClr val="FFFFFF"/>
                </a:solidFill>
                <a:latin typeface="Arial"/>
                <a:ea typeface="Arial"/>
                <a:cs typeface="Arial"/>
                <a:sym typeface="Arial"/>
              </a:rPr>
              <a:t>2</a:t>
            </a:r>
            <a:endParaRPr sz="1100"/>
          </a:p>
        </p:txBody>
      </p:sp>
      <p:sp>
        <p:nvSpPr>
          <p:cNvPr id="396" name="Google Shape;396;p16"/>
          <p:cNvSpPr/>
          <p:nvPr/>
        </p:nvSpPr>
        <p:spPr>
          <a:xfrm>
            <a:off x="4786313" y="1950244"/>
            <a:ext cx="1571625" cy="200025"/>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900">
                <a:solidFill>
                  <a:srgbClr val="102B3D"/>
                </a:solidFill>
                <a:latin typeface="Arial"/>
                <a:ea typeface="Arial"/>
                <a:cs typeface="Arial"/>
                <a:sym typeface="Arial"/>
              </a:rPr>
              <a:t>Local patterns</a:t>
            </a:r>
            <a:endParaRPr sz="1100"/>
          </a:p>
        </p:txBody>
      </p:sp>
      <p:sp>
        <p:nvSpPr>
          <p:cNvPr id="397" name="Google Shape;397;p16"/>
          <p:cNvSpPr/>
          <p:nvPr/>
        </p:nvSpPr>
        <p:spPr>
          <a:xfrm>
            <a:off x="4786313" y="2135981"/>
            <a:ext cx="3571875" cy="1714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700">
                <a:solidFill>
                  <a:srgbClr val="5B6870"/>
                </a:solidFill>
                <a:latin typeface="Arial"/>
                <a:ea typeface="Arial"/>
                <a:cs typeface="Arial"/>
                <a:sym typeface="Arial"/>
              </a:rPr>
              <a:t>Small filters examine one region at a time.</a:t>
            </a:r>
            <a:endParaRPr sz="1100"/>
          </a:p>
        </p:txBody>
      </p:sp>
      <p:sp>
        <p:nvSpPr>
          <p:cNvPr id="398" name="Google Shape;398;p16"/>
          <p:cNvSpPr/>
          <p:nvPr/>
        </p:nvSpPr>
        <p:spPr>
          <a:xfrm>
            <a:off x="4229100" y="2457450"/>
            <a:ext cx="4300538" cy="485775"/>
          </a:xfrm>
          <a:prstGeom prst="roundRect">
            <a:avLst>
              <a:gd fmla="val 20588" name="adj"/>
            </a:avLst>
          </a:prstGeom>
          <a:solidFill>
            <a:srgbClr val="F6EDDB"/>
          </a:solidFill>
          <a:ln cap="flat" cmpd="sng" w="114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9" name="Google Shape;399;p16"/>
          <p:cNvSpPr/>
          <p:nvPr/>
        </p:nvSpPr>
        <p:spPr>
          <a:xfrm>
            <a:off x="4357688" y="2550319"/>
            <a:ext cx="300038" cy="300038"/>
          </a:xfrm>
          <a:prstGeom prst="ellipse">
            <a:avLst/>
          </a:prstGeom>
          <a:solidFill>
            <a:srgbClr val="C98B28"/>
          </a:solidFill>
          <a:ln cap="flat" cmpd="sng" w="95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0" name="Google Shape;400;p16"/>
          <p:cNvSpPr/>
          <p:nvPr/>
        </p:nvSpPr>
        <p:spPr>
          <a:xfrm>
            <a:off x="4357688" y="2550319"/>
            <a:ext cx="300038" cy="30003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100">
                <a:solidFill>
                  <a:srgbClr val="FFFFFF"/>
                </a:solidFill>
                <a:latin typeface="Arial"/>
                <a:ea typeface="Arial"/>
                <a:cs typeface="Arial"/>
                <a:sym typeface="Arial"/>
              </a:rPr>
              <a:t>3</a:t>
            </a:r>
            <a:endParaRPr sz="1100"/>
          </a:p>
        </p:txBody>
      </p:sp>
      <p:sp>
        <p:nvSpPr>
          <p:cNvPr id="401" name="Google Shape;401;p16"/>
          <p:cNvSpPr/>
          <p:nvPr/>
        </p:nvSpPr>
        <p:spPr>
          <a:xfrm>
            <a:off x="4786313" y="2514600"/>
            <a:ext cx="1571625" cy="200025"/>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900">
                <a:solidFill>
                  <a:srgbClr val="102B3D"/>
                </a:solidFill>
                <a:latin typeface="Arial"/>
                <a:ea typeface="Arial"/>
                <a:cs typeface="Arial"/>
                <a:sym typeface="Arial"/>
              </a:rPr>
              <a:t>Feature maps</a:t>
            </a:r>
            <a:endParaRPr sz="1100"/>
          </a:p>
        </p:txBody>
      </p:sp>
      <p:sp>
        <p:nvSpPr>
          <p:cNvPr id="402" name="Google Shape;402;p16"/>
          <p:cNvSpPr/>
          <p:nvPr/>
        </p:nvSpPr>
        <p:spPr>
          <a:xfrm>
            <a:off x="4786313" y="2700338"/>
            <a:ext cx="3571875" cy="1714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700">
                <a:solidFill>
                  <a:srgbClr val="5B6870"/>
                </a:solidFill>
                <a:latin typeface="Arial"/>
                <a:ea typeface="Arial"/>
                <a:cs typeface="Arial"/>
                <a:sym typeface="Arial"/>
              </a:rPr>
              <a:t>Detected edges, colors and textures are mapped.</a:t>
            </a:r>
            <a:endParaRPr sz="1100"/>
          </a:p>
        </p:txBody>
      </p:sp>
      <p:sp>
        <p:nvSpPr>
          <p:cNvPr id="403" name="Google Shape;403;p16"/>
          <p:cNvSpPr/>
          <p:nvPr/>
        </p:nvSpPr>
        <p:spPr>
          <a:xfrm>
            <a:off x="4229100" y="3021806"/>
            <a:ext cx="4300538" cy="485775"/>
          </a:xfrm>
          <a:prstGeom prst="roundRect">
            <a:avLst>
              <a:gd fmla="val 20588" name="adj"/>
            </a:avLst>
          </a:prstGeom>
          <a:solidFill>
            <a:srgbClr val="E5F2F0"/>
          </a:solidFill>
          <a:ln cap="flat" cmpd="sng" w="11425">
            <a:solidFill>
              <a:srgbClr val="0C7C8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4" name="Google Shape;404;p16"/>
          <p:cNvSpPr/>
          <p:nvPr/>
        </p:nvSpPr>
        <p:spPr>
          <a:xfrm>
            <a:off x="4357688" y="3114675"/>
            <a:ext cx="300038" cy="300038"/>
          </a:xfrm>
          <a:prstGeom prst="ellipse">
            <a:avLst/>
          </a:prstGeom>
          <a:solidFill>
            <a:srgbClr val="0C7C83"/>
          </a:solidFill>
          <a:ln cap="flat" cmpd="sng" w="9525">
            <a:solidFill>
              <a:srgbClr val="0C7C8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5" name="Google Shape;405;p16"/>
          <p:cNvSpPr/>
          <p:nvPr/>
        </p:nvSpPr>
        <p:spPr>
          <a:xfrm>
            <a:off x="4357688" y="3114675"/>
            <a:ext cx="300038" cy="30003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100">
                <a:solidFill>
                  <a:srgbClr val="FFFFFF"/>
                </a:solidFill>
                <a:latin typeface="Arial"/>
                <a:ea typeface="Arial"/>
                <a:cs typeface="Arial"/>
                <a:sym typeface="Arial"/>
              </a:rPr>
              <a:t>4</a:t>
            </a:r>
            <a:endParaRPr sz="1100"/>
          </a:p>
        </p:txBody>
      </p:sp>
      <p:sp>
        <p:nvSpPr>
          <p:cNvPr id="406" name="Google Shape;406;p16"/>
          <p:cNvSpPr/>
          <p:nvPr/>
        </p:nvSpPr>
        <p:spPr>
          <a:xfrm>
            <a:off x="4786313" y="3078956"/>
            <a:ext cx="1571625" cy="200025"/>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900">
                <a:solidFill>
                  <a:srgbClr val="102B3D"/>
                </a:solidFill>
                <a:latin typeface="Arial"/>
                <a:ea typeface="Arial"/>
                <a:cs typeface="Arial"/>
                <a:sym typeface="Arial"/>
              </a:rPr>
              <a:t>Deeper processing</a:t>
            </a:r>
            <a:endParaRPr sz="1100"/>
          </a:p>
        </p:txBody>
      </p:sp>
      <p:sp>
        <p:nvSpPr>
          <p:cNvPr id="407" name="Google Shape;407;p16"/>
          <p:cNvSpPr/>
          <p:nvPr/>
        </p:nvSpPr>
        <p:spPr>
          <a:xfrm>
            <a:off x="4786313" y="3264694"/>
            <a:ext cx="3571875" cy="1714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700">
                <a:solidFill>
                  <a:srgbClr val="5B6870"/>
                </a:solidFill>
                <a:latin typeface="Arial"/>
                <a:ea typeface="Arial"/>
                <a:cs typeface="Arial"/>
                <a:sym typeface="Arial"/>
              </a:rPr>
              <a:t>Layers combine simple features into larger patterns.</a:t>
            </a:r>
            <a:endParaRPr sz="1100"/>
          </a:p>
        </p:txBody>
      </p:sp>
      <p:sp>
        <p:nvSpPr>
          <p:cNvPr id="408" name="Google Shape;408;p16"/>
          <p:cNvSpPr/>
          <p:nvPr/>
        </p:nvSpPr>
        <p:spPr>
          <a:xfrm>
            <a:off x="4229100" y="3586163"/>
            <a:ext cx="4300538" cy="485775"/>
          </a:xfrm>
          <a:prstGeom prst="roundRect">
            <a:avLst>
              <a:gd fmla="val 20588" name="adj"/>
            </a:avLst>
          </a:prstGeom>
          <a:solidFill>
            <a:srgbClr val="EEF4E5"/>
          </a:solidFill>
          <a:ln cap="flat" cmpd="sng" w="114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9" name="Google Shape;409;p16"/>
          <p:cNvSpPr/>
          <p:nvPr/>
        </p:nvSpPr>
        <p:spPr>
          <a:xfrm>
            <a:off x="4357688" y="3679031"/>
            <a:ext cx="300038" cy="300038"/>
          </a:xfrm>
          <a:prstGeom prst="ellipse">
            <a:avLst/>
          </a:prstGeom>
          <a:solidFill>
            <a:srgbClr val="68A83A"/>
          </a:solidFill>
          <a:ln cap="flat" cmpd="sng" w="95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0" name="Google Shape;410;p16"/>
          <p:cNvSpPr/>
          <p:nvPr/>
        </p:nvSpPr>
        <p:spPr>
          <a:xfrm>
            <a:off x="4357688" y="3679031"/>
            <a:ext cx="300038" cy="30003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100">
                <a:solidFill>
                  <a:srgbClr val="FFFFFF"/>
                </a:solidFill>
                <a:latin typeface="Arial"/>
                <a:ea typeface="Arial"/>
                <a:cs typeface="Arial"/>
                <a:sym typeface="Arial"/>
              </a:rPr>
              <a:t>5</a:t>
            </a:r>
            <a:endParaRPr sz="1100"/>
          </a:p>
        </p:txBody>
      </p:sp>
      <p:sp>
        <p:nvSpPr>
          <p:cNvPr id="411" name="Google Shape;411;p16"/>
          <p:cNvSpPr/>
          <p:nvPr/>
        </p:nvSpPr>
        <p:spPr>
          <a:xfrm>
            <a:off x="4786313" y="3643313"/>
            <a:ext cx="1571625" cy="200025"/>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900">
                <a:solidFill>
                  <a:srgbClr val="102B3D"/>
                </a:solidFill>
                <a:latin typeface="Arial"/>
                <a:ea typeface="Arial"/>
                <a:cs typeface="Arial"/>
                <a:sym typeface="Arial"/>
              </a:rPr>
              <a:t>Prediction</a:t>
            </a:r>
            <a:endParaRPr sz="1100"/>
          </a:p>
        </p:txBody>
      </p:sp>
      <p:sp>
        <p:nvSpPr>
          <p:cNvPr id="412" name="Google Shape;412;p16"/>
          <p:cNvSpPr/>
          <p:nvPr/>
        </p:nvSpPr>
        <p:spPr>
          <a:xfrm>
            <a:off x="4786313" y="3829050"/>
            <a:ext cx="3571875" cy="1714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700">
                <a:solidFill>
                  <a:srgbClr val="5B6870"/>
                </a:solidFill>
                <a:latin typeface="Arial"/>
                <a:ea typeface="Arial"/>
                <a:cs typeface="Arial"/>
                <a:sym typeface="Arial"/>
              </a:rPr>
              <a:t>Final features support a label or classification.</a:t>
            </a:r>
            <a:endParaRPr sz="1100"/>
          </a:p>
        </p:txBody>
      </p:sp>
      <p:cxnSp>
        <p:nvCxnSpPr>
          <p:cNvPr id="413" name="Google Shape;413;p16"/>
          <p:cNvCxnSpPr>
            <a:stCxn id="388" idx="2"/>
            <a:endCxn id="393" idx="0"/>
          </p:cNvCxnSpPr>
          <p:nvPr/>
        </p:nvCxnSpPr>
        <p:spPr>
          <a:xfrm>
            <a:off x="6379369" y="1814513"/>
            <a:ext cx="0" cy="78600"/>
          </a:xfrm>
          <a:prstGeom prst="straightConnector1">
            <a:avLst/>
          </a:prstGeom>
          <a:noFill/>
          <a:ln cap="flat" cmpd="sng" w="19050">
            <a:solidFill>
              <a:srgbClr val="102B3D"/>
            </a:solidFill>
            <a:prstDash val="solid"/>
            <a:round/>
            <a:headEnd len="sm" w="sm" type="none"/>
            <a:tailEnd len="sm" w="sm" type="triangle"/>
          </a:ln>
        </p:spPr>
      </p:cxnSp>
      <p:cxnSp>
        <p:nvCxnSpPr>
          <p:cNvPr id="414" name="Google Shape;414;p16"/>
          <p:cNvCxnSpPr>
            <a:stCxn id="393" idx="2"/>
            <a:endCxn id="398" idx="0"/>
          </p:cNvCxnSpPr>
          <p:nvPr/>
        </p:nvCxnSpPr>
        <p:spPr>
          <a:xfrm>
            <a:off x="6379369" y="2378869"/>
            <a:ext cx="0" cy="78600"/>
          </a:xfrm>
          <a:prstGeom prst="straightConnector1">
            <a:avLst/>
          </a:prstGeom>
          <a:noFill/>
          <a:ln cap="flat" cmpd="sng" w="19050">
            <a:solidFill>
              <a:srgbClr val="102B3D"/>
            </a:solidFill>
            <a:prstDash val="solid"/>
            <a:round/>
            <a:headEnd len="sm" w="sm" type="none"/>
            <a:tailEnd len="sm" w="sm" type="triangle"/>
          </a:ln>
        </p:spPr>
      </p:cxnSp>
      <p:cxnSp>
        <p:nvCxnSpPr>
          <p:cNvPr id="415" name="Google Shape;415;p16"/>
          <p:cNvCxnSpPr>
            <a:stCxn id="398" idx="2"/>
            <a:endCxn id="403" idx="0"/>
          </p:cNvCxnSpPr>
          <p:nvPr/>
        </p:nvCxnSpPr>
        <p:spPr>
          <a:xfrm>
            <a:off x="6379369" y="2943225"/>
            <a:ext cx="0" cy="78600"/>
          </a:xfrm>
          <a:prstGeom prst="straightConnector1">
            <a:avLst/>
          </a:prstGeom>
          <a:noFill/>
          <a:ln cap="flat" cmpd="sng" w="19050">
            <a:solidFill>
              <a:srgbClr val="102B3D"/>
            </a:solidFill>
            <a:prstDash val="solid"/>
            <a:round/>
            <a:headEnd len="sm" w="sm" type="none"/>
            <a:tailEnd len="sm" w="sm" type="triangle"/>
          </a:ln>
        </p:spPr>
      </p:cxnSp>
      <p:cxnSp>
        <p:nvCxnSpPr>
          <p:cNvPr id="416" name="Google Shape;416;p16"/>
          <p:cNvCxnSpPr>
            <a:stCxn id="403" idx="2"/>
            <a:endCxn id="408" idx="0"/>
          </p:cNvCxnSpPr>
          <p:nvPr/>
        </p:nvCxnSpPr>
        <p:spPr>
          <a:xfrm>
            <a:off x="6379369" y="3507581"/>
            <a:ext cx="0" cy="78600"/>
          </a:xfrm>
          <a:prstGeom prst="straightConnector1">
            <a:avLst/>
          </a:prstGeom>
          <a:noFill/>
          <a:ln cap="flat" cmpd="sng" w="19050">
            <a:solidFill>
              <a:srgbClr val="102B3D"/>
            </a:solidFill>
            <a:prstDash val="solid"/>
            <a:round/>
            <a:headEnd len="sm" w="sm" type="none"/>
            <a:tailEnd len="sm" w="sm" type="triangle"/>
          </a:ln>
        </p:spPr>
      </p:cxnSp>
      <p:sp>
        <p:nvSpPr>
          <p:cNvPr id="417" name="Google Shape;417;p16"/>
          <p:cNvSpPr/>
          <p:nvPr/>
        </p:nvSpPr>
        <p:spPr>
          <a:xfrm>
            <a:off x="514350" y="4193381"/>
            <a:ext cx="8015288" cy="478631"/>
          </a:xfrm>
          <a:prstGeom prst="roundRect">
            <a:avLst>
              <a:gd fmla="val 17910" name="adj"/>
            </a:avLst>
          </a:prstGeom>
          <a:solidFill>
            <a:srgbClr val="102B3D"/>
          </a:solidFill>
          <a:ln cap="flat" cmpd="sng" w="11425">
            <a:solidFill>
              <a:srgbClr val="102B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8" name="Google Shape;418;p16"/>
          <p:cNvSpPr/>
          <p:nvPr/>
        </p:nvSpPr>
        <p:spPr>
          <a:xfrm>
            <a:off x="671513" y="4286250"/>
            <a:ext cx="1643063" cy="271463"/>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1000">
                <a:solidFill>
                  <a:srgbClr val="B7D93D"/>
                </a:solidFill>
                <a:latin typeface="Arial"/>
                <a:ea typeface="Arial"/>
                <a:cs typeface="Arial"/>
                <a:sym typeface="Arial"/>
              </a:rPr>
              <a:t>THE KEY DISTINCTION</a:t>
            </a:r>
            <a:endParaRPr sz="1100"/>
          </a:p>
        </p:txBody>
      </p:sp>
      <p:sp>
        <p:nvSpPr>
          <p:cNvPr id="419" name="Google Shape;419;p16"/>
          <p:cNvSpPr/>
          <p:nvPr/>
        </p:nvSpPr>
        <p:spPr>
          <a:xfrm>
            <a:off x="2314575" y="4250531"/>
            <a:ext cx="6029325"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900">
                <a:solidFill>
                  <a:srgbClr val="FFFFFF"/>
                </a:solidFill>
                <a:latin typeface="Arial"/>
                <a:ea typeface="Arial"/>
                <a:cs typeface="Arial"/>
                <a:sym typeface="Arial"/>
              </a:rPr>
              <a:t>A chameleon gathers visual information with its eyes. A CNN scans numerical image data with mathematical filters.</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4" name="Shape 424"/>
        <p:cNvGrpSpPr/>
        <p:nvPr/>
      </p:nvGrpSpPr>
      <p:grpSpPr>
        <a:xfrm>
          <a:off x="0" y="0"/>
          <a:ext cx="0" cy="0"/>
          <a:chOff x="0" y="0"/>
          <a:chExt cx="0" cy="0"/>
        </a:xfrm>
      </p:grpSpPr>
      <p:sp>
        <p:nvSpPr>
          <p:cNvPr id="425" name="Google Shape;425;p17"/>
          <p:cNvSpPr/>
          <p:nvPr/>
        </p:nvSpPr>
        <p:spPr>
          <a:xfrm>
            <a:off x="514350" y="242888"/>
            <a:ext cx="6143625" cy="200025"/>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900">
                <a:solidFill>
                  <a:srgbClr val="102B3D"/>
                </a:solidFill>
                <a:latin typeface="Arial"/>
                <a:ea typeface="Arial"/>
                <a:cs typeface="Arial"/>
                <a:sym typeface="Arial"/>
              </a:rPr>
              <a:t>ESTHER ODAIBO • PERSON 3 • CHAMELEON ANALOGY &amp; VISUALS</a:t>
            </a:r>
            <a:endParaRPr sz="1100"/>
          </a:p>
        </p:txBody>
      </p:sp>
      <p:sp>
        <p:nvSpPr>
          <p:cNvPr id="426" name="Google Shape;426;p17"/>
          <p:cNvSpPr/>
          <p:nvPr/>
        </p:nvSpPr>
        <p:spPr>
          <a:xfrm>
            <a:off x="0" y="5014913"/>
            <a:ext cx="9144000" cy="128588"/>
          </a:xfrm>
          <a:prstGeom prst="rect">
            <a:avLst/>
          </a:prstGeom>
          <a:solidFill>
            <a:srgbClr val="102B3D"/>
          </a:solidFill>
          <a:ln cap="flat" cmpd="sng" w="9525">
            <a:solidFill>
              <a:srgbClr val="102B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7" name="Google Shape;427;p17"/>
          <p:cNvSpPr/>
          <p:nvPr/>
        </p:nvSpPr>
        <p:spPr>
          <a:xfrm>
            <a:off x="8501063" y="4750594"/>
            <a:ext cx="250031" cy="17145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r>
              <a:rPr b="0" i="0" lang="en" sz="700">
                <a:solidFill>
                  <a:srgbClr val="5B6870"/>
                </a:solidFill>
                <a:latin typeface="Arial"/>
                <a:ea typeface="Arial"/>
                <a:cs typeface="Arial"/>
                <a:sym typeface="Arial"/>
              </a:rPr>
              <a:t>9</a:t>
            </a:r>
            <a:endParaRPr sz="1100"/>
          </a:p>
        </p:txBody>
      </p:sp>
      <p:sp>
        <p:nvSpPr>
          <p:cNvPr id="428" name="Google Shape;428;p17"/>
          <p:cNvSpPr/>
          <p:nvPr/>
        </p:nvSpPr>
        <p:spPr>
          <a:xfrm>
            <a:off x="514350" y="528638"/>
            <a:ext cx="8072438" cy="500063"/>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2400">
                <a:solidFill>
                  <a:srgbClr val="172734"/>
                </a:solidFill>
                <a:latin typeface="Arial"/>
                <a:ea typeface="Arial"/>
                <a:cs typeface="Arial"/>
                <a:sym typeface="Arial"/>
              </a:rPr>
              <a:t>Where the Analogy Works—and Where It Stops</a:t>
            </a:r>
            <a:endParaRPr sz="1100"/>
          </a:p>
        </p:txBody>
      </p:sp>
      <p:sp>
        <p:nvSpPr>
          <p:cNvPr id="429" name="Google Shape;429;p17"/>
          <p:cNvSpPr/>
          <p:nvPr/>
        </p:nvSpPr>
        <p:spPr>
          <a:xfrm>
            <a:off x="528638" y="978694"/>
            <a:ext cx="7715250" cy="242888"/>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1100">
                <a:solidFill>
                  <a:srgbClr val="5B6870"/>
                </a:solidFill>
                <a:latin typeface="Arial"/>
                <a:ea typeface="Arial"/>
                <a:cs typeface="Arial"/>
                <a:sym typeface="Arial"/>
              </a:rPr>
              <a:t>The chameleon is a memory aid, not a literal model of a convolutional network.</a:t>
            </a:r>
            <a:endParaRPr sz="1100"/>
          </a:p>
        </p:txBody>
      </p:sp>
      <p:sp>
        <p:nvSpPr>
          <p:cNvPr id="430" name="Google Shape;430;p17"/>
          <p:cNvSpPr/>
          <p:nvPr/>
        </p:nvSpPr>
        <p:spPr>
          <a:xfrm>
            <a:off x="514350" y="1357313"/>
            <a:ext cx="3829050" cy="2143125"/>
          </a:xfrm>
          <a:prstGeom prst="roundRect">
            <a:avLst>
              <a:gd fmla="val 6000" name="adj"/>
            </a:avLst>
          </a:prstGeom>
          <a:solidFill>
            <a:srgbClr val="EEF4E5"/>
          </a:solidFill>
          <a:ln cap="flat" cmpd="sng" w="114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1" name="Google Shape;431;p17"/>
          <p:cNvSpPr/>
          <p:nvPr/>
        </p:nvSpPr>
        <p:spPr>
          <a:xfrm>
            <a:off x="728663" y="1500188"/>
            <a:ext cx="3143250" cy="2857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1400">
                <a:solidFill>
                  <a:srgbClr val="68A83A"/>
                </a:solidFill>
                <a:latin typeface="Arial"/>
                <a:ea typeface="Arial"/>
                <a:cs typeface="Arial"/>
                <a:sym typeface="Arial"/>
              </a:rPr>
              <a:t>WHERE IT WORKS</a:t>
            </a:r>
            <a:endParaRPr sz="1100"/>
          </a:p>
        </p:txBody>
      </p:sp>
      <p:sp>
        <p:nvSpPr>
          <p:cNvPr id="432" name="Google Shape;432;p17"/>
          <p:cNvSpPr/>
          <p:nvPr/>
        </p:nvSpPr>
        <p:spPr>
          <a:xfrm>
            <a:off x="728663" y="1928813"/>
            <a:ext cx="271463" cy="271463"/>
          </a:xfrm>
          <a:prstGeom prst="ellipse">
            <a:avLst/>
          </a:prstGeom>
          <a:solidFill>
            <a:srgbClr val="68A83A"/>
          </a:solidFill>
          <a:ln cap="flat" cmpd="sng" w="95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3" name="Google Shape;433;p17"/>
          <p:cNvSpPr/>
          <p:nvPr/>
        </p:nvSpPr>
        <p:spPr>
          <a:xfrm>
            <a:off x="728663" y="1928813"/>
            <a:ext cx="271463" cy="27146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000">
                <a:solidFill>
                  <a:srgbClr val="FFFFFF"/>
                </a:solidFill>
                <a:latin typeface="Arial"/>
                <a:ea typeface="Arial"/>
                <a:cs typeface="Arial"/>
                <a:sym typeface="Arial"/>
              </a:rPr>
              <a:t>1</a:t>
            </a:r>
            <a:endParaRPr sz="1100"/>
          </a:p>
        </p:txBody>
      </p:sp>
      <p:sp>
        <p:nvSpPr>
          <p:cNvPr id="434" name="Google Shape;434;p17"/>
          <p:cNvSpPr/>
          <p:nvPr/>
        </p:nvSpPr>
        <p:spPr>
          <a:xfrm>
            <a:off x="1114425" y="1914525"/>
            <a:ext cx="1357313" cy="185738"/>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800">
                <a:solidFill>
                  <a:srgbClr val="172734"/>
                </a:solidFill>
                <a:latin typeface="Arial"/>
                <a:ea typeface="Arial"/>
                <a:cs typeface="Arial"/>
                <a:sym typeface="Arial"/>
              </a:rPr>
              <a:t>Different regions</a:t>
            </a:r>
            <a:endParaRPr sz="1100"/>
          </a:p>
        </p:txBody>
      </p:sp>
      <p:sp>
        <p:nvSpPr>
          <p:cNvPr id="435" name="Google Shape;435;p17"/>
          <p:cNvSpPr/>
          <p:nvPr/>
        </p:nvSpPr>
        <p:spPr>
          <a:xfrm>
            <a:off x="1114425" y="2107406"/>
            <a:ext cx="2964656" cy="271463"/>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900">
                <a:solidFill>
                  <a:srgbClr val="5B6870"/>
                </a:solidFill>
                <a:latin typeface="Arial"/>
                <a:ea typeface="Arial"/>
                <a:cs typeface="Arial"/>
                <a:sym typeface="Arial"/>
              </a:rPr>
              <a:t>Both direct attention to separate areas of a visual scene.</a:t>
            </a:r>
            <a:endParaRPr sz="1100"/>
          </a:p>
        </p:txBody>
      </p:sp>
      <p:sp>
        <p:nvSpPr>
          <p:cNvPr id="436" name="Google Shape;436;p17"/>
          <p:cNvSpPr/>
          <p:nvPr/>
        </p:nvSpPr>
        <p:spPr>
          <a:xfrm>
            <a:off x="728663" y="2414588"/>
            <a:ext cx="271463" cy="271463"/>
          </a:xfrm>
          <a:prstGeom prst="ellipse">
            <a:avLst/>
          </a:prstGeom>
          <a:solidFill>
            <a:srgbClr val="68A83A"/>
          </a:solidFill>
          <a:ln cap="flat" cmpd="sng" w="95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7" name="Google Shape;437;p17"/>
          <p:cNvSpPr/>
          <p:nvPr/>
        </p:nvSpPr>
        <p:spPr>
          <a:xfrm>
            <a:off x="728663" y="2414588"/>
            <a:ext cx="271463" cy="27146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000">
                <a:solidFill>
                  <a:srgbClr val="FFFFFF"/>
                </a:solidFill>
                <a:latin typeface="Arial"/>
                <a:ea typeface="Arial"/>
                <a:cs typeface="Arial"/>
                <a:sym typeface="Arial"/>
              </a:rPr>
              <a:t>2</a:t>
            </a:r>
            <a:endParaRPr sz="1100"/>
          </a:p>
        </p:txBody>
      </p:sp>
      <p:sp>
        <p:nvSpPr>
          <p:cNvPr id="438" name="Google Shape;438;p17"/>
          <p:cNvSpPr/>
          <p:nvPr/>
        </p:nvSpPr>
        <p:spPr>
          <a:xfrm>
            <a:off x="1114425" y="2400300"/>
            <a:ext cx="1357313" cy="185738"/>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800">
                <a:solidFill>
                  <a:srgbClr val="172734"/>
                </a:solidFill>
                <a:latin typeface="Arial"/>
                <a:ea typeface="Arial"/>
                <a:cs typeface="Arial"/>
                <a:sym typeface="Arial"/>
              </a:rPr>
              <a:t>Local information</a:t>
            </a:r>
            <a:endParaRPr sz="1100"/>
          </a:p>
        </p:txBody>
      </p:sp>
      <p:sp>
        <p:nvSpPr>
          <p:cNvPr id="439" name="Google Shape;439;p17"/>
          <p:cNvSpPr/>
          <p:nvPr/>
        </p:nvSpPr>
        <p:spPr>
          <a:xfrm>
            <a:off x="1114425" y="2593181"/>
            <a:ext cx="2964656" cy="271463"/>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900">
                <a:solidFill>
                  <a:srgbClr val="5B6870"/>
                </a:solidFill>
                <a:latin typeface="Arial"/>
                <a:ea typeface="Arial"/>
                <a:cs typeface="Arial"/>
                <a:sym typeface="Arial"/>
              </a:rPr>
              <a:t>Nearby colors, edges and shapes provide useful clues.</a:t>
            </a:r>
            <a:endParaRPr sz="1100"/>
          </a:p>
        </p:txBody>
      </p:sp>
      <p:sp>
        <p:nvSpPr>
          <p:cNvPr id="440" name="Google Shape;440;p17"/>
          <p:cNvSpPr/>
          <p:nvPr/>
        </p:nvSpPr>
        <p:spPr>
          <a:xfrm>
            <a:off x="728663" y="2900363"/>
            <a:ext cx="271463" cy="271463"/>
          </a:xfrm>
          <a:prstGeom prst="ellipse">
            <a:avLst/>
          </a:prstGeom>
          <a:solidFill>
            <a:srgbClr val="68A83A"/>
          </a:solidFill>
          <a:ln cap="flat" cmpd="sng" w="95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1" name="Google Shape;441;p17"/>
          <p:cNvSpPr/>
          <p:nvPr/>
        </p:nvSpPr>
        <p:spPr>
          <a:xfrm>
            <a:off x="728663" y="2900363"/>
            <a:ext cx="271463" cy="27146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000">
                <a:solidFill>
                  <a:srgbClr val="FFFFFF"/>
                </a:solidFill>
                <a:latin typeface="Arial"/>
                <a:ea typeface="Arial"/>
                <a:cs typeface="Arial"/>
                <a:sym typeface="Arial"/>
              </a:rPr>
              <a:t>3</a:t>
            </a:r>
            <a:endParaRPr sz="1100"/>
          </a:p>
        </p:txBody>
      </p:sp>
      <p:sp>
        <p:nvSpPr>
          <p:cNvPr id="442" name="Google Shape;442;p17"/>
          <p:cNvSpPr/>
          <p:nvPr/>
        </p:nvSpPr>
        <p:spPr>
          <a:xfrm>
            <a:off x="1114425" y="2886075"/>
            <a:ext cx="1357313" cy="185738"/>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800">
                <a:solidFill>
                  <a:srgbClr val="172734"/>
                </a:solidFill>
                <a:latin typeface="Arial"/>
                <a:ea typeface="Arial"/>
                <a:cs typeface="Arial"/>
                <a:sym typeface="Arial"/>
              </a:rPr>
              <a:t>Combined evidence</a:t>
            </a:r>
            <a:endParaRPr sz="1100"/>
          </a:p>
        </p:txBody>
      </p:sp>
      <p:sp>
        <p:nvSpPr>
          <p:cNvPr id="443" name="Google Shape;443;p17"/>
          <p:cNvSpPr/>
          <p:nvPr/>
        </p:nvSpPr>
        <p:spPr>
          <a:xfrm>
            <a:off x="1114425" y="3078956"/>
            <a:ext cx="2964656" cy="271463"/>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900">
                <a:solidFill>
                  <a:srgbClr val="5B6870"/>
                </a:solidFill>
                <a:latin typeface="Arial"/>
                <a:ea typeface="Arial"/>
                <a:cs typeface="Arial"/>
                <a:sym typeface="Arial"/>
              </a:rPr>
              <a:t>Information from many regions contributes to recognition.</a:t>
            </a:r>
            <a:endParaRPr sz="1100"/>
          </a:p>
        </p:txBody>
      </p:sp>
      <p:sp>
        <p:nvSpPr>
          <p:cNvPr id="444" name="Google Shape;444;p17"/>
          <p:cNvSpPr/>
          <p:nvPr/>
        </p:nvSpPr>
        <p:spPr>
          <a:xfrm>
            <a:off x="4514850" y="1357313"/>
            <a:ext cx="4014788" cy="2143125"/>
          </a:xfrm>
          <a:prstGeom prst="roundRect">
            <a:avLst>
              <a:gd fmla="val 6000" name="adj"/>
            </a:avLst>
          </a:prstGeom>
          <a:solidFill>
            <a:srgbClr val="F6EDDB"/>
          </a:solidFill>
          <a:ln cap="flat" cmpd="sng" w="114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5" name="Google Shape;445;p17"/>
          <p:cNvSpPr/>
          <p:nvPr/>
        </p:nvSpPr>
        <p:spPr>
          <a:xfrm>
            <a:off x="4729163" y="1500188"/>
            <a:ext cx="3250406" cy="2857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1400">
                <a:solidFill>
                  <a:srgbClr val="C98B28"/>
                </a:solidFill>
                <a:latin typeface="Arial"/>
                <a:ea typeface="Arial"/>
                <a:cs typeface="Arial"/>
                <a:sym typeface="Arial"/>
              </a:rPr>
              <a:t>WHERE IT STOPS</a:t>
            </a:r>
            <a:endParaRPr sz="1100"/>
          </a:p>
        </p:txBody>
      </p:sp>
      <p:sp>
        <p:nvSpPr>
          <p:cNvPr id="446" name="Google Shape;446;p17"/>
          <p:cNvSpPr/>
          <p:nvPr/>
        </p:nvSpPr>
        <p:spPr>
          <a:xfrm>
            <a:off x="4729163" y="1928813"/>
            <a:ext cx="271463" cy="271463"/>
          </a:xfrm>
          <a:prstGeom prst="ellipse">
            <a:avLst/>
          </a:prstGeom>
          <a:solidFill>
            <a:srgbClr val="C98B28"/>
          </a:solidFill>
          <a:ln cap="flat" cmpd="sng" w="95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7" name="Google Shape;447;p17"/>
          <p:cNvSpPr/>
          <p:nvPr/>
        </p:nvSpPr>
        <p:spPr>
          <a:xfrm>
            <a:off x="4729163" y="1928813"/>
            <a:ext cx="271463" cy="27146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000">
                <a:solidFill>
                  <a:srgbClr val="FFFFFF"/>
                </a:solidFill>
                <a:latin typeface="Arial"/>
                <a:ea typeface="Arial"/>
                <a:cs typeface="Arial"/>
                <a:sym typeface="Arial"/>
              </a:rPr>
              <a:t>1</a:t>
            </a:r>
            <a:endParaRPr sz="1100"/>
          </a:p>
        </p:txBody>
      </p:sp>
      <p:sp>
        <p:nvSpPr>
          <p:cNvPr id="448" name="Google Shape;448;p17"/>
          <p:cNvSpPr/>
          <p:nvPr/>
        </p:nvSpPr>
        <p:spPr>
          <a:xfrm>
            <a:off x="5114925" y="1914525"/>
            <a:ext cx="1678781" cy="185738"/>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800">
                <a:solidFill>
                  <a:srgbClr val="172734"/>
                </a:solidFill>
                <a:latin typeface="Arial"/>
                <a:ea typeface="Arial"/>
                <a:cs typeface="Arial"/>
                <a:sym typeface="Arial"/>
              </a:rPr>
              <a:t>Biology vs. computation</a:t>
            </a:r>
            <a:endParaRPr sz="1100"/>
          </a:p>
        </p:txBody>
      </p:sp>
      <p:sp>
        <p:nvSpPr>
          <p:cNvPr id="449" name="Google Shape;449;p17"/>
          <p:cNvSpPr/>
          <p:nvPr/>
        </p:nvSpPr>
        <p:spPr>
          <a:xfrm>
            <a:off x="5114925" y="2107406"/>
            <a:ext cx="3143250" cy="271463"/>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800">
                <a:solidFill>
                  <a:srgbClr val="5B6870"/>
                </a:solidFill>
                <a:latin typeface="Arial"/>
                <a:ea typeface="Arial"/>
                <a:cs typeface="Arial"/>
                <a:sym typeface="Arial"/>
              </a:rPr>
              <a:t>A chameleon uses living eyes and a brain; a CNN uses calculations.</a:t>
            </a:r>
            <a:endParaRPr sz="1100"/>
          </a:p>
        </p:txBody>
      </p:sp>
      <p:sp>
        <p:nvSpPr>
          <p:cNvPr id="450" name="Google Shape;450;p17"/>
          <p:cNvSpPr/>
          <p:nvPr/>
        </p:nvSpPr>
        <p:spPr>
          <a:xfrm>
            <a:off x="4729163" y="2414588"/>
            <a:ext cx="271463" cy="271463"/>
          </a:xfrm>
          <a:prstGeom prst="ellipse">
            <a:avLst/>
          </a:prstGeom>
          <a:solidFill>
            <a:srgbClr val="C98B28"/>
          </a:solidFill>
          <a:ln cap="flat" cmpd="sng" w="95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1" name="Google Shape;451;p17"/>
          <p:cNvSpPr/>
          <p:nvPr/>
        </p:nvSpPr>
        <p:spPr>
          <a:xfrm>
            <a:off x="4729163" y="2414588"/>
            <a:ext cx="271463" cy="27146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000">
                <a:solidFill>
                  <a:srgbClr val="FFFFFF"/>
                </a:solidFill>
                <a:latin typeface="Arial"/>
                <a:ea typeface="Arial"/>
                <a:cs typeface="Arial"/>
                <a:sym typeface="Arial"/>
              </a:rPr>
              <a:t>2</a:t>
            </a:r>
            <a:endParaRPr sz="1100"/>
          </a:p>
        </p:txBody>
      </p:sp>
      <p:sp>
        <p:nvSpPr>
          <p:cNvPr id="452" name="Google Shape;452;p17"/>
          <p:cNvSpPr/>
          <p:nvPr/>
        </p:nvSpPr>
        <p:spPr>
          <a:xfrm>
            <a:off x="5114925" y="2400300"/>
            <a:ext cx="1678781" cy="185738"/>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800">
                <a:solidFill>
                  <a:srgbClr val="172734"/>
                </a:solidFill>
                <a:latin typeface="Arial"/>
                <a:ea typeface="Arial"/>
                <a:cs typeface="Arial"/>
                <a:sym typeface="Arial"/>
              </a:rPr>
              <a:t>Seeing vs. numbers</a:t>
            </a:r>
            <a:endParaRPr sz="1100"/>
          </a:p>
        </p:txBody>
      </p:sp>
      <p:sp>
        <p:nvSpPr>
          <p:cNvPr id="453" name="Google Shape;453;p17"/>
          <p:cNvSpPr/>
          <p:nvPr/>
        </p:nvSpPr>
        <p:spPr>
          <a:xfrm>
            <a:off x="5114925" y="2593181"/>
            <a:ext cx="3143250" cy="271463"/>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900">
                <a:solidFill>
                  <a:srgbClr val="5B6870"/>
                </a:solidFill>
                <a:latin typeface="Arial"/>
                <a:ea typeface="Arial"/>
                <a:cs typeface="Arial"/>
                <a:sym typeface="Arial"/>
              </a:rPr>
              <a:t>A CNN receives pixel values rather than experiencing a picture.</a:t>
            </a:r>
            <a:endParaRPr sz="1100"/>
          </a:p>
        </p:txBody>
      </p:sp>
      <p:sp>
        <p:nvSpPr>
          <p:cNvPr id="454" name="Google Shape;454;p17"/>
          <p:cNvSpPr/>
          <p:nvPr/>
        </p:nvSpPr>
        <p:spPr>
          <a:xfrm>
            <a:off x="4729163" y="2900363"/>
            <a:ext cx="271463" cy="271463"/>
          </a:xfrm>
          <a:prstGeom prst="ellipse">
            <a:avLst/>
          </a:prstGeom>
          <a:solidFill>
            <a:srgbClr val="C98B28"/>
          </a:solidFill>
          <a:ln cap="flat" cmpd="sng" w="95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5" name="Google Shape;455;p17"/>
          <p:cNvSpPr/>
          <p:nvPr/>
        </p:nvSpPr>
        <p:spPr>
          <a:xfrm>
            <a:off x="4729163" y="2900363"/>
            <a:ext cx="271463" cy="271463"/>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000">
                <a:solidFill>
                  <a:srgbClr val="FFFFFF"/>
                </a:solidFill>
                <a:latin typeface="Arial"/>
                <a:ea typeface="Arial"/>
                <a:cs typeface="Arial"/>
                <a:sym typeface="Arial"/>
              </a:rPr>
              <a:t>3</a:t>
            </a:r>
            <a:endParaRPr sz="1100"/>
          </a:p>
        </p:txBody>
      </p:sp>
      <p:sp>
        <p:nvSpPr>
          <p:cNvPr id="456" name="Google Shape;456;p17"/>
          <p:cNvSpPr/>
          <p:nvPr/>
        </p:nvSpPr>
        <p:spPr>
          <a:xfrm>
            <a:off x="5114925" y="2886075"/>
            <a:ext cx="1678781" cy="185738"/>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 sz="800">
                <a:solidFill>
                  <a:srgbClr val="172734"/>
                </a:solidFill>
                <a:latin typeface="Arial"/>
                <a:ea typeface="Arial"/>
                <a:cs typeface="Arial"/>
                <a:sym typeface="Arial"/>
              </a:rPr>
              <a:t>Scanning vs. understanding</a:t>
            </a:r>
            <a:endParaRPr sz="1100"/>
          </a:p>
        </p:txBody>
      </p:sp>
      <p:sp>
        <p:nvSpPr>
          <p:cNvPr id="457" name="Google Shape;457;p17"/>
          <p:cNvSpPr/>
          <p:nvPr/>
        </p:nvSpPr>
        <p:spPr>
          <a:xfrm>
            <a:off x="5114925" y="3078956"/>
            <a:ext cx="3143250" cy="271463"/>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800">
                <a:solidFill>
                  <a:srgbClr val="5B6870"/>
                </a:solidFill>
                <a:latin typeface="Arial"/>
                <a:ea typeface="Arial"/>
                <a:cs typeface="Arial"/>
                <a:sym typeface="Arial"/>
              </a:rPr>
              <a:t>Pattern detection does not give the network human-like meaning.</a:t>
            </a:r>
            <a:endParaRPr sz="1100"/>
          </a:p>
        </p:txBody>
      </p:sp>
      <p:sp>
        <p:nvSpPr>
          <p:cNvPr id="458" name="Google Shape;458;p17"/>
          <p:cNvSpPr/>
          <p:nvPr/>
        </p:nvSpPr>
        <p:spPr>
          <a:xfrm>
            <a:off x="628650" y="3786188"/>
            <a:ext cx="2143125" cy="600075"/>
          </a:xfrm>
          <a:prstGeom prst="roundRect">
            <a:avLst>
              <a:gd fmla="val 19048" name="adj"/>
            </a:avLst>
          </a:prstGeom>
          <a:solidFill>
            <a:srgbClr val="102B3D"/>
          </a:solidFill>
          <a:ln cap="flat" cmpd="sng" w="11425">
            <a:solidFill>
              <a:srgbClr val="102B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9" name="Google Shape;459;p17"/>
          <p:cNvSpPr/>
          <p:nvPr/>
        </p:nvSpPr>
        <p:spPr>
          <a:xfrm>
            <a:off x="750094" y="3864769"/>
            <a:ext cx="1900238" cy="18573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800">
                <a:solidFill>
                  <a:srgbClr val="B7D93D"/>
                </a:solidFill>
                <a:latin typeface="Arial"/>
                <a:ea typeface="Arial"/>
                <a:cs typeface="Arial"/>
                <a:sym typeface="Arial"/>
              </a:rPr>
              <a:t>CHAMELEON EYES</a:t>
            </a:r>
            <a:endParaRPr sz="1100"/>
          </a:p>
        </p:txBody>
      </p:sp>
      <p:sp>
        <p:nvSpPr>
          <p:cNvPr id="460" name="Google Shape;460;p17"/>
          <p:cNvSpPr/>
          <p:nvPr/>
        </p:nvSpPr>
        <p:spPr>
          <a:xfrm>
            <a:off x="750094" y="4071938"/>
            <a:ext cx="1900238" cy="18573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800">
                <a:solidFill>
                  <a:srgbClr val="FFFFFF"/>
                </a:solidFill>
                <a:latin typeface="Arial"/>
                <a:ea typeface="Arial"/>
                <a:cs typeface="Arial"/>
                <a:sym typeface="Arial"/>
              </a:rPr>
              <a:t>Gather information</a:t>
            </a:r>
            <a:endParaRPr sz="1100"/>
          </a:p>
        </p:txBody>
      </p:sp>
      <p:sp>
        <p:nvSpPr>
          <p:cNvPr id="461" name="Google Shape;461;p17"/>
          <p:cNvSpPr/>
          <p:nvPr/>
        </p:nvSpPr>
        <p:spPr>
          <a:xfrm>
            <a:off x="6372225" y="3786188"/>
            <a:ext cx="2043113" cy="600075"/>
          </a:xfrm>
          <a:prstGeom prst="roundRect">
            <a:avLst>
              <a:gd fmla="val 19048" name="adj"/>
            </a:avLst>
          </a:prstGeom>
          <a:solidFill>
            <a:srgbClr val="0C7C83"/>
          </a:solidFill>
          <a:ln cap="flat" cmpd="sng" w="11425">
            <a:solidFill>
              <a:srgbClr val="0C7C8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2" name="Google Shape;462;p17"/>
          <p:cNvSpPr/>
          <p:nvPr/>
        </p:nvSpPr>
        <p:spPr>
          <a:xfrm>
            <a:off x="6500813" y="3864769"/>
            <a:ext cx="1785938" cy="18573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800">
                <a:solidFill>
                  <a:srgbClr val="B7D93D"/>
                </a:solidFill>
                <a:latin typeface="Arial"/>
                <a:ea typeface="Arial"/>
                <a:cs typeface="Arial"/>
                <a:sym typeface="Arial"/>
              </a:rPr>
              <a:t>CNN HIDDEN LAYERS</a:t>
            </a:r>
            <a:endParaRPr sz="1100"/>
          </a:p>
        </p:txBody>
      </p:sp>
      <p:sp>
        <p:nvSpPr>
          <p:cNvPr id="463" name="Google Shape;463;p17"/>
          <p:cNvSpPr/>
          <p:nvPr/>
        </p:nvSpPr>
        <p:spPr>
          <a:xfrm>
            <a:off x="6500813" y="4071938"/>
            <a:ext cx="1785938" cy="18573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800">
                <a:solidFill>
                  <a:srgbClr val="FFFFFF"/>
                </a:solidFill>
                <a:latin typeface="Arial"/>
                <a:ea typeface="Arial"/>
                <a:cs typeface="Arial"/>
                <a:sym typeface="Arial"/>
              </a:rPr>
              <a:t>Process features</a:t>
            </a:r>
            <a:endParaRPr sz="1100"/>
          </a:p>
        </p:txBody>
      </p:sp>
      <p:sp>
        <p:nvSpPr>
          <p:cNvPr id="464" name="Google Shape;464;p17"/>
          <p:cNvSpPr/>
          <p:nvPr/>
        </p:nvSpPr>
        <p:spPr>
          <a:xfrm>
            <a:off x="3357563" y="3786188"/>
            <a:ext cx="2414588" cy="600075"/>
          </a:xfrm>
          <a:prstGeom prst="roundRect">
            <a:avLst>
              <a:gd fmla="val 19048" name="adj"/>
            </a:avLst>
          </a:prstGeom>
          <a:solidFill>
            <a:srgbClr val="FFFFFF"/>
          </a:solidFill>
          <a:ln cap="flat" cmpd="sng" w="11425">
            <a:solidFill>
              <a:srgbClr val="CDD4C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5" name="Google Shape;465;p17"/>
          <p:cNvSpPr/>
          <p:nvPr/>
        </p:nvSpPr>
        <p:spPr>
          <a:xfrm>
            <a:off x="3500438" y="3864769"/>
            <a:ext cx="2128838" cy="17859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700">
                <a:solidFill>
                  <a:srgbClr val="C98B28"/>
                </a:solidFill>
                <a:latin typeface="Arial"/>
                <a:ea typeface="Arial"/>
                <a:cs typeface="Arial"/>
                <a:sym typeface="Arial"/>
              </a:rPr>
              <a:t>DO NOT EQUATE THEM</a:t>
            </a:r>
            <a:endParaRPr sz="1100"/>
          </a:p>
        </p:txBody>
      </p:sp>
      <p:sp>
        <p:nvSpPr>
          <p:cNvPr id="466" name="Google Shape;466;p17"/>
          <p:cNvSpPr/>
          <p:nvPr/>
        </p:nvSpPr>
        <p:spPr>
          <a:xfrm>
            <a:off x="3500438" y="4071938"/>
            <a:ext cx="2128838" cy="17859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700">
                <a:solidFill>
                  <a:srgbClr val="172734"/>
                </a:solidFill>
                <a:latin typeface="Arial"/>
                <a:ea typeface="Arial"/>
                <a:cs typeface="Arial"/>
                <a:sym typeface="Arial"/>
              </a:rPr>
              <a:t>The eyes are not the hidden layers</a:t>
            </a:r>
            <a:endParaRPr sz="1100"/>
          </a:p>
        </p:txBody>
      </p:sp>
      <p:cxnSp>
        <p:nvCxnSpPr>
          <p:cNvPr id="467" name="Google Shape;467;p17"/>
          <p:cNvCxnSpPr>
            <a:stCxn id="458" idx="3"/>
            <a:endCxn id="464" idx="1"/>
          </p:cNvCxnSpPr>
          <p:nvPr/>
        </p:nvCxnSpPr>
        <p:spPr>
          <a:xfrm>
            <a:off x="2771775" y="4086225"/>
            <a:ext cx="585900" cy="0"/>
          </a:xfrm>
          <a:prstGeom prst="straightConnector1">
            <a:avLst/>
          </a:prstGeom>
          <a:noFill/>
          <a:ln cap="flat" cmpd="sng" w="19050">
            <a:solidFill>
              <a:srgbClr val="102B3D"/>
            </a:solidFill>
            <a:prstDash val="solid"/>
            <a:round/>
            <a:headEnd len="sm" w="sm" type="none"/>
            <a:tailEnd len="sm" w="sm" type="triangle"/>
          </a:ln>
        </p:spPr>
      </p:cxnSp>
      <p:cxnSp>
        <p:nvCxnSpPr>
          <p:cNvPr id="468" name="Google Shape;468;p17"/>
          <p:cNvCxnSpPr>
            <a:stCxn id="464" idx="3"/>
            <a:endCxn id="461" idx="1"/>
          </p:cNvCxnSpPr>
          <p:nvPr/>
        </p:nvCxnSpPr>
        <p:spPr>
          <a:xfrm>
            <a:off x="5772150" y="4086225"/>
            <a:ext cx="600000" cy="0"/>
          </a:xfrm>
          <a:prstGeom prst="straightConnector1">
            <a:avLst/>
          </a:prstGeom>
          <a:noFill/>
          <a:ln cap="flat" cmpd="sng" w="19050">
            <a:solidFill>
              <a:srgbClr val="0C7C83"/>
            </a:solidFill>
            <a:prstDash val="solid"/>
            <a:round/>
            <a:headEnd len="sm" w="sm" type="triangle"/>
            <a:tailEnd len="sm" w="sm" type="none"/>
          </a:ln>
        </p:spPr>
      </p:cxnSp>
      <p:sp>
        <p:nvSpPr>
          <p:cNvPr id="469" name="Google Shape;469;p17"/>
          <p:cNvSpPr/>
          <p:nvPr/>
        </p:nvSpPr>
        <p:spPr>
          <a:xfrm>
            <a:off x="514350" y="4536281"/>
            <a:ext cx="8015288" cy="314325"/>
          </a:xfrm>
          <a:prstGeom prst="roundRect">
            <a:avLst>
              <a:gd fmla="val 22727" name="adj"/>
            </a:avLst>
          </a:prstGeom>
          <a:solidFill>
            <a:srgbClr val="102B3D"/>
          </a:solidFill>
          <a:ln cap="flat" cmpd="sng" w="11425">
            <a:solidFill>
              <a:srgbClr val="102B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0" name="Google Shape;470;p17"/>
          <p:cNvSpPr/>
          <p:nvPr/>
        </p:nvSpPr>
        <p:spPr>
          <a:xfrm>
            <a:off x="671513" y="4586288"/>
            <a:ext cx="7679531" cy="200025"/>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a:solidFill>
                  <a:srgbClr val="FFFFFF"/>
                </a:solidFill>
                <a:latin typeface="Arial"/>
                <a:ea typeface="Arial"/>
                <a:cs typeface="Arial"/>
                <a:sym typeface="Arial"/>
              </a:rPr>
              <a:t>Main takeaway: the chameleon explains visual scanning; filters and layers explain the actual CNN process.</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5" name="Shape 475"/>
        <p:cNvGrpSpPr/>
        <p:nvPr/>
      </p:nvGrpSpPr>
      <p:grpSpPr>
        <a:xfrm>
          <a:off x="0" y="0"/>
          <a:ext cx="0" cy="0"/>
          <a:chOff x="0" y="0"/>
          <a:chExt cx="0" cy="0"/>
        </a:xfrm>
      </p:grpSpPr>
      <p:sp>
        <p:nvSpPr>
          <p:cNvPr id="476" name="Google Shape;476;p18"/>
          <p:cNvSpPr/>
          <p:nvPr/>
        </p:nvSpPr>
        <p:spPr>
          <a:xfrm>
            <a:off x="514350" y="242888"/>
            <a:ext cx="6143625" cy="2000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02B3D"/>
                </a:solidFill>
                <a:latin typeface="Arial"/>
                <a:ea typeface="Arial"/>
                <a:cs typeface="Arial"/>
                <a:sym typeface="Arial"/>
              </a:rPr>
              <a:t>ZAIN AHMED •</a:t>
            </a:r>
            <a:r>
              <a:rPr b="1" lang="en" sz="900">
                <a:solidFill>
                  <a:srgbClr val="102B3D"/>
                </a:solidFill>
              </a:rPr>
              <a:t> </a:t>
            </a:r>
            <a:r>
              <a:rPr b="1" i="0" lang="en" sz="900" u="none" cap="none" strike="noStrike">
                <a:solidFill>
                  <a:srgbClr val="102B3D"/>
                </a:solidFill>
                <a:latin typeface="Arial"/>
                <a:ea typeface="Arial"/>
                <a:cs typeface="Arial"/>
                <a:sym typeface="Arial"/>
              </a:rPr>
              <a:t>APPLICATIONS, LIMITATIONS &amp; REFLECTION</a:t>
            </a:r>
            <a:endParaRPr b="0" i="0" sz="1100" u="none" cap="none" strike="noStrike">
              <a:solidFill>
                <a:srgbClr val="000000"/>
              </a:solidFill>
              <a:latin typeface="Arial"/>
              <a:ea typeface="Arial"/>
              <a:cs typeface="Arial"/>
              <a:sym typeface="Arial"/>
            </a:endParaRPr>
          </a:p>
        </p:txBody>
      </p:sp>
      <p:sp>
        <p:nvSpPr>
          <p:cNvPr id="477" name="Google Shape;477;p18"/>
          <p:cNvSpPr/>
          <p:nvPr/>
        </p:nvSpPr>
        <p:spPr>
          <a:xfrm>
            <a:off x="0" y="5014913"/>
            <a:ext cx="9144000" cy="128588"/>
          </a:xfrm>
          <a:prstGeom prst="rect">
            <a:avLst/>
          </a:prstGeom>
          <a:solidFill>
            <a:srgbClr val="102B3D"/>
          </a:solidFill>
          <a:ln cap="flat" cmpd="sng" w="9525">
            <a:solidFill>
              <a:srgbClr val="102B3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18"/>
          <p:cNvSpPr/>
          <p:nvPr/>
        </p:nvSpPr>
        <p:spPr>
          <a:xfrm>
            <a:off x="8501063" y="4750594"/>
            <a:ext cx="250031" cy="1714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rgbClr val="5B6870"/>
                </a:solidFill>
                <a:latin typeface="Arial"/>
                <a:ea typeface="Arial"/>
                <a:cs typeface="Arial"/>
                <a:sym typeface="Arial"/>
              </a:rPr>
              <a:t>10</a:t>
            </a:r>
            <a:endParaRPr b="0" i="0" sz="1100" u="none" cap="none" strike="noStrike">
              <a:solidFill>
                <a:srgbClr val="000000"/>
              </a:solidFill>
              <a:latin typeface="Arial"/>
              <a:ea typeface="Arial"/>
              <a:cs typeface="Arial"/>
              <a:sym typeface="Arial"/>
            </a:endParaRPr>
          </a:p>
        </p:txBody>
      </p:sp>
      <p:sp>
        <p:nvSpPr>
          <p:cNvPr id="479" name="Google Shape;479;p18"/>
          <p:cNvSpPr/>
          <p:nvPr/>
        </p:nvSpPr>
        <p:spPr>
          <a:xfrm>
            <a:off x="514350" y="528638"/>
            <a:ext cx="8001000" cy="50006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172734"/>
                </a:solidFill>
                <a:latin typeface="Arial"/>
                <a:ea typeface="Arial"/>
                <a:cs typeface="Arial"/>
                <a:sym typeface="Arial"/>
              </a:rPr>
              <a:t>Where CNNs Are Used in the Real World</a:t>
            </a:r>
            <a:endParaRPr b="0" i="0" sz="1100" u="none" cap="none" strike="noStrike">
              <a:solidFill>
                <a:srgbClr val="000000"/>
              </a:solidFill>
              <a:latin typeface="Arial"/>
              <a:ea typeface="Arial"/>
              <a:cs typeface="Arial"/>
              <a:sym typeface="Arial"/>
            </a:endParaRPr>
          </a:p>
        </p:txBody>
      </p:sp>
      <p:sp>
        <p:nvSpPr>
          <p:cNvPr id="480" name="Google Shape;480;p18"/>
          <p:cNvSpPr/>
          <p:nvPr/>
        </p:nvSpPr>
        <p:spPr>
          <a:xfrm>
            <a:off x="528638" y="978694"/>
            <a:ext cx="7500938" cy="242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5B6870"/>
                </a:solidFill>
                <a:latin typeface="Arial"/>
                <a:ea typeface="Arial"/>
                <a:cs typeface="Arial"/>
                <a:sym typeface="Arial"/>
              </a:rPr>
              <a:t>CNNs are useful when a task depends on recognizing visual patterns in images or video.</a:t>
            </a:r>
            <a:endParaRPr b="0" i="0" sz="1100" u="none" cap="none" strike="noStrike">
              <a:solidFill>
                <a:srgbClr val="000000"/>
              </a:solidFill>
              <a:latin typeface="Arial"/>
              <a:ea typeface="Arial"/>
              <a:cs typeface="Arial"/>
              <a:sym typeface="Arial"/>
            </a:endParaRPr>
          </a:p>
        </p:txBody>
      </p:sp>
      <p:sp>
        <p:nvSpPr>
          <p:cNvPr id="481" name="Google Shape;481;p18"/>
          <p:cNvSpPr/>
          <p:nvPr/>
        </p:nvSpPr>
        <p:spPr>
          <a:xfrm>
            <a:off x="1010192" y="1328738"/>
            <a:ext cx="4300500" cy="485700"/>
          </a:xfrm>
          <a:prstGeom prst="roundRect">
            <a:avLst>
              <a:gd fmla="val 20588" name="adj"/>
            </a:avLst>
          </a:prstGeom>
          <a:solidFill>
            <a:srgbClr val="E5F2F0"/>
          </a:solidFill>
          <a:ln cap="flat" cmpd="sng" w="11425">
            <a:solidFill>
              <a:srgbClr val="0C7C8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8"/>
          <p:cNvSpPr/>
          <p:nvPr/>
        </p:nvSpPr>
        <p:spPr>
          <a:xfrm>
            <a:off x="1138780" y="1421606"/>
            <a:ext cx="300000" cy="300000"/>
          </a:xfrm>
          <a:prstGeom prst="ellipse">
            <a:avLst/>
          </a:prstGeom>
          <a:solidFill>
            <a:srgbClr val="0C7C83"/>
          </a:solidFill>
          <a:ln cap="flat" cmpd="sng" w="9525">
            <a:solidFill>
              <a:srgbClr val="0C7C8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8"/>
          <p:cNvSpPr/>
          <p:nvPr/>
        </p:nvSpPr>
        <p:spPr>
          <a:xfrm>
            <a:off x="1138780" y="1421606"/>
            <a:ext cx="300000" cy="300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Arial"/>
                <a:ea typeface="Arial"/>
                <a:cs typeface="Arial"/>
                <a:sym typeface="Arial"/>
              </a:rPr>
              <a:t>1</a:t>
            </a:r>
            <a:endParaRPr b="0" i="0" sz="1100" u="none" cap="none" strike="noStrike">
              <a:solidFill>
                <a:srgbClr val="000000"/>
              </a:solidFill>
              <a:latin typeface="Arial"/>
              <a:ea typeface="Arial"/>
              <a:cs typeface="Arial"/>
              <a:sym typeface="Arial"/>
            </a:endParaRPr>
          </a:p>
        </p:txBody>
      </p:sp>
      <p:sp>
        <p:nvSpPr>
          <p:cNvPr id="484" name="Google Shape;484;p18"/>
          <p:cNvSpPr/>
          <p:nvPr/>
        </p:nvSpPr>
        <p:spPr>
          <a:xfrm>
            <a:off x="1567405" y="1385888"/>
            <a:ext cx="15717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02B3D"/>
                </a:solidFill>
                <a:latin typeface="Arial"/>
                <a:ea typeface="Arial"/>
                <a:cs typeface="Arial"/>
                <a:sym typeface="Arial"/>
              </a:rPr>
              <a:t>Medical imaging</a:t>
            </a:r>
            <a:endParaRPr b="0" i="0" sz="1100" u="none" cap="none" strike="noStrike">
              <a:solidFill>
                <a:srgbClr val="000000"/>
              </a:solidFill>
              <a:latin typeface="Arial"/>
              <a:ea typeface="Arial"/>
              <a:cs typeface="Arial"/>
              <a:sym typeface="Arial"/>
            </a:endParaRPr>
          </a:p>
        </p:txBody>
      </p:sp>
      <p:sp>
        <p:nvSpPr>
          <p:cNvPr id="485" name="Google Shape;485;p18"/>
          <p:cNvSpPr/>
          <p:nvPr/>
        </p:nvSpPr>
        <p:spPr>
          <a:xfrm>
            <a:off x="1567405" y="1571625"/>
            <a:ext cx="3571800" cy="17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5B6870"/>
                </a:solidFill>
                <a:latin typeface="Arial"/>
                <a:ea typeface="Arial"/>
                <a:cs typeface="Arial"/>
                <a:sym typeface="Arial"/>
              </a:rPr>
              <a:t>Helps detect patterns in X-rays, CT scans, and other medical images.</a:t>
            </a:r>
            <a:endParaRPr b="0" i="0" sz="1100" u="none" cap="none" strike="noStrike">
              <a:solidFill>
                <a:srgbClr val="000000"/>
              </a:solidFill>
              <a:latin typeface="Arial"/>
              <a:ea typeface="Arial"/>
              <a:cs typeface="Arial"/>
              <a:sym typeface="Arial"/>
            </a:endParaRPr>
          </a:p>
        </p:txBody>
      </p:sp>
      <p:sp>
        <p:nvSpPr>
          <p:cNvPr id="486" name="Google Shape;486;p18"/>
          <p:cNvSpPr/>
          <p:nvPr/>
        </p:nvSpPr>
        <p:spPr>
          <a:xfrm>
            <a:off x="1010192" y="1893094"/>
            <a:ext cx="4300500" cy="485700"/>
          </a:xfrm>
          <a:prstGeom prst="roundRect">
            <a:avLst>
              <a:gd fmla="val 20588" name="adj"/>
            </a:avLst>
          </a:prstGeom>
          <a:solidFill>
            <a:srgbClr val="EEF4E5"/>
          </a:solidFill>
          <a:ln cap="flat" cmpd="sng" w="114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18"/>
          <p:cNvSpPr/>
          <p:nvPr/>
        </p:nvSpPr>
        <p:spPr>
          <a:xfrm>
            <a:off x="1138780" y="1985963"/>
            <a:ext cx="300000" cy="300000"/>
          </a:xfrm>
          <a:prstGeom prst="ellipse">
            <a:avLst/>
          </a:prstGeom>
          <a:solidFill>
            <a:srgbClr val="68A83A"/>
          </a:solidFill>
          <a:ln cap="flat" cmpd="sng" w="95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18"/>
          <p:cNvSpPr/>
          <p:nvPr/>
        </p:nvSpPr>
        <p:spPr>
          <a:xfrm>
            <a:off x="1138780" y="1985963"/>
            <a:ext cx="300000" cy="300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Arial"/>
                <a:ea typeface="Arial"/>
                <a:cs typeface="Arial"/>
                <a:sym typeface="Arial"/>
              </a:rPr>
              <a:t>2</a:t>
            </a:r>
            <a:endParaRPr b="0" i="0" sz="1100" u="none" cap="none" strike="noStrike">
              <a:solidFill>
                <a:srgbClr val="000000"/>
              </a:solidFill>
              <a:latin typeface="Arial"/>
              <a:ea typeface="Arial"/>
              <a:cs typeface="Arial"/>
              <a:sym typeface="Arial"/>
            </a:endParaRPr>
          </a:p>
        </p:txBody>
      </p:sp>
      <p:sp>
        <p:nvSpPr>
          <p:cNvPr id="489" name="Google Shape;489;p18"/>
          <p:cNvSpPr/>
          <p:nvPr/>
        </p:nvSpPr>
        <p:spPr>
          <a:xfrm>
            <a:off x="1567405" y="1950244"/>
            <a:ext cx="15717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02B3D"/>
                </a:solidFill>
                <a:latin typeface="Arial"/>
                <a:ea typeface="Arial"/>
                <a:cs typeface="Arial"/>
                <a:sym typeface="Arial"/>
              </a:rPr>
              <a:t>Self-driving</a:t>
            </a:r>
            <a:endParaRPr b="0" i="0" sz="1100" u="none" cap="none" strike="noStrike">
              <a:solidFill>
                <a:srgbClr val="000000"/>
              </a:solidFill>
              <a:latin typeface="Arial"/>
              <a:ea typeface="Arial"/>
              <a:cs typeface="Arial"/>
              <a:sym typeface="Arial"/>
            </a:endParaRPr>
          </a:p>
        </p:txBody>
      </p:sp>
      <p:sp>
        <p:nvSpPr>
          <p:cNvPr id="490" name="Google Shape;490;p18"/>
          <p:cNvSpPr/>
          <p:nvPr/>
        </p:nvSpPr>
        <p:spPr>
          <a:xfrm>
            <a:off x="1567405" y="2135981"/>
            <a:ext cx="3571800" cy="17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5B6870"/>
                </a:solidFill>
                <a:latin typeface="Arial"/>
                <a:ea typeface="Arial"/>
                <a:cs typeface="Arial"/>
                <a:sym typeface="Arial"/>
              </a:rPr>
              <a:t>Recognizes lanes, road signs, vehicles, and pedestrians.</a:t>
            </a:r>
            <a:endParaRPr b="0" i="0" sz="1100" u="none" cap="none" strike="noStrike">
              <a:solidFill>
                <a:srgbClr val="000000"/>
              </a:solidFill>
              <a:latin typeface="Arial"/>
              <a:ea typeface="Arial"/>
              <a:cs typeface="Arial"/>
              <a:sym typeface="Arial"/>
            </a:endParaRPr>
          </a:p>
        </p:txBody>
      </p:sp>
      <p:sp>
        <p:nvSpPr>
          <p:cNvPr id="491" name="Google Shape;491;p18"/>
          <p:cNvSpPr/>
          <p:nvPr/>
        </p:nvSpPr>
        <p:spPr>
          <a:xfrm>
            <a:off x="1010192" y="2457450"/>
            <a:ext cx="4300500" cy="485700"/>
          </a:xfrm>
          <a:prstGeom prst="roundRect">
            <a:avLst>
              <a:gd fmla="val 20588" name="adj"/>
            </a:avLst>
          </a:prstGeom>
          <a:solidFill>
            <a:srgbClr val="F6EDDB"/>
          </a:solidFill>
          <a:ln cap="flat" cmpd="sng" w="114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18"/>
          <p:cNvSpPr/>
          <p:nvPr/>
        </p:nvSpPr>
        <p:spPr>
          <a:xfrm>
            <a:off x="1138780" y="2550319"/>
            <a:ext cx="300000" cy="300000"/>
          </a:xfrm>
          <a:prstGeom prst="ellipse">
            <a:avLst/>
          </a:prstGeom>
          <a:solidFill>
            <a:srgbClr val="C98B28"/>
          </a:solidFill>
          <a:ln cap="flat" cmpd="sng" w="95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18"/>
          <p:cNvSpPr/>
          <p:nvPr/>
        </p:nvSpPr>
        <p:spPr>
          <a:xfrm>
            <a:off x="1138780" y="2550319"/>
            <a:ext cx="300000" cy="300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Arial"/>
                <a:ea typeface="Arial"/>
                <a:cs typeface="Arial"/>
                <a:sym typeface="Arial"/>
              </a:rPr>
              <a:t>3</a:t>
            </a:r>
            <a:endParaRPr b="0" i="0" sz="1100" u="none" cap="none" strike="noStrike">
              <a:solidFill>
                <a:srgbClr val="000000"/>
              </a:solidFill>
              <a:latin typeface="Arial"/>
              <a:ea typeface="Arial"/>
              <a:cs typeface="Arial"/>
              <a:sym typeface="Arial"/>
            </a:endParaRPr>
          </a:p>
        </p:txBody>
      </p:sp>
      <p:sp>
        <p:nvSpPr>
          <p:cNvPr id="494" name="Google Shape;494;p18"/>
          <p:cNvSpPr/>
          <p:nvPr/>
        </p:nvSpPr>
        <p:spPr>
          <a:xfrm>
            <a:off x="1567405" y="2514600"/>
            <a:ext cx="15717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02B3D"/>
                </a:solidFill>
                <a:latin typeface="Arial"/>
                <a:ea typeface="Arial"/>
                <a:cs typeface="Arial"/>
                <a:sym typeface="Arial"/>
              </a:rPr>
              <a:t>Security cameras</a:t>
            </a:r>
            <a:endParaRPr b="0" i="0" sz="1100" u="none" cap="none" strike="noStrike">
              <a:solidFill>
                <a:srgbClr val="000000"/>
              </a:solidFill>
              <a:latin typeface="Arial"/>
              <a:ea typeface="Arial"/>
              <a:cs typeface="Arial"/>
              <a:sym typeface="Arial"/>
            </a:endParaRPr>
          </a:p>
        </p:txBody>
      </p:sp>
      <p:sp>
        <p:nvSpPr>
          <p:cNvPr id="495" name="Google Shape;495;p18"/>
          <p:cNvSpPr/>
          <p:nvPr/>
        </p:nvSpPr>
        <p:spPr>
          <a:xfrm>
            <a:off x="1567405" y="2700338"/>
            <a:ext cx="3571800" cy="17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5B6870"/>
                </a:solidFill>
                <a:latin typeface="Arial"/>
                <a:ea typeface="Arial"/>
                <a:cs typeface="Arial"/>
                <a:sym typeface="Arial"/>
              </a:rPr>
              <a:t>Analyzes visual data for objects or learned patterns.</a:t>
            </a:r>
            <a:endParaRPr b="0" i="0" sz="1100" u="none" cap="none" strike="noStrike">
              <a:solidFill>
                <a:srgbClr val="000000"/>
              </a:solidFill>
              <a:latin typeface="Arial"/>
              <a:ea typeface="Arial"/>
              <a:cs typeface="Arial"/>
              <a:sym typeface="Arial"/>
            </a:endParaRPr>
          </a:p>
        </p:txBody>
      </p:sp>
      <p:sp>
        <p:nvSpPr>
          <p:cNvPr id="496" name="Google Shape;496;p18"/>
          <p:cNvSpPr/>
          <p:nvPr/>
        </p:nvSpPr>
        <p:spPr>
          <a:xfrm>
            <a:off x="1010192" y="3021806"/>
            <a:ext cx="4300500" cy="485700"/>
          </a:xfrm>
          <a:prstGeom prst="roundRect">
            <a:avLst>
              <a:gd fmla="val 20588" name="adj"/>
            </a:avLst>
          </a:prstGeom>
          <a:solidFill>
            <a:srgbClr val="E5F2F0"/>
          </a:solidFill>
          <a:ln cap="flat" cmpd="sng" w="11425">
            <a:solidFill>
              <a:srgbClr val="0C7C8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18"/>
          <p:cNvSpPr/>
          <p:nvPr/>
        </p:nvSpPr>
        <p:spPr>
          <a:xfrm>
            <a:off x="1138780" y="3114675"/>
            <a:ext cx="300000" cy="300000"/>
          </a:xfrm>
          <a:prstGeom prst="ellipse">
            <a:avLst/>
          </a:prstGeom>
          <a:solidFill>
            <a:srgbClr val="0C7C83"/>
          </a:solidFill>
          <a:ln cap="flat" cmpd="sng" w="9525">
            <a:solidFill>
              <a:srgbClr val="0C7C8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18"/>
          <p:cNvSpPr/>
          <p:nvPr/>
        </p:nvSpPr>
        <p:spPr>
          <a:xfrm>
            <a:off x="1138780" y="3114675"/>
            <a:ext cx="300000" cy="300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Arial"/>
                <a:ea typeface="Arial"/>
                <a:cs typeface="Arial"/>
                <a:sym typeface="Arial"/>
              </a:rPr>
              <a:t>4</a:t>
            </a:r>
            <a:endParaRPr b="0" i="0" sz="1100" u="none" cap="none" strike="noStrike">
              <a:solidFill>
                <a:srgbClr val="000000"/>
              </a:solidFill>
              <a:latin typeface="Arial"/>
              <a:ea typeface="Arial"/>
              <a:cs typeface="Arial"/>
              <a:sym typeface="Arial"/>
            </a:endParaRPr>
          </a:p>
        </p:txBody>
      </p:sp>
      <p:sp>
        <p:nvSpPr>
          <p:cNvPr id="499" name="Google Shape;499;p18"/>
          <p:cNvSpPr/>
          <p:nvPr/>
        </p:nvSpPr>
        <p:spPr>
          <a:xfrm>
            <a:off x="1567405" y="3078956"/>
            <a:ext cx="15717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02B3D"/>
                </a:solidFill>
                <a:latin typeface="Arial"/>
                <a:ea typeface="Arial"/>
                <a:cs typeface="Arial"/>
                <a:sym typeface="Arial"/>
              </a:rPr>
              <a:t>Factory quality control</a:t>
            </a:r>
            <a:endParaRPr b="0" i="0" sz="1100" u="none" cap="none" strike="noStrike">
              <a:solidFill>
                <a:srgbClr val="000000"/>
              </a:solidFill>
              <a:latin typeface="Arial"/>
              <a:ea typeface="Arial"/>
              <a:cs typeface="Arial"/>
              <a:sym typeface="Arial"/>
            </a:endParaRPr>
          </a:p>
        </p:txBody>
      </p:sp>
      <p:sp>
        <p:nvSpPr>
          <p:cNvPr id="500" name="Google Shape;500;p18"/>
          <p:cNvSpPr/>
          <p:nvPr/>
        </p:nvSpPr>
        <p:spPr>
          <a:xfrm>
            <a:off x="1567405" y="3264694"/>
            <a:ext cx="3571800" cy="17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5B6870"/>
                </a:solidFill>
                <a:latin typeface="Arial"/>
                <a:ea typeface="Arial"/>
                <a:cs typeface="Arial"/>
                <a:sym typeface="Arial"/>
              </a:rPr>
              <a:t>Inspects products and helps find visible defects.</a:t>
            </a:r>
            <a:endParaRPr b="0" i="0" sz="1100" u="none" cap="none" strike="noStrike">
              <a:solidFill>
                <a:srgbClr val="000000"/>
              </a:solidFill>
              <a:latin typeface="Arial"/>
              <a:ea typeface="Arial"/>
              <a:cs typeface="Arial"/>
              <a:sym typeface="Arial"/>
            </a:endParaRPr>
          </a:p>
        </p:txBody>
      </p:sp>
      <p:sp>
        <p:nvSpPr>
          <p:cNvPr id="501" name="Google Shape;501;p18"/>
          <p:cNvSpPr/>
          <p:nvPr/>
        </p:nvSpPr>
        <p:spPr>
          <a:xfrm>
            <a:off x="1010192" y="3586163"/>
            <a:ext cx="4300500" cy="485700"/>
          </a:xfrm>
          <a:prstGeom prst="roundRect">
            <a:avLst>
              <a:gd fmla="val 20588" name="adj"/>
            </a:avLst>
          </a:prstGeom>
          <a:solidFill>
            <a:srgbClr val="EEF4E5"/>
          </a:solidFill>
          <a:ln cap="flat" cmpd="sng" w="114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18"/>
          <p:cNvSpPr/>
          <p:nvPr/>
        </p:nvSpPr>
        <p:spPr>
          <a:xfrm>
            <a:off x="1138780" y="3679031"/>
            <a:ext cx="300000" cy="300000"/>
          </a:xfrm>
          <a:prstGeom prst="ellipse">
            <a:avLst/>
          </a:prstGeom>
          <a:solidFill>
            <a:srgbClr val="68A83A"/>
          </a:solidFill>
          <a:ln cap="flat" cmpd="sng" w="95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18"/>
          <p:cNvSpPr/>
          <p:nvPr/>
        </p:nvSpPr>
        <p:spPr>
          <a:xfrm>
            <a:off x="1138780" y="3679031"/>
            <a:ext cx="300000" cy="300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Arial"/>
                <a:ea typeface="Arial"/>
                <a:cs typeface="Arial"/>
                <a:sym typeface="Arial"/>
              </a:rPr>
              <a:t>5</a:t>
            </a:r>
            <a:endParaRPr b="0" i="0" sz="1100" u="none" cap="none" strike="noStrike">
              <a:solidFill>
                <a:srgbClr val="000000"/>
              </a:solidFill>
              <a:latin typeface="Arial"/>
              <a:ea typeface="Arial"/>
              <a:cs typeface="Arial"/>
              <a:sym typeface="Arial"/>
            </a:endParaRPr>
          </a:p>
        </p:txBody>
      </p:sp>
      <p:sp>
        <p:nvSpPr>
          <p:cNvPr id="504" name="Google Shape;504;p18"/>
          <p:cNvSpPr/>
          <p:nvPr/>
        </p:nvSpPr>
        <p:spPr>
          <a:xfrm>
            <a:off x="1567405" y="3643313"/>
            <a:ext cx="15717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02B3D"/>
                </a:solidFill>
                <a:latin typeface="Arial"/>
                <a:ea typeface="Arial"/>
                <a:cs typeface="Arial"/>
                <a:sym typeface="Arial"/>
              </a:rPr>
              <a:t>Food and visual search</a:t>
            </a:r>
            <a:endParaRPr b="0" i="0" sz="1100" u="none" cap="none" strike="noStrike">
              <a:solidFill>
                <a:srgbClr val="000000"/>
              </a:solidFill>
              <a:latin typeface="Arial"/>
              <a:ea typeface="Arial"/>
              <a:cs typeface="Arial"/>
              <a:sym typeface="Arial"/>
            </a:endParaRPr>
          </a:p>
        </p:txBody>
      </p:sp>
      <p:sp>
        <p:nvSpPr>
          <p:cNvPr id="505" name="Google Shape;505;p18"/>
          <p:cNvSpPr/>
          <p:nvPr/>
        </p:nvSpPr>
        <p:spPr>
          <a:xfrm>
            <a:off x="1567405" y="3829050"/>
            <a:ext cx="3571800" cy="17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5B6870"/>
                </a:solidFill>
                <a:latin typeface="Arial"/>
                <a:ea typeface="Arial"/>
                <a:cs typeface="Arial"/>
                <a:sym typeface="Arial"/>
              </a:rPr>
              <a:t>Classifies images by matching learned visual features.</a:t>
            </a:r>
            <a:endParaRPr b="0" i="0" sz="1100" u="none" cap="none" strike="noStrike">
              <a:solidFill>
                <a:srgbClr val="000000"/>
              </a:solidFill>
              <a:latin typeface="Arial"/>
              <a:ea typeface="Arial"/>
              <a:cs typeface="Arial"/>
              <a:sym typeface="Arial"/>
            </a:endParaRPr>
          </a:p>
        </p:txBody>
      </p:sp>
      <p:cxnSp>
        <p:nvCxnSpPr>
          <p:cNvPr id="506" name="Google Shape;506;p18"/>
          <p:cNvCxnSpPr>
            <a:stCxn id="481" idx="2"/>
            <a:endCxn id="486" idx="0"/>
          </p:cNvCxnSpPr>
          <p:nvPr/>
        </p:nvCxnSpPr>
        <p:spPr>
          <a:xfrm>
            <a:off x="3160442" y="1814438"/>
            <a:ext cx="0" cy="78600"/>
          </a:xfrm>
          <a:prstGeom prst="straightConnector1">
            <a:avLst/>
          </a:prstGeom>
          <a:noFill/>
          <a:ln cap="flat" cmpd="sng" w="19050">
            <a:solidFill>
              <a:srgbClr val="102B3D"/>
            </a:solidFill>
            <a:prstDash val="solid"/>
            <a:round/>
            <a:headEnd len="sm" w="sm" type="none"/>
            <a:tailEnd len="sm" w="sm" type="triangle"/>
          </a:ln>
        </p:spPr>
      </p:cxnSp>
      <p:cxnSp>
        <p:nvCxnSpPr>
          <p:cNvPr id="507" name="Google Shape;507;p18"/>
          <p:cNvCxnSpPr>
            <a:stCxn id="486" idx="2"/>
            <a:endCxn id="491" idx="0"/>
          </p:cNvCxnSpPr>
          <p:nvPr/>
        </p:nvCxnSpPr>
        <p:spPr>
          <a:xfrm>
            <a:off x="3160442" y="2378794"/>
            <a:ext cx="0" cy="78600"/>
          </a:xfrm>
          <a:prstGeom prst="straightConnector1">
            <a:avLst/>
          </a:prstGeom>
          <a:noFill/>
          <a:ln cap="flat" cmpd="sng" w="19050">
            <a:solidFill>
              <a:srgbClr val="102B3D"/>
            </a:solidFill>
            <a:prstDash val="solid"/>
            <a:round/>
            <a:headEnd len="sm" w="sm" type="none"/>
            <a:tailEnd len="sm" w="sm" type="triangle"/>
          </a:ln>
        </p:spPr>
      </p:cxnSp>
      <p:cxnSp>
        <p:nvCxnSpPr>
          <p:cNvPr id="508" name="Google Shape;508;p18"/>
          <p:cNvCxnSpPr>
            <a:stCxn id="491" idx="2"/>
            <a:endCxn id="496" idx="0"/>
          </p:cNvCxnSpPr>
          <p:nvPr/>
        </p:nvCxnSpPr>
        <p:spPr>
          <a:xfrm>
            <a:off x="3160442" y="2943150"/>
            <a:ext cx="0" cy="78600"/>
          </a:xfrm>
          <a:prstGeom prst="straightConnector1">
            <a:avLst/>
          </a:prstGeom>
          <a:noFill/>
          <a:ln cap="flat" cmpd="sng" w="19050">
            <a:solidFill>
              <a:srgbClr val="102B3D"/>
            </a:solidFill>
            <a:prstDash val="solid"/>
            <a:round/>
            <a:headEnd len="sm" w="sm" type="none"/>
            <a:tailEnd len="sm" w="sm" type="triangle"/>
          </a:ln>
        </p:spPr>
      </p:cxnSp>
      <p:cxnSp>
        <p:nvCxnSpPr>
          <p:cNvPr id="509" name="Google Shape;509;p18"/>
          <p:cNvCxnSpPr>
            <a:stCxn id="496" idx="2"/>
            <a:endCxn id="501" idx="0"/>
          </p:cNvCxnSpPr>
          <p:nvPr/>
        </p:nvCxnSpPr>
        <p:spPr>
          <a:xfrm>
            <a:off x="3160442" y="3507506"/>
            <a:ext cx="0" cy="78600"/>
          </a:xfrm>
          <a:prstGeom prst="straightConnector1">
            <a:avLst/>
          </a:prstGeom>
          <a:noFill/>
          <a:ln cap="flat" cmpd="sng" w="19050">
            <a:solidFill>
              <a:srgbClr val="102B3D"/>
            </a:solidFill>
            <a:prstDash val="solid"/>
            <a:round/>
            <a:headEnd len="sm" w="sm" type="none"/>
            <a:tailEnd len="sm" w="sm" type="triangle"/>
          </a:ln>
        </p:spPr>
      </p:cxnSp>
      <p:sp>
        <p:nvSpPr>
          <p:cNvPr id="510" name="Google Shape;510;p18"/>
          <p:cNvSpPr/>
          <p:nvPr/>
        </p:nvSpPr>
        <p:spPr>
          <a:xfrm>
            <a:off x="514350" y="4193381"/>
            <a:ext cx="8015288" cy="478631"/>
          </a:xfrm>
          <a:prstGeom prst="roundRect">
            <a:avLst>
              <a:gd fmla="val 17910" name="adj"/>
            </a:avLst>
          </a:prstGeom>
          <a:solidFill>
            <a:srgbClr val="102B3D"/>
          </a:solidFill>
          <a:ln cap="flat" cmpd="sng" w="11425">
            <a:solidFill>
              <a:srgbClr val="102B3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18"/>
          <p:cNvSpPr/>
          <p:nvPr/>
        </p:nvSpPr>
        <p:spPr>
          <a:xfrm>
            <a:off x="671513" y="4286250"/>
            <a:ext cx="1643063" cy="27146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B7D93D"/>
                </a:solidFill>
                <a:latin typeface="Arial"/>
                <a:ea typeface="Arial"/>
                <a:cs typeface="Arial"/>
                <a:sym typeface="Arial"/>
              </a:rPr>
              <a:t>WHY CNNs FIT IMAGES</a:t>
            </a:r>
            <a:endParaRPr b="0" i="0" sz="1100" u="none" cap="none" strike="noStrike">
              <a:solidFill>
                <a:srgbClr val="000000"/>
              </a:solidFill>
              <a:latin typeface="Arial"/>
              <a:ea typeface="Arial"/>
              <a:cs typeface="Arial"/>
              <a:sym typeface="Arial"/>
            </a:endParaRPr>
          </a:p>
        </p:txBody>
      </p:sp>
      <p:sp>
        <p:nvSpPr>
          <p:cNvPr id="512" name="Google Shape;512;p18"/>
          <p:cNvSpPr/>
          <p:nvPr/>
        </p:nvSpPr>
        <p:spPr>
          <a:xfrm>
            <a:off x="2314575" y="4250531"/>
            <a:ext cx="6029325"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CNN filters scan small regions, learn local patterns, and reuse those pattern detectors across the image.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19"/>
          <p:cNvSpPr/>
          <p:nvPr/>
        </p:nvSpPr>
        <p:spPr>
          <a:xfrm>
            <a:off x="514350" y="242888"/>
            <a:ext cx="6143625" cy="2000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02B3D"/>
                </a:solidFill>
                <a:latin typeface="Arial"/>
                <a:ea typeface="Arial"/>
                <a:cs typeface="Arial"/>
                <a:sym typeface="Arial"/>
              </a:rPr>
              <a:t>ZAIN AHMED • APPLICATIONS, LIMITATIONS &amp; REFLECTION</a:t>
            </a:r>
            <a:endParaRPr b="0" i="0" sz="1100" u="none" cap="none" strike="noStrike">
              <a:solidFill>
                <a:srgbClr val="000000"/>
              </a:solidFill>
              <a:latin typeface="Arial"/>
              <a:ea typeface="Arial"/>
              <a:cs typeface="Arial"/>
              <a:sym typeface="Arial"/>
            </a:endParaRPr>
          </a:p>
        </p:txBody>
      </p:sp>
      <p:sp>
        <p:nvSpPr>
          <p:cNvPr id="519" name="Google Shape;519;p19"/>
          <p:cNvSpPr/>
          <p:nvPr/>
        </p:nvSpPr>
        <p:spPr>
          <a:xfrm>
            <a:off x="0" y="5014913"/>
            <a:ext cx="9144000" cy="128588"/>
          </a:xfrm>
          <a:prstGeom prst="rect">
            <a:avLst/>
          </a:prstGeom>
          <a:solidFill>
            <a:srgbClr val="102B3D"/>
          </a:solidFill>
          <a:ln cap="flat" cmpd="sng" w="9525">
            <a:solidFill>
              <a:srgbClr val="102B3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19"/>
          <p:cNvSpPr/>
          <p:nvPr/>
        </p:nvSpPr>
        <p:spPr>
          <a:xfrm>
            <a:off x="8501063" y="4750594"/>
            <a:ext cx="250031" cy="17145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rgbClr val="5B6870"/>
                </a:solidFill>
                <a:latin typeface="Arial"/>
                <a:ea typeface="Arial"/>
                <a:cs typeface="Arial"/>
                <a:sym typeface="Arial"/>
              </a:rPr>
              <a:t>11</a:t>
            </a:r>
            <a:endParaRPr b="0" i="0" sz="1100" u="none" cap="none" strike="noStrike">
              <a:solidFill>
                <a:srgbClr val="000000"/>
              </a:solidFill>
              <a:latin typeface="Arial"/>
              <a:ea typeface="Arial"/>
              <a:cs typeface="Arial"/>
              <a:sym typeface="Arial"/>
            </a:endParaRPr>
          </a:p>
        </p:txBody>
      </p:sp>
      <p:sp>
        <p:nvSpPr>
          <p:cNvPr id="521" name="Google Shape;521;p19"/>
          <p:cNvSpPr/>
          <p:nvPr/>
        </p:nvSpPr>
        <p:spPr>
          <a:xfrm>
            <a:off x="514350" y="528638"/>
            <a:ext cx="8072438" cy="50006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172734"/>
                </a:solidFill>
                <a:latin typeface="Arial"/>
                <a:ea typeface="Arial"/>
                <a:cs typeface="Arial"/>
                <a:sym typeface="Arial"/>
              </a:rPr>
              <a:t>Limitations and Final Reflection</a:t>
            </a:r>
            <a:endParaRPr b="0" i="0" sz="1100" u="none" cap="none" strike="noStrike">
              <a:solidFill>
                <a:srgbClr val="000000"/>
              </a:solidFill>
              <a:latin typeface="Arial"/>
              <a:ea typeface="Arial"/>
              <a:cs typeface="Arial"/>
              <a:sym typeface="Arial"/>
            </a:endParaRPr>
          </a:p>
        </p:txBody>
      </p:sp>
      <p:sp>
        <p:nvSpPr>
          <p:cNvPr id="522" name="Google Shape;522;p19"/>
          <p:cNvSpPr/>
          <p:nvPr/>
        </p:nvSpPr>
        <p:spPr>
          <a:xfrm>
            <a:off x="528638" y="978694"/>
            <a:ext cx="7715250" cy="242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5B6870"/>
                </a:solidFill>
                <a:latin typeface="Arial"/>
                <a:ea typeface="Arial"/>
                <a:cs typeface="Arial"/>
                <a:sym typeface="Arial"/>
              </a:rPr>
              <a:t>CNNs are powerful visual pattern learners, but their results still depend on data, training, and context.</a:t>
            </a:r>
            <a:endParaRPr b="0" i="0" sz="1100" u="none" cap="none" strike="noStrike">
              <a:solidFill>
                <a:srgbClr val="000000"/>
              </a:solidFill>
              <a:latin typeface="Arial"/>
              <a:ea typeface="Arial"/>
              <a:cs typeface="Arial"/>
              <a:sym typeface="Arial"/>
            </a:endParaRPr>
          </a:p>
        </p:txBody>
      </p:sp>
      <p:sp>
        <p:nvSpPr>
          <p:cNvPr id="523" name="Google Shape;523;p19"/>
          <p:cNvSpPr/>
          <p:nvPr/>
        </p:nvSpPr>
        <p:spPr>
          <a:xfrm>
            <a:off x="514350" y="1357313"/>
            <a:ext cx="3829050" cy="2143125"/>
          </a:xfrm>
          <a:prstGeom prst="roundRect">
            <a:avLst>
              <a:gd fmla="val 6000" name="adj"/>
            </a:avLst>
          </a:prstGeom>
          <a:solidFill>
            <a:srgbClr val="EEF4E5"/>
          </a:solidFill>
          <a:ln cap="flat" cmpd="sng" w="114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19"/>
          <p:cNvSpPr/>
          <p:nvPr/>
        </p:nvSpPr>
        <p:spPr>
          <a:xfrm>
            <a:off x="728663" y="1500188"/>
            <a:ext cx="3143250" cy="2857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68A83A"/>
                </a:solidFill>
                <a:latin typeface="Arial"/>
                <a:ea typeface="Arial"/>
                <a:cs typeface="Arial"/>
                <a:sym typeface="Arial"/>
              </a:rPr>
              <a:t>WHY CNNs ARE USEFUL</a:t>
            </a:r>
            <a:endParaRPr b="0" i="0" sz="1100" u="none" cap="none" strike="noStrike">
              <a:solidFill>
                <a:srgbClr val="000000"/>
              </a:solidFill>
              <a:latin typeface="Arial"/>
              <a:ea typeface="Arial"/>
              <a:cs typeface="Arial"/>
              <a:sym typeface="Arial"/>
            </a:endParaRPr>
          </a:p>
        </p:txBody>
      </p:sp>
      <p:sp>
        <p:nvSpPr>
          <p:cNvPr id="525" name="Google Shape;525;p19"/>
          <p:cNvSpPr/>
          <p:nvPr/>
        </p:nvSpPr>
        <p:spPr>
          <a:xfrm>
            <a:off x="728663" y="1928813"/>
            <a:ext cx="271463" cy="271463"/>
          </a:xfrm>
          <a:prstGeom prst="ellipse">
            <a:avLst/>
          </a:prstGeom>
          <a:solidFill>
            <a:srgbClr val="68A83A"/>
          </a:solidFill>
          <a:ln cap="flat" cmpd="sng" w="95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19"/>
          <p:cNvSpPr/>
          <p:nvPr/>
        </p:nvSpPr>
        <p:spPr>
          <a:xfrm>
            <a:off x="728663" y="1928813"/>
            <a:ext cx="271463" cy="271463"/>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1</a:t>
            </a:r>
            <a:endParaRPr b="0" i="0" sz="1100" u="none" cap="none" strike="noStrike">
              <a:solidFill>
                <a:srgbClr val="000000"/>
              </a:solidFill>
              <a:latin typeface="Arial"/>
              <a:ea typeface="Arial"/>
              <a:cs typeface="Arial"/>
              <a:sym typeface="Arial"/>
            </a:endParaRPr>
          </a:p>
        </p:txBody>
      </p:sp>
      <p:sp>
        <p:nvSpPr>
          <p:cNvPr id="527" name="Google Shape;527;p19"/>
          <p:cNvSpPr/>
          <p:nvPr/>
        </p:nvSpPr>
        <p:spPr>
          <a:xfrm>
            <a:off x="1114425" y="1914525"/>
            <a:ext cx="1357313" cy="18573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72734"/>
                </a:solidFill>
                <a:latin typeface="Arial"/>
                <a:ea typeface="Arial"/>
                <a:cs typeface="Arial"/>
                <a:sym typeface="Arial"/>
              </a:rPr>
              <a:t>Local patterns</a:t>
            </a:r>
            <a:endParaRPr b="0" i="0" sz="1100" u="none" cap="none" strike="noStrike">
              <a:solidFill>
                <a:srgbClr val="000000"/>
              </a:solidFill>
              <a:latin typeface="Arial"/>
              <a:ea typeface="Arial"/>
              <a:cs typeface="Arial"/>
              <a:sym typeface="Arial"/>
            </a:endParaRPr>
          </a:p>
        </p:txBody>
      </p:sp>
      <p:sp>
        <p:nvSpPr>
          <p:cNvPr id="528" name="Google Shape;528;p19"/>
          <p:cNvSpPr/>
          <p:nvPr/>
        </p:nvSpPr>
        <p:spPr>
          <a:xfrm>
            <a:off x="1114425" y="2107406"/>
            <a:ext cx="2964656" cy="27146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5B6870"/>
                </a:solidFill>
                <a:latin typeface="Arial"/>
                <a:ea typeface="Arial"/>
                <a:cs typeface="Arial"/>
                <a:sym typeface="Arial"/>
              </a:rPr>
              <a:t>They focus on nearby pixels, edges, colors, and textures.</a:t>
            </a:r>
            <a:endParaRPr b="0" i="0" sz="1100" u="none" cap="none" strike="noStrike">
              <a:solidFill>
                <a:srgbClr val="000000"/>
              </a:solidFill>
              <a:latin typeface="Arial"/>
              <a:ea typeface="Arial"/>
              <a:cs typeface="Arial"/>
              <a:sym typeface="Arial"/>
            </a:endParaRPr>
          </a:p>
        </p:txBody>
      </p:sp>
      <p:sp>
        <p:nvSpPr>
          <p:cNvPr id="529" name="Google Shape;529;p19"/>
          <p:cNvSpPr/>
          <p:nvPr/>
        </p:nvSpPr>
        <p:spPr>
          <a:xfrm>
            <a:off x="728663" y="2414588"/>
            <a:ext cx="271463" cy="271463"/>
          </a:xfrm>
          <a:prstGeom prst="ellipse">
            <a:avLst/>
          </a:prstGeom>
          <a:solidFill>
            <a:srgbClr val="68A83A"/>
          </a:solidFill>
          <a:ln cap="flat" cmpd="sng" w="95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19"/>
          <p:cNvSpPr/>
          <p:nvPr/>
        </p:nvSpPr>
        <p:spPr>
          <a:xfrm>
            <a:off x="728663" y="2414588"/>
            <a:ext cx="271463" cy="271463"/>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2</a:t>
            </a:r>
            <a:endParaRPr b="0" i="0" sz="1100" u="none" cap="none" strike="noStrike">
              <a:solidFill>
                <a:srgbClr val="000000"/>
              </a:solidFill>
              <a:latin typeface="Arial"/>
              <a:ea typeface="Arial"/>
              <a:cs typeface="Arial"/>
              <a:sym typeface="Arial"/>
            </a:endParaRPr>
          </a:p>
        </p:txBody>
      </p:sp>
      <p:sp>
        <p:nvSpPr>
          <p:cNvPr id="531" name="Google Shape;531;p19"/>
          <p:cNvSpPr/>
          <p:nvPr/>
        </p:nvSpPr>
        <p:spPr>
          <a:xfrm>
            <a:off x="1114425" y="2400300"/>
            <a:ext cx="1357313" cy="18573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72734"/>
                </a:solidFill>
                <a:latin typeface="Arial"/>
                <a:ea typeface="Arial"/>
                <a:cs typeface="Arial"/>
                <a:sym typeface="Arial"/>
              </a:rPr>
              <a:t>Feature building</a:t>
            </a:r>
            <a:endParaRPr b="0" i="0" sz="1100" u="none" cap="none" strike="noStrike">
              <a:solidFill>
                <a:srgbClr val="000000"/>
              </a:solidFill>
              <a:latin typeface="Arial"/>
              <a:ea typeface="Arial"/>
              <a:cs typeface="Arial"/>
              <a:sym typeface="Arial"/>
            </a:endParaRPr>
          </a:p>
        </p:txBody>
      </p:sp>
      <p:sp>
        <p:nvSpPr>
          <p:cNvPr id="532" name="Google Shape;532;p19"/>
          <p:cNvSpPr/>
          <p:nvPr/>
        </p:nvSpPr>
        <p:spPr>
          <a:xfrm>
            <a:off x="1114425" y="2593181"/>
            <a:ext cx="2964656" cy="27146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5B6870"/>
                </a:solidFill>
                <a:latin typeface="Arial"/>
                <a:ea typeface="Arial"/>
                <a:cs typeface="Arial"/>
                <a:sym typeface="Arial"/>
              </a:rPr>
              <a:t>Layers combine small features into larger object patterns.</a:t>
            </a:r>
            <a:endParaRPr b="0" i="0" sz="1100" u="none" cap="none" strike="noStrike">
              <a:solidFill>
                <a:srgbClr val="000000"/>
              </a:solidFill>
              <a:latin typeface="Arial"/>
              <a:ea typeface="Arial"/>
              <a:cs typeface="Arial"/>
              <a:sym typeface="Arial"/>
            </a:endParaRPr>
          </a:p>
        </p:txBody>
      </p:sp>
      <p:sp>
        <p:nvSpPr>
          <p:cNvPr id="533" name="Google Shape;533;p19"/>
          <p:cNvSpPr/>
          <p:nvPr/>
        </p:nvSpPr>
        <p:spPr>
          <a:xfrm>
            <a:off x="728663" y="2900363"/>
            <a:ext cx="271463" cy="271463"/>
          </a:xfrm>
          <a:prstGeom prst="ellipse">
            <a:avLst/>
          </a:prstGeom>
          <a:solidFill>
            <a:srgbClr val="68A83A"/>
          </a:solidFill>
          <a:ln cap="flat" cmpd="sng" w="9525">
            <a:solidFill>
              <a:srgbClr val="68A83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19"/>
          <p:cNvSpPr/>
          <p:nvPr/>
        </p:nvSpPr>
        <p:spPr>
          <a:xfrm>
            <a:off x="728663" y="2900363"/>
            <a:ext cx="271463" cy="271463"/>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3</a:t>
            </a:r>
            <a:endParaRPr b="0" i="0" sz="1100" u="none" cap="none" strike="noStrike">
              <a:solidFill>
                <a:srgbClr val="000000"/>
              </a:solidFill>
              <a:latin typeface="Arial"/>
              <a:ea typeface="Arial"/>
              <a:cs typeface="Arial"/>
              <a:sym typeface="Arial"/>
            </a:endParaRPr>
          </a:p>
        </p:txBody>
      </p:sp>
      <p:sp>
        <p:nvSpPr>
          <p:cNvPr id="535" name="Google Shape;535;p19"/>
          <p:cNvSpPr/>
          <p:nvPr/>
        </p:nvSpPr>
        <p:spPr>
          <a:xfrm>
            <a:off x="1114425" y="2886075"/>
            <a:ext cx="1357313" cy="18573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72734"/>
                </a:solidFill>
                <a:latin typeface="Arial"/>
                <a:ea typeface="Arial"/>
                <a:cs typeface="Arial"/>
                <a:sym typeface="Arial"/>
              </a:rPr>
              <a:t>Reusable filters</a:t>
            </a:r>
            <a:endParaRPr b="0" i="0" sz="1100" u="none" cap="none" strike="noStrike">
              <a:solidFill>
                <a:srgbClr val="000000"/>
              </a:solidFill>
              <a:latin typeface="Arial"/>
              <a:ea typeface="Arial"/>
              <a:cs typeface="Arial"/>
              <a:sym typeface="Arial"/>
            </a:endParaRPr>
          </a:p>
        </p:txBody>
      </p:sp>
      <p:sp>
        <p:nvSpPr>
          <p:cNvPr id="536" name="Google Shape;536;p19"/>
          <p:cNvSpPr/>
          <p:nvPr/>
        </p:nvSpPr>
        <p:spPr>
          <a:xfrm>
            <a:off x="1114425" y="3078956"/>
            <a:ext cx="2964656" cy="27146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5B6870"/>
                </a:solidFill>
                <a:latin typeface="Arial"/>
                <a:ea typeface="Arial"/>
                <a:cs typeface="Arial"/>
                <a:sym typeface="Arial"/>
              </a:rPr>
              <a:t>The same filter can search for a pattern in many regions.</a:t>
            </a:r>
            <a:endParaRPr b="0" i="0" sz="1100" u="none" cap="none" strike="noStrike">
              <a:solidFill>
                <a:srgbClr val="000000"/>
              </a:solidFill>
              <a:latin typeface="Arial"/>
              <a:ea typeface="Arial"/>
              <a:cs typeface="Arial"/>
              <a:sym typeface="Arial"/>
            </a:endParaRPr>
          </a:p>
        </p:txBody>
      </p:sp>
      <p:sp>
        <p:nvSpPr>
          <p:cNvPr id="537" name="Google Shape;537;p19"/>
          <p:cNvSpPr/>
          <p:nvPr/>
        </p:nvSpPr>
        <p:spPr>
          <a:xfrm>
            <a:off x="4514850" y="1357313"/>
            <a:ext cx="4014788" cy="2143125"/>
          </a:xfrm>
          <a:prstGeom prst="roundRect">
            <a:avLst>
              <a:gd fmla="val 6000" name="adj"/>
            </a:avLst>
          </a:prstGeom>
          <a:solidFill>
            <a:srgbClr val="F6EDDB"/>
          </a:solidFill>
          <a:ln cap="flat" cmpd="sng" w="114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19"/>
          <p:cNvSpPr/>
          <p:nvPr/>
        </p:nvSpPr>
        <p:spPr>
          <a:xfrm>
            <a:off x="4729163" y="1500188"/>
            <a:ext cx="3250406" cy="2857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C98B28"/>
                </a:solidFill>
                <a:latin typeface="Arial"/>
                <a:ea typeface="Arial"/>
                <a:cs typeface="Arial"/>
                <a:sym typeface="Arial"/>
              </a:rPr>
              <a:t>LIMITATIONS</a:t>
            </a:r>
            <a:endParaRPr b="0" i="0" sz="1100" u="none" cap="none" strike="noStrike">
              <a:solidFill>
                <a:srgbClr val="000000"/>
              </a:solidFill>
              <a:latin typeface="Arial"/>
              <a:ea typeface="Arial"/>
              <a:cs typeface="Arial"/>
              <a:sym typeface="Arial"/>
            </a:endParaRPr>
          </a:p>
        </p:txBody>
      </p:sp>
      <p:sp>
        <p:nvSpPr>
          <p:cNvPr id="539" name="Google Shape;539;p19"/>
          <p:cNvSpPr/>
          <p:nvPr/>
        </p:nvSpPr>
        <p:spPr>
          <a:xfrm>
            <a:off x="4729163" y="1928813"/>
            <a:ext cx="271463" cy="271463"/>
          </a:xfrm>
          <a:prstGeom prst="ellipse">
            <a:avLst/>
          </a:prstGeom>
          <a:solidFill>
            <a:srgbClr val="C98B28"/>
          </a:solidFill>
          <a:ln cap="flat" cmpd="sng" w="95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19"/>
          <p:cNvSpPr/>
          <p:nvPr/>
        </p:nvSpPr>
        <p:spPr>
          <a:xfrm>
            <a:off x="4729163" y="1928813"/>
            <a:ext cx="271463" cy="271463"/>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1</a:t>
            </a:r>
            <a:endParaRPr b="0" i="0" sz="1100" u="none" cap="none" strike="noStrike">
              <a:solidFill>
                <a:srgbClr val="000000"/>
              </a:solidFill>
              <a:latin typeface="Arial"/>
              <a:ea typeface="Arial"/>
              <a:cs typeface="Arial"/>
              <a:sym typeface="Arial"/>
            </a:endParaRPr>
          </a:p>
        </p:txBody>
      </p:sp>
      <p:sp>
        <p:nvSpPr>
          <p:cNvPr id="541" name="Google Shape;541;p19"/>
          <p:cNvSpPr/>
          <p:nvPr/>
        </p:nvSpPr>
        <p:spPr>
          <a:xfrm>
            <a:off x="5114925" y="1914525"/>
            <a:ext cx="1678781" cy="18573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72734"/>
                </a:solidFill>
                <a:latin typeface="Arial"/>
                <a:ea typeface="Arial"/>
                <a:cs typeface="Arial"/>
                <a:sym typeface="Arial"/>
              </a:rPr>
              <a:t>Training data</a:t>
            </a:r>
            <a:endParaRPr b="0" i="0" sz="1100" u="none" cap="none" strike="noStrike">
              <a:solidFill>
                <a:srgbClr val="000000"/>
              </a:solidFill>
              <a:latin typeface="Arial"/>
              <a:ea typeface="Arial"/>
              <a:cs typeface="Arial"/>
              <a:sym typeface="Arial"/>
            </a:endParaRPr>
          </a:p>
        </p:txBody>
      </p:sp>
      <p:sp>
        <p:nvSpPr>
          <p:cNvPr id="542" name="Google Shape;542;p19"/>
          <p:cNvSpPr/>
          <p:nvPr/>
        </p:nvSpPr>
        <p:spPr>
          <a:xfrm>
            <a:off x="5114925" y="2107406"/>
            <a:ext cx="3143250" cy="27146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5B6870"/>
                </a:solidFill>
                <a:latin typeface="Arial"/>
                <a:ea typeface="Arial"/>
                <a:cs typeface="Arial"/>
                <a:sym typeface="Arial"/>
              </a:rPr>
              <a:t>Biased or limited data can lead to weak predictions.</a:t>
            </a:r>
            <a:endParaRPr b="0" i="0" sz="1100" u="none" cap="none" strike="noStrike">
              <a:solidFill>
                <a:srgbClr val="000000"/>
              </a:solidFill>
              <a:latin typeface="Arial"/>
              <a:ea typeface="Arial"/>
              <a:cs typeface="Arial"/>
              <a:sym typeface="Arial"/>
            </a:endParaRPr>
          </a:p>
        </p:txBody>
      </p:sp>
      <p:sp>
        <p:nvSpPr>
          <p:cNvPr id="543" name="Google Shape;543;p19"/>
          <p:cNvSpPr/>
          <p:nvPr/>
        </p:nvSpPr>
        <p:spPr>
          <a:xfrm>
            <a:off x="4729163" y="2414588"/>
            <a:ext cx="271463" cy="271463"/>
          </a:xfrm>
          <a:prstGeom prst="ellipse">
            <a:avLst/>
          </a:prstGeom>
          <a:solidFill>
            <a:srgbClr val="C98B28"/>
          </a:solidFill>
          <a:ln cap="flat" cmpd="sng" w="95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9"/>
          <p:cNvSpPr/>
          <p:nvPr/>
        </p:nvSpPr>
        <p:spPr>
          <a:xfrm>
            <a:off x="4729163" y="2414588"/>
            <a:ext cx="271463" cy="271463"/>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2</a:t>
            </a:r>
            <a:endParaRPr b="0" i="0" sz="1100" u="none" cap="none" strike="noStrike">
              <a:solidFill>
                <a:srgbClr val="000000"/>
              </a:solidFill>
              <a:latin typeface="Arial"/>
              <a:ea typeface="Arial"/>
              <a:cs typeface="Arial"/>
              <a:sym typeface="Arial"/>
            </a:endParaRPr>
          </a:p>
        </p:txBody>
      </p:sp>
      <p:sp>
        <p:nvSpPr>
          <p:cNvPr id="545" name="Google Shape;545;p19"/>
          <p:cNvSpPr/>
          <p:nvPr/>
        </p:nvSpPr>
        <p:spPr>
          <a:xfrm>
            <a:off x="5114925" y="2400300"/>
            <a:ext cx="1678781" cy="18573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72734"/>
                </a:solidFill>
                <a:latin typeface="Arial"/>
                <a:ea typeface="Arial"/>
                <a:cs typeface="Arial"/>
                <a:sym typeface="Arial"/>
              </a:rPr>
              <a:t>Image changes</a:t>
            </a:r>
            <a:endParaRPr b="0" i="0" sz="1100" u="none" cap="none" strike="noStrike">
              <a:solidFill>
                <a:srgbClr val="000000"/>
              </a:solidFill>
              <a:latin typeface="Arial"/>
              <a:ea typeface="Arial"/>
              <a:cs typeface="Arial"/>
              <a:sym typeface="Arial"/>
            </a:endParaRPr>
          </a:p>
        </p:txBody>
      </p:sp>
      <p:sp>
        <p:nvSpPr>
          <p:cNvPr id="546" name="Google Shape;546;p19"/>
          <p:cNvSpPr/>
          <p:nvPr/>
        </p:nvSpPr>
        <p:spPr>
          <a:xfrm>
            <a:off x="5114925" y="2593181"/>
            <a:ext cx="3143250" cy="27146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5B6870"/>
                </a:solidFill>
                <a:latin typeface="Arial"/>
                <a:ea typeface="Arial"/>
                <a:cs typeface="Arial"/>
                <a:sym typeface="Arial"/>
              </a:rPr>
              <a:t>Lighting, blur, angle, noise, or rotation can affect results.</a:t>
            </a:r>
            <a:endParaRPr b="0" i="0" sz="1100" u="none" cap="none" strike="noStrike">
              <a:solidFill>
                <a:srgbClr val="000000"/>
              </a:solidFill>
              <a:latin typeface="Arial"/>
              <a:ea typeface="Arial"/>
              <a:cs typeface="Arial"/>
              <a:sym typeface="Arial"/>
            </a:endParaRPr>
          </a:p>
        </p:txBody>
      </p:sp>
      <p:sp>
        <p:nvSpPr>
          <p:cNvPr id="547" name="Google Shape;547;p19"/>
          <p:cNvSpPr/>
          <p:nvPr/>
        </p:nvSpPr>
        <p:spPr>
          <a:xfrm>
            <a:off x="4729163" y="2900363"/>
            <a:ext cx="271463" cy="271463"/>
          </a:xfrm>
          <a:prstGeom prst="ellipse">
            <a:avLst/>
          </a:prstGeom>
          <a:solidFill>
            <a:srgbClr val="C98B28"/>
          </a:solidFill>
          <a:ln cap="flat" cmpd="sng" w="9525">
            <a:solidFill>
              <a:srgbClr val="C98B2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19"/>
          <p:cNvSpPr/>
          <p:nvPr/>
        </p:nvSpPr>
        <p:spPr>
          <a:xfrm>
            <a:off x="4729163" y="2900363"/>
            <a:ext cx="271463" cy="271463"/>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3</a:t>
            </a:r>
            <a:endParaRPr b="0" i="0" sz="1100" u="none" cap="none" strike="noStrike">
              <a:solidFill>
                <a:srgbClr val="000000"/>
              </a:solidFill>
              <a:latin typeface="Arial"/>
              <a:ea typeface="Arial"/>
              <a:cs typeface="Arial"/>
              <a:sym typeface="Arial"/>
            </a:endParaRPr>
          </a:p>
        </p:txBody>
      </p:sp>
      <p:sp>
        <p:nvSpPr>
          <p:cNvPr id="549" name="Google Shape;549;p19"/>
          <p:cNvSpPr/>
          <p:nvPr/>
        </p:nvSpPr>
        <p:spPr>
          <a:xfrm>
            <a:off x="5114925" y="2886075"/>
            <a:ext cx="1678781" cy="18573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72734"/>
                </a:solidFill>
                <a:latin typeface="Arial"/>
                <a:ea typeface="Arial"/>
                <a:cs typeface="Arial"/>
                <a:sym typeface="Arial"/>
              </a:rPr>
              <a:t>No human understanding</a:t>
            </a:r>
            <a:endParaRPr b="0" i="0" sz="1100" u="none" cap="none" strike="noStrike">
              <a:solidFill>
                <a:srgbClr val="000000"/>
              </a:solidFill>
              <a:latin typeface="Arial"/>
              <a:ea typeface="Arial"/>
              <a:cs typeface="Arial"/>
              <a:sym typeface="Arial"/>
            </a:endParaRPr>
          </a:p>
        </p:txBody>
      </p:sp>
      <p:sp>
        <p:nvSpPr>
          <p:cNvPr id="550" name="Google Shape;550;p19"/>
          <p:cNvSpPr/>
          <p:nvPr/>
        </p:nvSpPr>
        <p:spPr>
          <a:xfrm>
            <a:off x="5114925" y="3078956"/>
            <a:ext cx="3143250" cy="27146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5B6870"/>
                </a:solidFill>
                <a:latin typeface="Arial"/>
                <a:ea typeface="Arial"/>
                <a:cs typeface="Arial"/>
                <a:sym typeface="Arial"/>
              </a:rPr>
              <a:t>A CNN detects learned patterns, not human-like meaning.</a:t>
            </a:r>
            <a:endParaRPr b="0" i="0" sz="1100" u="none" cap="none" strike="noStrike">
              <a:solidFill>
                <a:srgbClr val="000000"/>
              </a:solidFill>
              <a:latin typeface="Arial"/>
              <a:ea typeface="Arial"/>
              <a:cs typeface="Arial"/>
              <a:sym typeface="Arial"/>
            </a:endParaRPr>
          </a:p>
        </p:txBody>
      </p:sp>
      <p:sp>
        <p:nvSpPr>
          <p:cNvPr id="551" name="Google Shape;551;p19"/>
          <p:cNvSpPr/>
          <p:nvPr/>
        </p:nvSpPr>
        <p:spPr>
          <a:xfrm>
            <a:off x="628650" y="3786188"/>
            <a:ext cx="2143125" cy="600075"/>
          </a:xfrm>
          <a:prstGeom prst="roundRect">
            <a:avLst>
              <a:gd fmla="val 19048" name="adj"/>
            </a:avLst>
          </a:prstGeom>
          <a:solidFill>
            <a:srgbClr val="102B3D"/>
          </a:solidFill>
          <a:ln cap="flat" cmpd="sng" w="11425">
            <a:solidFill>
              <a:srgbClr val="102B3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19"/>
          <p:cNvSpPr/>
          <p:nvPr/>
        </p:nvSpPr>
        <p:spPr>
          <a:xfrm>
            <a:off x="750094" y="3864769"/>
            <a:ext cx="1900238" cy="185738"/>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B7D93D"/>
                </a:solidFill>
                <a:latin typeface="Arial"/>
                <a:ea typeface="Arial"/>
                <a:cs typeface="Arial"/>
                <a:sym typeface="Arial"/>
              </a:rPr>
              <a:t>APPLICATIONS</a:t>
            </a:r>
            <a:endParaRPr b="0" i="0" sz="1100" u="none" cap="none" strike="noStrike">
              <a:solidFill>
                <a:srgbClr val="000000"/>
              </a:solidFill>
              <a:latin typeface="Arial"/>
              <a:ea typeface="Arial"/>
              <a:cs typeface="Arial"/>
              <a:sym typeface="Arial"/>
            </a:endParaRPr>
          </a:p>
        </p:txBody>
      </p:sp>
      <p:sp>
        <p:nvSpPr>
          <p:cNvPr id="553" name="Google Shape;553;p19"/>
          <p:cNvSpPr/>
          <p:nvPr/>
        </p:nvSpPr>
        <p:spPr>
          <a:xfrm>
            <a:off x="750094" y="4071938"/>
            <a:ext cx="1900238" cy="185738"/>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Real-world use</a:t>
            </a:r>
            <a:endParaRPr b="0" i="0" sz="1100" u="none" cap="none" strike="noStrike">
              <a:solidFill>
                <a:srgbClr val="000000"/>
              </a:solidFill>
              <a:latin typeface="Arial"/>
              <a:ea typeface="Arial"/>
              <a:cs typeface="Arial"/>
              <a:sym typeface="Arial"/>
            </a:endParaRPr>
          </a:p>
        </p:txBody>
      </p:sp>
      <p:sp>
        <p:nvSpPr>
          <p:cNvPr id="554" name="Google Shape;554;p19"/>
          <p:cNvSpPr/>
          <p:nvPr/>
        </p:nvSpPr>
        <p:spPr>
          <a:xfrm>
            <a:off x="6372225" y="3786188"/>
            <a:ext cx="2043113" cy="600075"/>
          </a:xfrm>
          <a:prstGeom prst="roundRect">
            <a:avLst>
              <a:gd fmla="val 19048" name="adj"/>
            </a:avLst>
          </a:prstGeom>
          <a:solidFill>
            <a:srgbClr val="0C7C83"/>
          </a:solidFill>
          <a:ln cap="flat" cmpd="sng" w="11425">
            <a:solidFill>
              <a:srgbClr val="0C7C8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19"/>
          <p:cNvSpPr/>
          <p:nvPr/>
        </p:nvSpPr>
        <p:spPr>
          <a:xfrm>
            <a:off x="6500813" y="3864769"/>
            <a:ext cx="1785938" cy="185738"/>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B7D93D"/>
                </a:solidFill>
                <a:latin typeface="Arial"/>
                <a:ea typeface="Arial"/>
                <a:cs typeface="Arial"/>
                <a:sym typeface="Arial"/>
              </a:rPr>
              <a:t>CNN LIMITS</a:t>
            </a:r>
            <a:endParaRPr b="0" i="0" sz="1100" u="none" cap="none" strike="noStrike">
              <a:solidFill>
                <a:srgbClr val="000000"/>
              </a:solidFill>
              <a:latin typeface="Arial"/>
              <a:ea typeface="Arial"/>
              <a:cs typeface="Arial"/>
              <a:sym typeface="Arial"/>
            </a:endParaRPr>
          </a:p>
        </p:txBody>
      </p:sp>
      <p:sp>
        <p:nvSpPr>
          <p:cNvPr id="556" name="Google Shape;556;p19"/>
          <p:cNvSpPr/>
          <p:nvPr/>
        </p:nvSpPr>
        <p:spPr>
          <a:xfrm>
            <a:off x="6500813" y="4071938"/>
            <a:ext cx="1785938" cy="185738"/>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Evaluate outputs</a:t>
            </a:r>
            <a:endParaRPr b="0" i="0" sz="1100" u="none" cap="none" strike="noStrike">
              <a:solidFill>
                <a:srgbClr val="000000"/>
              </a:solidFill>
              <a:latin typeface="Arial"/>
              <a:ea typeface="Arial"/>
              <a:cs typeface="Arial"/>
              <a:sym typeface="Arial"/>
            </a:endParaRPr>
          </a:p>
        </p:txBody>
      </p:sp>
      <p:sp>
        <p:nvSpPr>
          <p:cNvPr id="557" name="Google Shape;557;p19"/>
          <p:cNvSpPr/>
          <p:nvPr/>
        </p:nvSpPr>
        <p:spPr>
          <a:xfrm>
            <a:off x="3357563" y="3786188"/>
            <a:ext cx="2414588" cy="600075"/>
          </a:xfrm>
          <a:prstGeom prst="roundRect">
            <a:avLst>
              <a:gd fmla="val 19048" name="adj"/>
            </a:avLst>
          </a:prstGeom>
          <a:solidFill>
            <a:srgbClr val="FFFFFF"/>
          </a:solidFill>
          <a:ln cap="flat" cmpd="sng" w="11425">
            <a:solidFill>
              <a:srgbClr val="CDD4CE"/>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19"/>
          <p:cNvSpPr/>
          <p:nvPr/>
        </p:nvSpPr>
        <p:spPr>
          <a:xfrm>
            <a:off x="3500438" y="3864769"/>
            <a:ext cx="2128838" cy="17859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C98B28"/>
                </a:solidFill>
                <a:latin typeface="Arial"/>
                <a:ea typeface="Arial"/>
                <a:cs typeface="Arial"/>
                <a:sym typeface="Arial"/>
              </a:rPr>
              <a:t>FINAL REFLECTION</a:t>
            </a:r>
            <a:endParaRPr b="0" i="0" sz="1100" u="none" cap="none" strike="noStrike">
              <a:solidFill>
                <a:srgbClr val="000000"/>
              </a:solidFill>
              <a:latin typeface="Arial"/>
              <a:ea typeface="Arial"/>
              <a:cs typeface="Arial"/>
              <a:sym typeface="Arial"/>
            </a:endParaRPr>
          </a:p>
        </p:txBody>
      </p:sp>
      <p:sp>
        <p:nvSpPr>
          <p:cNvPr id="559" name="Google Shape;559;p19"/>
          <p:cNvSpPr/>
          <p:nvPr/>
        </p:nvSpPr>
        <p:spPr>
          <a:xfrm>
            <a:off x="3500438" y="4071938"/>
            <a:ext cx="2128838" cy="17859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72734"/>
                </a:solidFill>
                <a:latin typeface="Arial"/>
                <a:ea typeface="Arial"/>
                <a:cs typeface="Arial"/>
                <a:sym typeface="Arial"/>
              </a:rPr>
              <a:t>Useful, but not perfect</a:t>
            </a:r>
            <a:endParaRPr b="0" i="0" sz="1100" u="none" cap="none" strike="noStrike">
              <a:solidFill>
                <a:srgbClr val="000000"/>
              </a:solidFill>
              <a:latin typeface="Arial"/>
              <a:ea typeface="Arial"/>
              <a:cs typeface="Arial"/>
              <a:sym typeface="Arial"/>
            </a:endParaRPr>
          </a:p>
        </p:txBody>
      </p:sp>
      <p:cxnSp>
        <p:nvCxnSpPr>
          <p:cNvPr id="560" name="Google Shape;560;p19"/>
          <p:cNvCxnSpPr>
            <a:stCxn id="551" idx="3"/>
            <a:endCxn id="557" idx="1"/>
          </p:cNvCxnSpPr>
          <p:nvPr/>
        </p:nvCxnSpPr>
        <p:spPr>
          <a:xfrm>
            <a:off x="2771775" y="4086226"/>
            <a:ext cx="585900" cy="0"/>
          </a:xfrm>
          <a:prstGeom prst="straightConnector1">
            <a:avLst/>
          </a:prstGeom>
          <a:noFill/>
          <a:ln cap="flat" cmpd="sng" w="19050">
            <a:solidFill>
              <a:srgbClr val="102B3D"/>
            </a:solidFill>
            <a:prstDash val="solid"/>
            <a:round/>
            <a:headEnd len="sm" w="sm" type="none"/>
            <a:tailEnd len="sm" w="sm" type="triangle"/>
          </a:ln>
        </p:spPr>
      </p:cxnSp>
      <p:cxnSp>
        <p:nvCxnSpPr>
          <p:cNvPr id="561" name="Google Shape;561;p19"/>
          <p:cNvCxnSpPr>
            <a:stCxn id="557" idx="3"/>
            <a:endCxn id="554" idx="1"/>
          </p:cNvCxnSpPr>
          <p:nvPr/>
        </p:nvCxnSpPr>
        <p:spPr>
          <a:xfrm>
            <a:off x="5772151" y="4086226"/>
            <a:ext cx="600000" cy="0"/>
          </a:xfrm>
          <a:prstGeom prst="straightConnector1">
            <a:avLst/>
          </a:prstGeom>
          <a:noFill/>
          <a:ln cap="flat" cmpd="sng" w="19050">
            <a:solidFill>
              <a:srgbClr val="0C7C83"/>
            </a:solidFill>
            <a:prstDash val="solid"/>
            <a:round/>
            <a:headEnd len="sm" w="sm" type="triangle"/>
            <a:tailEnd len="sm" w="sm" type="none"/>
          </a:ln>
        </p:spPr>
      </p:cxnSp>
      <p:sp>
        <p:nvSpPr>
          <p:cNvPr id="562" name="Google Shape;562;p19"/>
          <p:cNvSpPr/>
          <p:nvPr/>
        </p:nvSpPr>
        <p:spPr>
          <a:xfrm>
            <a:off x="514350" y="4536281"/>
            <a:ext cx="8015288" cy="314325"/>
          </a:xfrm>
          <a:prstGeom prst="roundRect">
            <a:avLst>
              <a:gd fmla="val 22727" name="adj"/>
            </a:avLst>
          </a:prstGeom>
          <a:solidFill>
            <a:srgbClr val="102B3D"/>
          </a:solidFill>
          <a:ln cap="flat" cmpd="sng" w="11425">
            <a:solidFill>
              <a:srgbClr val="102B3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19"/>
          <p:cNvSpPr/>
          <p:nvPr/>
        </p:nvSpPr>
        <p:spPr>
          <a:xfrm>
            <a:off x="671513" y="4586288"/>
            <a:ext cx="7679531" cy="200025"/>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Main takeaway: CNNs turn image data into learned features and use those features for prediction, but the final output should still be checked carefully.</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